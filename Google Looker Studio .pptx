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Bernoru Condensed" charset="1" panose="00000A06000000000000"/>
      <p:regular r:id="rId17"/>
    </p:embeddedFont>
    <p:embeddedFont>
      <p:font typeface="Montserrat" charset="1" panose="00000500000000000000"/>
      <p:regular r:id="rId18"/>
    </p:embeddedFont>
    <p:embeddedFont>
      <p:font typeface="Montserrat Italics" charset="1" panose="00000500000000000000"/>
      <p:regular r:id="rId19"/>
    </p:embeddedFont>
    <p:embeddedFont>
      <p:font typeface="Montserrat Bold Italics" charset="1" panose="00000800000000000000"/>
      <p:regular r:id="rId20"/>
    </p:embeddedFont>
    <p:embeddedFont>
      <p:font typeface="Canva Sans" charset="1" panose="020B0503030501040103"/>
      <p:regular r:id="rId21"/>
    </p:embeddedFont>
    <p:embeddedFont>
      <p:font typeface="Canva Sans Bold" charset="1" panose="020B0803030501040103"/>
      <p:regular r:id="rId22"/>
    </p:embeddedFont>
    <p:embeddedFont>
      <p:font typeface="Hero Bold" charset="1" panose="00000500000000000000"/>
      <p:regular r:id="rId23"/>
    </p:embeddedFont>
    <p:embeddedFont>
      <p:font typeface="Roboto Bold" charset="1" panose="020000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embeddings/oleObject1.bin" Type="http://schemas.openxmlformats.org/officeDocument/2006/relationships/oleObjec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3.png" Type="http://schemas.openxmlformats.org/officeDocument/2006/relationships/image"/><Relationship Id="rId13" Target="../media/image14.svg" Type="http://schemas.openxmlformats.org/officeDocument/2006/relationships/image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8.png" Type="http://schemas.openxmlformats.org/officeDocument/2006/relationships/image"/><Relationship Id="rId13" Target="../media/image19.sv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4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5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6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27.png" Type="http://schemas.openxmlformats.org/officeDocument/2006/relationships/image"/><Relationship Id="rId13" Target="../media/image28.svg" Type="http://schemas.openxmlformats.org/officeDocument/2006/relationships/image"/><Relationship Id="rId14" Target="../media/image29.svg" Type="http://schemas.openxmlformats.org/officeDocument/2006/relationships/image"/><Relationship Id="rId15" Target="../media/image30.svg" Type="http://schemas.openxmlformats.org/officeDocument/2006/relationships/image"/><Relationship Id="rId16" Target="../media/image31.png" Type="http://schemas.openxmlformats.org/officeDocument/2006/relationships/image"/><Relationship Id="rId17" Target="../media/image32.svg" Type="http://schemas.openxmlformats.org/officeDocument/2006/relationships/image"/><Relationship Id="rId18" Target="../media/image33.png" Type="http://schemas.openxmlformats.org/officeDocument/2006/relationships/image"/><Relationship Id="rId19" Target="../media/image34.svg" Type="http://schemas.openxmlformats.org/officeDocument/2006/relationships/image"/><Relationship Id="rId2" Target="../media/image7.png" Type="http://schemas.openxmlformats.org/officeDocument/2006/relationships/image"/><Relationship Id="rId20" Target="../media/image35.png" Type="http://schemas.openxmlformats.org/officeDocument/2006/relationships/image"/><Relationship Id="rId21" Target="../media/image36.svg" Type="http://schemas.openxmlformats.org/officeDocument/2006/relationships/image"/><Relationship Id="rId22" Target="../media/image37.png" Type="http://schemas.openxmlformats.org/officeDocument/2006/relationships/image"/><Relationship Id="rId23" Target="../media/image38.svg" Type="http://schemas.openxmlformats.org/officeDocument/2006/relationships/image"/><Relationship Id="rId24" Target="../media/image39.png" Type="http://schemas.openxmlformats.org/officeDocument/2006/relationships/image"/><Relationship Id="rId25" Target="../media/image40.svg" Type="http://schemas.openxmlformats.org/officeDocument/2006/relationships/image"/><Relationship Id="rId26" Target="../media/image41.png" Type="http://schemas.openxmlformats.org/officeDocument/2006/relationships/image"/><Relationship Id="rId27" Target="../media/image42.sv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43.png" Type="http://schemas.openxmlformats.org/officeDocument/2006/relationships/image"/><Relationship Id="rId13" Target="../embeddings/oleObject2.bin" Type="http://schemas.openxmlformats.org/officeDocument/2006/relationships/oleObjec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7023" y="2224450"/>
            <a:ext cx="5376765" cy="5349881"/>
          </a:xfrm>
          <a:custGeom>
            <a:avLst/>
            <a:gdLst/>
            <a:ahLst/>
            <a:cxnLst/>
            <a:rect r="r" b="b" t="t" l="l"/>
            <a:pathLst>
              <a:path h="5349881" w="5376765">
                <a:moveTo>
                  <a:pt x="0" y="0"/>
                </a:moveTo>
                <a:lnTo>
                  <a:pt x="5376765" y="0"/>
                </a:lnTo>
                <a:lnTo>
                  <a:pt x="5376765" y="5349881"/>
                </a:lnTo>
                <a:lnTo>
                  <a:pt x="0" y="53498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117719" y="2224450"/>
            <a:ext cx="7693257" cy="5349881"/>
            <a:chOff x="0" y="0"/>
            <a:chExt cx="2026208" cy="14090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026208" cy="1409022"/>
            </a:xfrm>
            <a:custGeom>
              <a:avLst/>
              <a:gdLst/>
              <a:ahLst/>
              <a:cxnLst/>
              <a:rect r="r" b="b" t="t" l="l"/>
              <a:pathLst>
                <a:path h="1409022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369775"/>
                  </a:lnTo>
                  <a:cubicBezTo>
                    <a:pt x="2026208" y="1391451"/>
                    <a:pt x="2008636" y="1409022"/>
                    <a:pt x="1986961" y="1409022"/>
                  </a:cubicBezTo>
                  <a:lnTo>
                    <a:pt x="39247" y="1409022"/>
                  </a:lnTo>
                  <a:cubicBezTo>
                    <a:pt x="17571" y="1409022"/>
                    <a:pt x="0" y="1391451"/>
                    <a:pt x="0" y="1369775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026208" cy="14471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19623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854709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289795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724880" y="8243772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477023" y="7739286"/>
            <a:ext cx="13333954" cy="733555"/>
            <a:chOff x="0" y="0"/>
            <a:chExt cx="3511823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11823" cy="193200"/>
            </a:xfrm>
            <a:custGeom>
              <a:avLst/>
              <a:gdLst/>
              <a:ahLst/>
              <a:cxnLst/>
              <a:rect r="r" b="b" t="t" l="l"/>
              <a:pathLst>
                <a:path h="193200" w="3511823">
                  <a:moveTo>
                    <a:pt x="0" y="0"/>
                  </a:moveTo>
                  <a:lnTo>
                    <a:pt x="3511823" y="0"/>
                  </a:lnTo>
                  <a:lnTo>
                    <a:pt x="3511823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11823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419623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19623" y="2386251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9"/>
                </a:lnTo>
                <a:lnTo>
                  <a:pt x="0" y="169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135348" y="2403095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9"/>
                </a:lnTo>
                <a:lnTo>
                  <a:pt x="0" y="169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419623" y="4335197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8"/>
                </a:lnTo>
                <a:lnTo>
                  <a:pt x="0" y="1692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135348" y="4352041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8"/>
                </a:lnTo>
                <a:lnTo>
                  <a:pt x="0" y="1692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419623" y="6284660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9"/>
                </a:lnTo>
                <a:lnTo>
                  <a:pt x="0" y="169228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135348" y="6301504"/>
            <a:ext cx="1704332" cy="1692288"/>
          </a:xfrm>
          <a:custGeom>
            <a:avLst/>
            <a:gdLst/>
            <a:ahLst/>
            <a:cxnLst/>
            <a:rect r="r" b="b" t="t" l="l"/>
            <a:pathLst>
              <a:path h="1692288" w="1704332">
                <a:moveTo>
                  <a:pt x="0" y="0"/>
                </a:moveTo>
                <a:lnTo>
                  <a:pt x="1704332" y="0"/>
                </a:lnTo>
                <a:lnTo>
                  <a:pt x="1704332" y="1692288"/>
                </a:lnTo>
                <a:lnTo>
                  <a:pt x="0" y="16922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141431" b="-14315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4854709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289795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724880" y="39331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544655" y="1814159"/>
            <a:ext cx="4839386" cy="820583"/>
            <a:chOff x="0" y="0"/>
            <a:chExt cx="1274571" cy="21612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74571" cy="216121"/>
            </a:xfrm>
            <a:custGeom>
              <a:avLst/>
              <a:gdLst/>
              <a:ahLst/>
              <a:cxnLst/>
              <a:rect r="r" b="b" t="t" l="l"/>
              <a:pathLst>
                <a:path h="216121" w="1274571">
                  <a:moveTo>
                    <a:pt x="30396" y="0"/>
                  </a:moveTo>
                  <a:lnTo>
                    <a:pt x="1244175" y="0"/>
                  </a:lnTo>
                  <a:cubicBezTo>
                    <a:pt x="1252236" y="0"/>
                    <a:pt x="1259968" y="3202"/>
                    <a:pt x="1265668" y="8903"/>
                  </a:cubicBezTo>
                  <a:cubicBezTo>
                    <a:pt x="1271368" y="14603"/>
                    <a:pt x="1274571" y="22334"/>
                    <a:pt x="1274571" y="30396"/>
                  </a:cubicBezTo>
                  <a:lnTo>
                    <a:pt x="1274571" y="185725"/>
                  </a:lnTo>
                  <a:cubicBezTo>
                    <a:pt x="1274571" y="202512"/>
                    <a:pt x="1260962" y="216121"/>
                    <a:pt x="1244175" y="216121"/>
                  </a:cubicBezTo>
                  <a:lnTo>
                    <a:pt x="30396" y="216121"/>
                  </a:lnTo>
                  <a:cubicBezTo>
                    <a:pt x="22334" y="216121"/>
                    <a:pt x="14603" y="212918"/>
                    <a:pt x="8903" y="207218"/>
                  </a:cubicBezTo>
                  <a:cubicBezTo>
                    <a:pt x="3202" y="201518"/>
                    <a:pt x="0" y="193786"/>
                    <a:pt x="0" y="185725"/>
                  </a:cubicBezTo>
                  <a:lnTo>
                    <a:pt x="0" y="30396"/>
                  </a:lnTo>
                  <a:cubicBezTo>
                    <a:pt x="0" y="22334"/>
                    <a:pt x="3202" y="14603"/>
                    <a:pt x="8903" y="8903"/>
                  </a:cubicBezTo>
                  <a:cubicBezTo>
                    <a:pt x="14603" y="3202"/>
                    <a:pt x="22334" y="0"/>
                    <a:pt x="30396" y="0"/>
                  </a:cubicBez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274571" cy="2542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2477023" y="2386251"/>
            <a:ext cx="371873" cy="437712"/>
          </a:xfrm>
          <a:custGeom>
            <a:avLst/>
            <a:gdLst/>
            <a:ahLst/>
            <a:cxnLst/>
            <a:rect r="r" b="b" t="t" l="l"/>
            <a:pathLst>
              <a:path h="437712" w="371873">
                <a:moveTo>
                  <a:pt x="0" y="0"/>
                </a:moveTo>
                <a:lnTo>
                  <a:pt x="371873" y="0"/>
                </a:lnTo>
                <a:lnTo>
                  <a:pt x="371873" y="437712"/>
                </a:lnTo>
                <a:lnTo>
                  <a:pt x="0" y="43771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8117719" y="3104356"/>
            <a:ext cx="7693257" cy="261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00"/>
              </a:lnSpc>
            </a:pPr>
            <a:r>
              <a:rPr lang="en-US" sz="10000">
                <a:solidFill>
                  <a:srgbClr val="000000"/>
                </a:solidFill>
                <a:latin typeface="Bernoru Condensed"/>
                <a:ea typeface="Bernoru Condensed"/>
                <a:cs typeface="Bernoru Condensed"/>
                <a:sym typeface="Bernoru Condensed"/>
              </a:rPr>
              <a:t>GOOGLE LOOKER STUDIO 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007609" y="5951409"/>
            <a:ext cx="6136423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Collaborative Dashboards. Smarter Insights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-133821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5" id="25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Object 28" id="28"/>
          <p:cNvGraphicFramePr/>
          <p:nvPr/>
        </p:nvGraphicFramePr>
        <p:xfrm>
          <a:off x="2478719" y="2016527"/>
          <a:ext cx="16230600" cy="5679924"/>
        </p:xfrm>
        <a:graphic>
          <a:graphicData uri="http://schemas.openxmlformats.org/presentationml/2006/ole">
            <p:oleObj imgW="19469100" imgH="89154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9" id="29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  <a:r>
              <a:rPr lang="en-US" b="true" sz="2499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DATA</a:t>
            </a:r>
            <a:r>
              <a:rPr lang="en-US" b="true" sz="2499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SET DESCRIPTION</a:t>
            </a: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18349" y="2012822"/>
            <a:ext cx="5308179" cy="5228557"/>
          </a:xfrm>
          <a:custGeom>
            <a:avLst/>
            <a:gdLst/>
            <a:ahLst/>
            <a:cxnLst/>
            <a:rect r="r" b="b" t="t" l="l"/>
            <a:pathLst>
              <a:path h="5228557" w="5308179">
                <a:moveTo>
                  <a:pt x="0" y="0"/>
                </a:moveTo>
                <a:lnTo>
                  <a:pt x="5308180" y="0"/>
                </a:lnTo>
                <a:lnTo>
                  <a:pt x="5308180" y="5228557"/>
                </a:lnTo>
                <a:lnTo>
                  <a:pt x="0" y="5228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2478719" y="2012822"/>
            <a:ext cx="7693257" cy="6402206"/>
            <a:chOff x="0" y="0"/>
            <a:chExt cx="2026208" cy="16861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26208" cy="1686178"/>
            </a:xfrm>
            <a:custGeom>
              <a:avLst/>
              <a:gdLst/>
              <a:ahLst/>
              <a:cxnLst/>
              <a:rect r="r" b="b" t="t" l="l"/>
              <a:pathLst>
                <a:path h="1686178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646931"/>
                  </a:lnTo>
                  <a:cubicBezTo>
                    <a:pt x="2026208" y="1668606"/>
                    <a:pt x="2008636" y="1686178"/>
                    <a:pt x="1986961" y="1686178"/>
                  </a:cubicBezTo>
                  <a:lnTo>
                    <a:pt x="39247" y="1686178"/>
                  </a:lnTo>
                  <a:cubicBezTo>
                    <a:pt x="17571" y="1686178"/>
                    <a:pt x="0" y="1668606"/>
                    <a:pt x="0" y="1646931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26208" cy="17242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5" id="25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2479999" y="1069570"/>
            <a:ext cx="1072231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9"/>
              </a:lnSpc>
            </a:pPr>
            <a:r>
              <a:rPr lang="en-US" b="true" sz="2699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Check and Clean Data Types</a:t>
            </a:r>
          </a:p>
          <a:p>
            <a:pPr algn="ctr">
              <a:lnSpc>
                <a:spcPts val="3239"/>
              </a:lnSpc>
            </a:pPr>
          </a:p>
        </p:txBody>
      </p:sp>
      <p:sp>
        <p:nvSpPr>
          <p:cNvPr name="Freeform 27" id="27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3" id="33"/>
          <p:cNvGrpSpPr/>
          <p:nvPr/>
        </p:nvGrpSpPr>
        <p:grpSpPr>
          <a:xfrm rot="0">
            <a:off x="10418349" y="7337611"/>
            <a:ext cx="5308179" cy="1077417"/>
            <a:chOff x="0" y="0"/>
            <a:chExt cx="1398039" cy="2837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98039" cy="283764"/>
            </a:xfrm>
            <a:custGeom>
              <a:avLst/>
              <a:gdLst/>
              <a:ahLst/>
              <a:cxnLst/>
              <a:rect r="r" b="b" t="t" l="l"/>
              <a:pathLst>
                <a:path h="283764" w="1398039">
                  <a:moveTo>
                    <a:pt x="0" y="0"/>
                  </a:moveTo>
                  <a:lnTo>
                    <a:pt x="1398039" y="0"/>
                  </a:lnTo>
                  <a:lnTo>
                    <a:pt x="1398039" y="283764"/>
                  </a:lnTo>
                  <a:lnTo>
                    <a:pt x="0" y="283764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98039" cy="32186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18349" y="7241379"/>
            <a:ext cx="5308179" cy="384854"/>
            <a:chOff x="0" y="0"/>
            <a:chExt cx="1398039" cy="10136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98039" cy="101361"/>
            </a:xfrm>
            <a:custGeom>
              <a:avLst/>
              <a:gdLst/>
              <a:ahLst/>
              <a:cxnLst/>
              <a:rect r="r" b="b" t="t" l="l"/>
              <a:pathLst>
                <a:path h="101361" w="1398039">
                  <a:moveTo>
                    <a:pt x="0" y="0"/>
                  </a:moveTo>
                  <a:lnTo>
                    <a:pt x="1398039" y="0"/>
                  </a:lnTo>
                  <a:lnTo>
                    <a:pt x="1398039" y="101361"/>
                  </a:lnTo>
                  <a:lnTo>
                    <a:pt x="0" y="101361"/>
                  </a:lnTo>
                  <a:close/>
                </a:path>
              </a:pathLst>
            </a:custGeom>
            <a:solidFill>
              <a:srgbClr val="4ADA8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1398039" cy="1394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2633235" y="3090785"/>
            <a:ext cx="7384225" cy="3621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8600" indent="-209300" lvl="1">
              <a:lnSpc>
                <a:spcPts val="3664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</a:t>
            </a: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al: Make sure numbers and text are detected correctly.</a:t>
            </a:r>
          </a:p>
          <a:p>
            <a:pPr algn="l" marL="418600" indent="-209300" lvl="1">
              <a:lnSpc>
                <a:spcPts val="3664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️⃣ I</a:t>
            </a: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 the right panel, hover on each field name:</a:t>
            </a:r>
          </a:p>
          <a:p>
            <a:pPr algn="l" marL="418600" indent="-209300" lvl="1">
              <a:lnSpc>
                <a:spcPts val="3664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Total Enrollment, Male, Female, Faculty Count → should show 123 (Number)</a:t>
            </a:r>
          </a:p>
          <a:p>
            <a:pPr algn="l" marL="418600" indent="-209300" lvl="1">
              <a:lnSpc>
                <a:spcPts val="3664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Institution Name, Institution Type, District, Year → should show ABC (Text)</a:t>
            </a:r>
          </a:p>
          <a:p>
            <a:pPr algn="l" marL="418600" indent="-209300" lvl="1">
              <a:lnSpc>
                <a:spcPts val="3664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If any numeric field shows ABC:</a:t>
            </a:r>
          </a:p>
          <a:p>
            <a:pPr algn="l" marL="418600" indent="-209300" lvl="1">
              <a:lnSpc>
                <a:spcPts val="3664"/>
              </a:lnSpc>
              <a:buFont typeface="Arial"/>
              <a:buChar char="•"/>
            </a:pPr>
            <a:r>
              <a:rPr lang="en-US" sz="193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the ABC icon → Number → Whole Number.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708008" y="2519649"/>
            <a:ext cx="4710410" cy="464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</a:t>
            </a:r>
            <a:r>
              <a:rPr lang="en-US" b="true" sz="26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eck and Clean Data Types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328004"/>
            <a:ext cx="7898887" cy="3364046"/>
            <a:chOff x="0" y="0"/>
            <a:chExt cx="2080365" cy="8860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0365" cy="886004"/>
            </a:xfrm>
            <a:custGeom>
              <a:avLst/>
              <a:gdLst/>
              <a:ahLst/>
              <a:cxnLst/>
              <a:rect r="r" b="b" t="t" l="l"/>
              <a:pathLst>
                <a:path h="886004" w="2080365">
                  <a:moveTo>
                    <a:pt x="38225" y="0"/>
                  </a:moveTo>
                  <a:lnTo>
                    <a:pt x="2042140" y="0"/>
                  </a:lnTo>
                  <a:cubicBezTo>
                    <a:pt x="2063251" y="0"/>
                    <a:pt x="2080365" y="17114"/>
                    <a:pt x="2080365" y="38225"/>
                  </a:cubicBezTo>
                  <a:lnTo>
                    <a:pt x="2080365" y="847779"/>
                  </a:lnTo>
                  <a:cubicBezTo>
                    <a:pt x="2080365" y="868890"/>
                    <a:pt x="2063251" y="886004"/>
                    <a:pt x="2042140" y="886004"/>
                  </a:cubicBezTo>
                  <a:lnTo>
                    <a:pt x="38225" y="886004"/>
                  </a:lnTo>
                  <a:cubicBezTo>
                    <a:pt x="17114" y="886004"/>
                    <a:pt x="0" y="868890"/>
                    <a:pt x="0" y="847779"/>
                  </a:cubicBezTo>
                  <a:lnTo>
                    <a:pt x="0" y="38225"/>
                  </a:lnTo>
                  <a:cubicBezTo>
                    <a:pt x="0" y="17114"/>
                    <a:pt x="17114" y="0"/>
                    <a:pt x="3822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80365" cy="924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0721678" y="2271554"/>
            <a:ext cx="4409444" cy="4420496"/>
          </a:xfrm>
          <a:custGeom>
            <a:avLst/>
            <a:gdLst/>
            <a:ahLst/>
            <a:cxnLst/>
            <a:rect r="r" b="b" t="t" l="l"/>
            <a:pathLst>
              <a:path h="4420496" w="4409444">
                <a:moveTo>
                  <a:pt x="0" y="0"/>
                </a:moveTo>
                <a:lnTo>
                  <a:pt x="4409444" y="0"/>
                </a:lnTo>
                <a:lnTo>
                  <a:pt x="4409444" y="4420496"/>
                </a:lnTo>
                <a:lnTo>
                  <a:pt x="0" y="4420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478719" y="7073050"/>
            <a:ext cx="7898887" cy="1262532"/>
            <a:chOff x="0" y="0"/>
            <a:chExt cx="1975850" cy="3158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75850" cy="315813"/>
            </a:xfrm>
            <a:custGeom>
              <a:avLst/>
              <a:gdLst/>
              <a:ahLst/>
              <a:cxnLst/>
              <a:rect r="r" b="b" t="t" l="l"/>
              <a:pathLst>
                <a:path h="315813" w="1975850">
                  <a:moveTo>
                    <a:pt x="0" y="0"/>
                  </a:moveTo>
                  <a:lnTo>
                    <a:pt x="1975850" y="0"/>
                  </a:lnTo>
                  <a:lnTo>
                    <a:pt x="1975850" y="315813"/>
                  </a:lnTo>
                  <a:lnTo>
                    <a:pt x="0" y="315813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75850" cy="353913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39061" y="7223482"/>
            <a:ext cx="6189690" cy="961667"/>
            <a:chOff x="0" y="0"/>
            <a:chExt cx="1548306" cy="2405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8306" cy="240554"/>
            </a:xfrm>
            <a:custGeom>
              <a:avLst/>
              <a:gdLst/>
              <a:ahLst/>
              <a:cxnLst/>
              <a:rect r="r" b="b" t="t" l="l"/>
              <a:pathLst>
                <a:path h="240554" w="1548306">
                  <a:moveTo>
                    <a:pt x="0" y="0"/>
                  </a:moveTo>
                  <a:lnTo>
                    <a:pt x="1548306" y="0"/>
                  </a:lnTo>
                  <a:lnTo>
                    <a:pt x="1548306" y="240554"/>
                  </a:lnTo>
                  <a:lnTo>
                    <a:pt x="0" y="24055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48306" cy="278654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81577" y="7223482"/>
            <a:ext cx="961667" cy="961667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764784" y="7419534"/>
            <a:ext cx="578971" cy="569563"/>
          </a:xfrm>
          <a:custGeom>
            <a:avLst/>
            <a:gdLst/>
            <a:ahLst/>
            <a:cxnLst/>
            <a:rect r="r" b="b" t="t" l="l"/>
            <a:pathLst>
              <a:path h="569563" w="578971">
                <a:moveTo>
                  <a:pt x="0" y="0"/>
                </a:moveTo>
                <a:lnTo>
                  <a:pt x="578971" y="0"/>
                </a:lnTo>
                <a:lnTo>
                  <a:pt x="578971" y="569563"/>
                </a:lnTo>
                <a:lnTo>
                  <a:pt x="0" y="56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Create Calculated Fields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20254" y="2070427"/>
            <a:ext cx="6687035" cy="7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0"/>
              </a:lnSpc>
              <a:spcBef>
                <a:spcPct val="0"/>
              </a:spcBef>
            </a:pP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 Create Calcul</a:t>
            </a: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ated Fields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770412" y="7381434"/>
            <a:ext cx="5926987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Goal: Make a new column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– Student-Teacher Ratio 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999542" y="3461354"/>
            <a:ext cx="6829208" cy="313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1️⃣ At the bottom of the field list → click ➕ Add a field.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2️⃣ Choose Add calculated field.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3️⃣ Name it: Student-Teacher Ratio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4️⃣ Paste this formula: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CASE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  WHEN Faculty_Count = 0 OR Faculty_Count IS NULL THEN NULL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  ELSE ROUND(Total_Enrollment / Faculty_Count, 2)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END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5️⃣ Click Save ✅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328004"/>
            <a:ext cx="7898887" cy="3364046"/>
            <a:chOff x="0" y="0"/>
            <a:chExt cx="2080365" cy="8860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80365" cy="886004"/>
            </a:xfrm>
            <a:custGeom>
              <a:avLst/>
              <a:gdLst/>
              <a:ahLst/>
              <a:cxnLst/>
              <a:rect r="r" b="b" t="t" l="l"/>
              <a:pathLst>
                <a:path h="886004" w="2080365">
                  <a:moveTo>
                    <a:pt x="38225" y="0"/>
                  </a:moveTo>
                  <a:lnTo>
                    <a:pt x="2042140" y="0"/>
                  </a:lnTo>
                  <a:cubicBezTo>
                    <a:pt x="2063251" y="0"/>
                    <a:pt x="2080365" y="17114"/>
                    <a:pt x="2080365" y="38225"/>
                  </a:cubicBezTo>
                  <a:lnTo>
                    <a:pt x="2080365" y="847779"/>
                  </a:lnTo>
                  <a:cubicBezTo>
                    <a:pt x="2080365" y="868890"/>
                    <a:pt x="2063251" y="886004"/>
                    <a:pt x="2042140" y="886004"/>
                  </a:cubicBezTo>
                  <a:lnTo>
                    <a:pt x="38225" y="886004"/>
                  </a:lnTo>
                  <a:cubicBezTo>
                    <a:pt x="17114" y="886004"/>
                    <a:pt x="0" y="868890"/>
                    <a:pt x="0" y="847779"/>
                  </a:cubicBezTo>
                  <a:lnTo>
                    <a:pt x="0" y="38225"/>
                  </a:lnTo>
                  <a:cubicBezTo>
                    <a:pt x="0" y="17114"/>
                    <a:pt x="17114" y="0"/>
                    <a:pt x="38225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80365" cy="9241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1" id="31"/>
          <p:cNvSpPr/>
          <p:nvPr/>
        </p:nvSpPr>
        <p:spPr>
          <a:xfrm flipH="false" flipV="false" rot="0">
            <a:off x="10721678" y="2271554"/>
            <a:ext cx="4409444" cy="4420496"/>
          </a:xfrm>
          <a:custGeom>
            <a:avLst/>
            <a:gdLst/>
            <a:ahLst/>
            <a:cxnLst/>
            <a:rect r="r" b="b" t="t" l="l"/>
            <a:pathLst>
              <a:path h="4420496" w="4409444">
                <a:moveTo>
                  <a:pt x="0" y="0"/>
                </a:moveTo>
                <a:lnTo>
                  <a:pt x="4409444" y="0"/>
                </a:lnTo>
                <a:lnTo>
                  <a:pt x="4409444" y="4420496"/>
                </a:lnTo>
                <a:lnTo>
                  <a:pt x="0" y="44204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2478719" y="7073050"/>
            <a:ext cx="7898887" cy="1262532"/>
            <a:chOff x="0" y="0"/>
            <a:chExt cx="1975850" cy="31581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975850" cy="315813"/>
            </a:xfrm>
            <a:custGeom>
              <a:avLst/>
              <a:gdLst/>
              <a:ahLst/>
              <a:cxnLst/>
              <a:rect r="r" b="b" t="t" l="l"/>
              <a:pathLst>
                <a:path h="315813" w="1975850">
                  <a:moveTo>
                    <a:pt x="0" y="0"/>
                  </a:moveTo>
                  <a:lnTo>
                    <a:pt x="1975850" y="0"/>
                  </a:lnTo>
                  <a:lnTo>
                    <a:pt x="1975850" y="315813"/>
                  </a:lnTo>
                  <a:lnTo>
                    <a:pt x="0" y="315813"/>
                  </a:ln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975850" cy="353913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39061" y="7223482"/>
            <a:ext cx="6189690" cy="961667"/>
            <a:chOff x="0" y="0"/>
            <a:chExt cx="1548306" cy="24055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48306" cy="240554"/>
            </a:xfrm>
            <a:custGeom>
              <a:avLst/>
              <a:gdLst/>
              <a:ahLst/>
              <a:cxnLst/>
              <a:rect r="r" b="b" t="t" l="l"/>
              <a:pathLst>
                <a:path h="240554" w="1548306">
                  <a:moveTo>
                    <a:pt x="0" y="0"/>
                  </a:moveTo>
                  <a:lnTo>
                    <a:pt x="1548306" y="0"/>
                  </a:lnTo>
                  <a:lnTo>
                    <a:pt x="1548306" y="240554"/>
                  </a:lnTo>
                  <a:lnTo>
                    <a:pt x="0" y="240554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548306" cy="278654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81577" y="7223482"/>
            <a:ext cx="961667" cy="961667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3487" lIns="53487" bIns="53487" rIns="53487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2764784" y="7419534"/>
            <a:ext cx="578971" cy="569563"/>
          </a:xfrm>
          <a:custGeom>
            <a:avLst/>
            <a:gdLst/>
            <a:ahLst/>
            <a:cxnLst/>
            <a:rect r="r" b="b" t="t" l="l"/>
            <a:pathLst>
              <a:path h="569563" w="578971">
                <a:moveTo>
                  <a:pt x="0" y="0"/>
                </a:moveTo>
                <a:lnTo>
                  <a:pt x="578971" y="0"/>
                </a:lnTo>
                <a:lnTo>
                  <a:pt x="578971" y="569563"/>
                </a:lnTo>
                <a:lnTo>
                  <a:pt x="0" y="5695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Create Calculated Fields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120254" y="2070427"/>
            <a:ext cx="6687035" cy="724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00"/>
              </a:lnSpc>
              <a:spcBef>
                <a:spcPct val="0"/>
              </a:spcBef>
            </a:pP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 Create Calcul</a:t>
            </a:r>
            <a:r>
              <a:rPr lang="en-US" sz="4214">
                <a:solidFill>
                  <a:srgbClr val="DA9E68"/>
                </a:solidFill>
                <a:latin typeface="Hero Bold"/>
                <a:ea typeface="Hero Bold"/>
                <a:cs typeface="Hero Bold"/>
                <a:sym typeface="Hero Bold"/>
              </a:rPr>
              <a:t>ated Fields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770412" y="7499678"/>
            <a:ext cx="5926987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Goal: Make a new column</a:t>
            </a: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 –  Gender Parity Index 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999542" y="3461354"/>
            <a:ext cx="6829208" cy="3138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1️⃣ At the bottom of the field list → click ➕ Add a field.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2️⃣ Choose Add calculated field.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3️⃣ Name it:  Gender Parity Index (GPI)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4️⃣ Paste this formula: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CASE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  WHEN Male = 0 OR Male IS NULL THEN NULL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  ELSE ROUND(Female / Male, 3)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END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</a:p>
          <a:p>
            <a:pPr algn="l">
              <a:lnSpc>
                <a:spcPts val="2286"/>
              </a:lnSpc>
              <a:spcBef>
                <a:spcPct val="0"/>
              </a:spcBef>
            </a:pPr>
            <a:r>
              <a:rPr lang="en-US" sz="16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5️⃣ Click Save ✅</a:t>
            </a:r>
          </a:p>
          <a:p>
            <a:pPr algn="l">
              <a:lnSpc>
                <a:spcPts val="228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3470675"/>
            <a:ext cx="13333954" cy="4016580"/>
            <a:chOff x="0" y="0"/>
            <a:chExt cx="3511823" cy="105786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11823" cy="1057865"/>
            </a:xfrm>
            <a:custGeom>
              <a:avLst/>
              <a:gdLst/>
              <a:ahLst/>
              <a:cxnLst/>
              <a:rect r="r" b="b" t="t" l="l"/>
              <a:pathLst>
                <a:path h="1057865" w="3511823">
                  <a:moveTo>
                    <a:pt x="22644" y="0"/>
                  </a:moveTo>
                  <a:lnTo>
                    <a:pt x="3489179" y="0"/>
                  </a:lnTo>
                  <a:cubicBezTo>
                    <a:pt x="3501685" y="0"/>
                    <a:pt x="3511823" y="10138"/>
                    <a:pt x="3511823" y="22644"/>
                  </a:cubicBezTo>
                  <a:lnTo>
                    <a:pt x="3511823" y="1035221"/>
                  </a:lnTo>
                  <a:cubicBezTo>
                    <a:pt x="3511823" y="1047727"/>
                    <a:pt x="3501685" y="1057865"/>
                    <a:pt x="3489179" y="1057865"/>
                  </a:cubicBezTo>
                  <a:lnTo>
                    <a:pt x="22644" y="1057865"/>
                  </a:lnTo>
                  <a:cubicBezTo>
                    <a:pt x="10138" y="1057865"/>
                    <a:pt x="0" y="1047727"/>
                    <a:pt x="0" y="1035221"/>
                  </a:cubicBezTo>
                  <a:lnTo>
                    <a:pt x="0" y="22644"/>
                  </a:lnTo>
                  <a:cubicBezTo>
                    <a:pt x="0" y="10138"/>
                    <a:pt x="10138" y="0"/>
                    <a:pt x="22644" y="0"/>
                  </a:cubicBezTo>
                  <a:close/>
                </a:path>
              </a:pathLst>
            </a:custGeom>
            <a:solidFill>
              <a:srgbClr val="4ADA85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3511823" cy="1095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4244934"/>
            <a:ext cx="13333954" cy="4016580"/>
            <a:chOff x="0" y="0"/>
            <a:chExt cx="3511823" cy="105786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11823" cy="1057865"/>
            </a:xfrm>
            <a:custGeom>
              <a:avLst/>
              <a:gdLst/>
              <a:ahLst/>
              <a:cxnLst/>
              <a:rect r="r" b="b" t="t" l="l"/>
              <a:pathLst>
                <a:path h="1057865" w="3511823">
                  <a:moveTo>
                    <a:pt x="22644" y="0"/>
                  </a:moveTo>
                  <a:lnTo>
                    <a:pt x="3489179" y="0"/>
                  </a:lnTo>
                  <a:cubicBezTo>
                    <a:pt x="3501685" y="0"/>
                    <a:pt x="3511823" y="10138"/>
                    <a:pt x="3511823" y="22644"/>
                  </a:cubicBezTo>
                  <a:lnTo>
                    <a:pt x="3511823" y="1035221"/>
                  </a:lnTo>
                  <a:cubicBezTo>
                    <a:pt x="3511823" y="1047727"/>
                    <a:pt x="3501685" y="1057865"/>
                    <a:pt x="3489179" y="1057865"/>
                  </a:cubicBezTo>
                  <a:lnTo>
                    <a:pt x="22644" y="1057865"/>
                  </a:lnTo>
                  <a:cubicBezTo>
                    <a:pt x="10138" y="1057865"/>
                    <a:pt x="0" y="1047727"/>
                    <a:pt x="0" y="1035221"/>
                  </a:cubicBezTo>
                  <a:lnTo>
                    <a:pt x="0" y="22644"/>
                  </a:lnTo>
                  <a:cubicBezTo>
                    <a:pt x="0" y="10138"/>
                    <a:pt x="10138" y="0"/>
                    <a:pt x="22644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511823" cy="10959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7" id="27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8" id="28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4" id="34"/>
          <p:cNvSpPr txBox="true"/>
          <p:nvPr/>
        </p:nvSpPr>
        <p:spPr>
          <a:xfrm rot="0">
            <a:off x="3797174" y="5707565"/>
            <a:ext cx="10592545" cy="1762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137"/>
              </a:lnSpc>
            </a:pPr>
            <a:r>
              <a:rPr lang="en-US" sz="13137">
                <a:solidFill>
                  <a:srgbClr val="000000"/>
                </a:solidFill>
                <a:latin typeface="Bernoru Condensed"/>
                <a:ea typeface="Bernoru Condensed"/>
                <a:cs typeface="Bernoru Condensed"/>
                <a:sym typeface="Bernoru Condensed"/>
              </a:rPr>
              <a:t> BUILD VISUALS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7280958" y="2073382"/>
            <a:ext cx="3628968" cy="3628968"/>
            <a:chOff x="0" y="0"/>
            <a:chExt cx="812800" cy="8128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C7B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7778703" y="2571126"/>
            <a:ext cx="2633479" cy="2633479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0" id="4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1" id="41"/>
          <p:cNvSpPr/>
          <p:nvPr/>
        </p:nvSpPr>
        <p:spPr>
          <a:xfrm flipH="false" flipV="false" rot="0">
            <a:off x="8312710" y="3023606"/>
            <a:ext cx="1665972" cy="1721935"/>
          </a:xfrm>
          <a:custGeom>
            <a:avLst/>
            <a:gdLst/>
            <a:ahLst/>
            <a:cxnLst/>
            <a:rect r="r" b="b" t="t" l="l"/>
            <a:pathLst>
              <a:path h="1721935" w="1665972">
                <a:moveTo>
                  <a:pt x="0" y="0"/>
                </a:moveTo>
                <a:lnTo>
                  <a:pt x="1665971" y="0"/>
                </a:lnTo>
                <a:lnTo>
                  <a:pt x="1665971" y="1721934"/>
                </a:lnTo>
                <a:lnTo>
                  <a:pt x="0" y="172193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>
                <a:solidFill>
                  <a:srgbClr val="000000"/>
                </a:solidFill>
                <a:latin typeface="Montserrat Italics"/>
                <a:ea typeface="Montserrat Italics"/>
                <a:cs typeface="Montserrat Italics"/>
                <a:sym typeface="Montserrat Italics"/>
              </a:rPr>
              <a:t>Data Analytics ..............................................................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9472303"/>
            <a:ext cx="19657606" cy="2557482"/>
            <a:chOff x="0" y="0"/>
            <a:chExt cx="5177312" cy="673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673575"/>
            </a:xfrm>
            <a:custGeom>
              <a:avLst/>
              <a:gdLst/>
              <a:ahLst/>
              <a:cxnLst/>
              <a:rect r="r" b="b" t="t" l="l"/>
              <a:pathLst>
                <a:path h="673575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673575"/>
                  </a:lnTo>
                  <a:lnTo>
                    <a:pt x="0" y="673575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71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269812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0" y="0"/>
                </a:lnTo>
                <a:lnTo>
                  <a:pt x="5709570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42874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7245478"/>
            <a:chOff x="0" y="0"/>
            <a:chExt cx="2026208" cy="19082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908274"/>
            </a:xfrm>
            <a:custGeom>
              <a:avLst/>
              <a:gdLst/>
              <a:ahLst/>
              <a:cxnLst/>
              <a:rect r="r" b="b" t="t" l="l"/>
              <a:pathLst>
                <a:path h="1908274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869027"/>
                  </a:lnTo>
                  <a:cubicBezTo>
                    <a:pt x="2026208" y="1890703"/>
                    <a:pt x="2008636" y="1908274"/>
                    <a:pt x="1986961" y="1908274"/>
                  </a:cubicBezTo>
                  <a:lnTo>
                    <a:pt x="39247" y="1908274"/>
                  </a:lnTo>
                  <a:cubicBezTo>
                    <a:pt x="17571" y="1908274"/>
                    <a:pt x="0" y="1890703"/>
                    <a:pt x="0" y="1869027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946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 b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1.CLUSTERED BAR CHART ..............................................................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51470" y="2140138"/>
            <a:ext cx="6186164" cy="6326994"/>
          </a:xfrm>
          <a:prstGeom prst="rect">
            <a:avLst/>
          </a:prstGeom>
        </p:spPr>
      </p:pic>
      <p:sp>
        <p:nvSpPr>
          <p:cNvPr name="TextBox 33" id="33"/>
          <p:cNvSpPr txBox="true"/>
          <p:nvPr/>
        </p:nvSpPr>
        <p:spPr>
          <a:xfrm rot="0">
            <a:off x="9645198" y="2294641"/>
            <a:ext cx="491849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Gender-wise Enrollment by District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330897" y="2761202"/>
            <a:ext cx="804069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Goal: Compare male vs female student counts in North vs South Goa.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421588" y="3138944"/>
            <a:ext cx="72241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Steps: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421588" y="3547884"/>
            <a:ext cx="7365717" cy="3424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Add a chart → Bar → Stacked vertical bar chart.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Click 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anywhere on the white canvas to place it.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In the r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ight panel (Setup tab):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Dimension → District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M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etric 1→ Male 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Metric 2→ Female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name chart title →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Title: </a:t>
            </a:r>
            <a:r>
              <a:rPr lang="en-US" b="true" sz="16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Gender-wise Enrollment by District – Goa HEIs</a:t>
            </a:r>
          </a:p>
          <a:p>
            <a:pPr algn="l">
              <a:lnSpc>
                <a:spcPts val="2322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8568954" y="6792953"/>
            <a:ext cx="6019500" cy="2265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1"/>
              </a:lnSpc>
              <a:spcBef>
                <a:spcPct val="0"/>
              </a:spcBef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</a:t>
            </a: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tyle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1️⃣ Click Style tab.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2️⃣ Scroll to Series → Change color: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Male = Blue #2E86C1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Female = Gold #F4D03F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3️⃣ Turn Data Labels → ON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4️⃣ Legend → Top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9472303"/>
            <a:ext cx="19657606" cy="2557482"/>
            <a:chOff x="0" y="0"/>
            <a:chExt cx="5177312" cy="673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673575"/>
            </a:xfrm>
            <a:custGeom>
              <a:avLst/>
              <a:gdLst/>
              <a:ahLst/>
              <a:cxnLst/>
              <a:rect r="r" b="b" t="t" l="l"/>
              <a:pathLst>
                <a:path h="673575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673575"/>
                  </a:lnTo>
                  <a:lnTo>
                    <a:pt x="0" y="673575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71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269812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0" y="0"/>
                </a:lnTo>
                <a:lnTo>
                  <a:pt x="5709570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42874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7245478"/>
            <a:chOff x="0" y="0"/>
            <a:chExt cx="2026208" cy="19082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908274"/>
            </a:xfrm>
            <a:custGeom>
              <a:avLst/>
              <a:gdLst/>
              <a:ahLst/>
              <a:cxnLst/>
              <a:rect r="r" b="b" t="t" l="l"/>
              <a:pathLst>
                <a:path h="1908274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869027"/>
                  </a:lnTo>
                  <a:cubicBezTo>
                    <a:pt x="2026208" y="1890703"/>
                    <a:pt x="2008636" y="1908274"/>
                    <a:pt x="1986961" y="1908274"/>
                  </a:cubicBezTo>
                  <a:lnTo>
                    <a:pt x="39247" y="1908274"/>
                  </a:lnTo>
                  <a:cubicBezTo>
                    <a:pt x="17571" y="1908274"/>
                    <a:pt x="0" y="1890703"/>
                    <a:pt x="0" y="1869027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946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 b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2.PIECHART ..............................................................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45198" y="2294641"/>
            <a:ext cx="491849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Enrollment by Institution Type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30897" y="2761202"/>
            <a:ext cx="804069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Goal: Show proportion of total enrollment by institution type.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21588" y="3138944"/>
            <a:ext cx="72241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421588" y="3547884"/>
            <a:ext cx="7365717" cy="256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Add a chart → Pie Chart → 1st option.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In the r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ight panel (Setup tab):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Dimension → Institution Type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M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etric → Total Enrollment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name chart title →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Title: </a:t>
            </a:r>
            <a:r>
              <a:rPr lang="en-US" b="true" sz="16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Enrollment Distribution by Institution Type (2019–20)</a:t>
            </a:r>
          </a:p>
          <a:p>
            <a:pPr algn="l">
              <a:lnSpc>
                <a:spcPts val="2322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8568954" y="6426047"/>
            <a:ext cx="6706370" cy="2844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1"/>
              </a:lnSpc>
              <a:spcBef>
                <a:spcPct val="0"/>
              </a:spcBef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</a:t>
            </a: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tyle</a:t>
            </a:r>
          </a:p>
          <a:p>
            <a:pPr algn="l" marL="350367" indent="-175183" lvl="1">
              <a:lnSpc>
                <a:spcPts val="2271"/>
              </a:lnSpc>
              <a:spcBef>
                <a:spcPct val="0"/>
              </a:spcBef>
              <a:buFont typeface="Arial"/>
              <a:buChar char="•"/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Turn Slice labels → ON → Value and Percent.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</a:p>
          <a:p>
            <a:pPr algn="l" marL="350367" indent="-175183" lvl="1">
              <a:lnSpc>
                <a:spcPts val="2271"/>
              </a:lnSpc>
              <a:spcBef>
                <a:spcPct val="0"/>
              </a:spcBef>
              <a:buFont typeface="Arial"/>
              <a:buChar char="•"/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Legend → Right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</a:p>
          <a:p>
            <a:pPr algn="l" marL="350367" indent="-175183" lvl="1">
              <a:lnSpc>
                <a:spcPts val="2271"/>
              </a:lnSpc>
              <a:buFont typeface="Arial"/>
              <a:buChar char="•"/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Optional colors: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Academic = Blue, Professional = Orange, Standalone = Green, University = Purple.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</a:p>
          <a:p>
            <a:pPr algn="l">
              <a:lnSpc>
                <a:spcPts val="2271"/>
              </a:lnSpc>
              <a:spcBef>
                <a:spcPct val="0"/>
              </a:spcBef>
            </a:pP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961805" y="2508448"/>
            <a:ext cx="6202969" cy="56664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9472303"/>
            <a:ext cx="19657606" cy="2557482"/>
            <a:chOff x="0" y="0"/>
            <a:chExt cx="5177312" cy="6735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673575"/>
            </a:xfrm>
            <a:custGeom>
              <a:avLst/>
              <a:gdLst/>
              <a:ahLst/>
              <a:cxnLst/>
              <a:rect r="r" b="b" t="t" l="l"/>
              <a:pathLst>
                <a:path h="673575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673575"/>
                  </a:lnTo>
                  <a:lnTo>
                    <a:pt x="0" y="673575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7116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269812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0" y="0"/>
                </a:lnTo>
                <a:lnTo>
                  <a:pt x="5709570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42874" y="7307686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8119415" y="2012822"/>
            <a:ext cx="7693257" cy="7245478"/>
            <a:chOff x="0" y="0"/>
            <a:chExt cx="2026208" cy="19082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026208" cy="1908274"/>
            </a:xfrm>
            <a:custGeom>
              <a:avLst/>
              <a:gdLst/>
              <a:ahLst/>
              <a:cxnLst/>
              <a:rect r="r" b="b" t="t" l="l"/>
              <a:pathLst>
                <a:path h="1908274" w="2026208">
                  <a:moveTo>
                    <a:pt x="39247" y="0"/>
                  </a:moveTo>
                  <a:lnTo>
                    <a:pt x="1986961" y="0"/>
                  </a:lnTo>
                  <a:cubicBezTo>
                    <a:pt x="2008636" y="0"/>
                    <a:pt x="2026208" y="17571"/>
                    <a:pt x="2026208" y="39247"/>
                  </a:cubicBezTo>
                  <a:lnTo>
                    <a:pt x="2026208" y="1869027"/>
                  </a:lnTo>
                  <a:cubicBezTo>
                    <a:pt x="2026208" y="1890703"/>
                    <a:pt x="2008636" y="1908274"/>
                    <a:pt x="1986961" y="1908274"/>
                  </a:cubicBezTo>
                  <a:lnTo>
                    <a:pt x="39247" y="1908274"/>
                  </a:lnTo>
                  <a:cubicBezTo>
                    <a:pt x="17571" y="1908274"/>
                    <a:pt x="0" y="1890703"/>
                    <a:pt x="0" y="1869027"/>
                  </a:cubicBezTo>
                  <a:lnTo>
                    <a:pt x="0" y="39247"/>
                  </a:lnTo>
                  <a:cubicBezTo>
                    <a:pt x="0" y="17571"/>
                    <a:pt x="17571" y="0"/>
                    <a:pt x="39247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026208" cy="1946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4" id="24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5" id="25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1" id="31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  <a:r>
              <a:rPr lang="en-US" sz="2499" i="true" b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2.TABLE ..............................................................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812803" y="2293207"/>
            <a:ext cx="6142107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Institution-wise Student-Teacher Ratio Table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330897" y="2761202"/>
            <a:ext cx="8040692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0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Goal: Compare Faculty Count, Total Enrollment and STR per institution.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421588" y="3138944"/>
            <a:ext cx="72241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Steps: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330897" y="3547884"/>
            <a:ext cx="7551314" cy="285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Click Add a chart →  Table → Plain Table.</a:t>
            </a:r>
          </a:p>
          <a:p>
            <a:pPr algn="l">
              <a:lnSpc>
                <a:spcPts val="2322"/>
              </a:lnSpc>
            </a:pP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In the r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ight panel (Setup tab):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Dimension → Institution Name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Optional Dimension → District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M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etric →  Faculty Count, Total Enrollment, Student-Teacher Ratio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 marL="358157" indent="-179079" lvl="1">
              <a:lnSpc>
                <a:spcPts val="2322"/>
              </a:lnSpc>
              <a:buFont typeface="Arial"/>
              <a:buChar char="•"/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Re</a:t>
            </a: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name chart title →</a:t>
            </a:r>
          </a:p>
          <a:p>
            <a:pPr algn="l">
              <a:lnSpc>
                <a:spcPts val="2322"/>
              </a:lnSpc>
            </a:pPr>
            <a:r>
              <a:rPr lang="en-US" sz="165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           Title: </a:t>
            </a:r>
            <a:r>
              <a:rPr lang="en-US" b="true" sz="165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Institution-wise Student-Teacher Ratio </a:t>
            </a:r>
          </a:p>
          <a:p>
            <a:pPr algn="l">
              <a:lnSpc>
                <a:spcPts val="2322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8568954" y="6426047"/>
            <a:ext cx="6706370" cy="31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1"/>
              </a:lnSpc>
              <a:spcBef>
                <a:spcPct val="0"/>
              </a:spcBef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S</a:t>
            </a: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tyle</a:t>
            </a:r>
          </a:p>
          <a:p>
            <a:pPr algn="l">
              <a:lnSpc>
                <a:spcPts val="2271"/>
              </a:lnSpc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1️⃣ Go to Style tab.</a:t>
            </a:r>
          </a:p>
          <a:p>
            <a:pPr algn="l">
              <a:lnSpc>
                <a:spcPts val="2271"/>
              </a:lnSpc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2️⃣ Scroll to Table colours.</a:t>
            </a:r>
          </a:p>
          <a:p>
            <a:pPr algn="l">
              <a:lnSpc>
                <a:spcPts val="2271"/>
              </a:lnSpc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- Header background: #E9EEF7</a:t>
            </a:r>
          </a:p>
          <a:p>
            <a:pPr algn="l">
              <a:lnSpc>
                <a:spcPts val="2271"/>
              </a:lnSpc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     - Odd row colour: #FFFFFF</a:t>
            </a:r>
          </a:p>
          <a:p>
            <a:pPr algn="l">
              <a:lnSpc>
                <a:spcPts val="2271"/>
              </a:lnSpc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- Even row colour: #F7F9FB</a:t>
            </a:r>
          </a:p>
          <a:p>
            <a:pPr algn="l">
              <a:lnSpc>
                <a:spcPts val="2271"/>
              </a:lnSpc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3️⃣ Show row numbers → ON</a:t>
            </a:r>
          </a:p>
          <a:p>
            <a:pPr algn="l">
              <a:lnSpc>
                <a:spcPts val="2271"/>
              </a:lnSpc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4️⃣ Font: Arial / Segoe UI</a:t>
            </a:r>
          </a:p>
          <a:p>
            <a:pPr algn="l">
              <a:lnSpc>
                <a:spcPts val="2271"/>
              </a:lnSpc>
            </a:pPr>
            <a:r>
              <a:rPr lang="en-US" sz="162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5️⃣ Title: Institution-wise Student–Teacher Ratio (STR)</a:t>
            </a:r>
          </a:p>
          <a:p>
            <a:pPr algn="l">
              <a:lnSpc>
                <a:spcPts val="2271"/>
              </a:lnSpc>
              <a:spcBef>
                <a:spcPct val="0"/>
              </a:spcBef>
            </a:pPr>
          </a:p>
          <a:p>
            <a:pPr algn="l">
              <a:lnSpc>
                <a:spcPts val="2271"/>
              </a:lnSpc>
              <a:spcBef>
                <a:spcPct val="0"/>
              </a:spcBef>
            </a:pPr>
          </a:p>
        </p:txBody>
      </p:sp>
      <p:pic>
        <p:nvPicPr>
          <p:cNvPr name="Picture 37" id="3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379846" y="2374820"/>
            <a:ext cx="5678212" cy="56782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1" id="21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28" id="28"/>
          <p:cNvGrpSpPr/>
          <p:nvPr/>
        </p:nvGrpSpPr>
        <p:grpSpPr>
          <a:xfrm rot="0">
            <a:off x="4116005" y="2654989"/>
            <a:ext cx="2996525" cy="3860435"/>
            <a:chOff x="0" y="0"/>
            <a:chExt cx="716142" cy="92260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6142" cy="922608"/>
            </a:xfrm>
            <a:custGeom>
              <a:avLst/>
              <a:gdLst/>
              <a:ahLst/>
              <a:cxnLst/>
              <a:rect r="r" b="b" t="t" l="l"/>
              <a:pathLst>
                <a:path h="922608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30941"/>
                  </a:cubicBezTo>
                  <a:lnTo>
                    <a:pt x="716142" y="922608"/>
                  </a:lnTo>
                  <a:lnTo>
                    <a:pt x="0" y="922608"/>
                  </a:lnTo>
                  <a:lnTo>
                    <a:pt x="0" y="33138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386C9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79375"/>
              <a:ext cx="716142" cy="843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233367" y="2654989"/>
            <a:ext cx="2996525" cy="3860435"/>
            <a:chOff x="0" y="0"/>
            <a:chExt cx="716142" cy="9226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6142" cy="922608"/>
            </a:xfrm>
            <a:custGeom>
              <a:avLst/>
              <a:gdLst/>
              <a:ahLst/>
              <a:cxnLst/>
              <a:rect r="r" b="b" t="t" l="l"/>
              <a:pathLst>
                <a:path h="922608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30941"/>
                  </a:cubicBezTo>
                  <a:lnTo>
                    <a:pt x="716142" y="922608"/>
                  </a:lnTo>
                  <a:lnTo>
                    <a:pt x="0" y="922608"/>
                  </a:lnTo>
                  <a:lnTo>
                    <a:pt x="0" y="33138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308FBE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79375"/>
              <a:ext cx="716142" cy="843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1121997" y="5941509"/>
            <a:ext cx="1622804" cy="1622804"/>
          </a:xfrm>
          <a:custGeom>
            <a:avLst/>
            <a:gdLst/>
            <a:ahLst/>
            <a:cxnLst/>
            <a:rect r="r" b="b" t="t" l="l"/>
            <a:pathLst>
              <a:path h="1622804" w="1622804">
                <a:moveTo>
                  <a:pt x="0" y="0"/>
                </a:moveTo>
                <a:lnTo>
                  <a:pt x="1622804" y="0"/>
                </a:lnTo>
                <a:lnTo>
                  <a:pt x="1622804" y="1622804"/>
                </a:lnTo>
                <a:lnTo>
                  <a:pt x="0" y="1622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8039273" y="5926389"/>
            <a:ext cx="1622804" cy="1622804"/>
          </a:xfrm>
          <a:custGeom>
            <a:avLst/>
            <a:gdLst/>
            <a:ahLst/>
            <a:cxnLst/>
            <a:rect r="r" b="b" t="t" l="l"/>
            <a:pathLst>
              <a:path h="1622804" w="1622804">
                <a:moveTo>
                  <a:pt x="0" y="0"/>
                </a:moveTo>
                <a:lnTo>
                  <a:pt x="1622804" y="0"/>
                </a:lnTo>
                <a:lnTo>
                  <a:pt x="1622804" y="1622803"/>
                </a:lnTo>
                <a:lnTo>
                  <a:pt x="0" y="16228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4877312" y="5933949"/>
            <a:ext cx="1622804" cy="1622804"/>
          </a:xfrm>
          <a:custGeom>
            <a:avLst/>
            <a:gdLst/>
            <a:ahLst/>
            <a:cxnLst/>
            <a:rect r="r" b="b" t="t" l="l"/>
            <a:pathLst>
              <a:path h="1622804" w="1622804">
                <a:moveTo>
                  <a:pt x="0" y="0"/>
                </a:moveTo>
                <a:lnTo>
                  <a:pt x="1622804" y="0"/>
                </a:lnTo>
                <a:lnTo>
                  <a:pt x="1622804" y="1622804"/>
                </a:lnTo>
                <a:lnTo>
                  <a:pt x="0" y="16228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50000"/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7" id="37"/>
          <p:cNvGrpSpPr/>
          <p:nvPr/>
        </p:nvGrpSpPr>
        <p:grpSpPr>
          <a:xfrm rot="0">
            <a:off x="8009794" y="5926389"/>
            <a:ext cx="1443670" cy="144367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8146607" y="6053538"/>
            <a:ext cx="1170044" cy="1189371"/>
          </a:xfrm>
          <a:custGeom>
            <a:avLst/>
            <a:gdLst/>
            <a:ahLst/>
            <a:cxnLst/>
            <a:rect r="r" b="b" t="t" l="l"/>
            <a:pathLst>
              <a:path h="1189371" w="1170044">
                <a:moveTo>
                  <a:pt x="0" y="0"/>
                </a:moveTo>
                <a:lnTo>
                  <a:pt x="1170044" y="0"/>
                </a:lnTo>
                <a:lnTo>
                  <a:pt x="1170044" y="1189371"/>
                </a:lnTo>
                <a:lnTo>
                  <a:pt x="0" y="118937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1" id="41"/>
          <p:cNvGrpSpPr/>
          <p:nvPr/>
        </p:nvGrpSpPr>
        <p:grpSpPr>
          <a:xfrm rot="0">
            <a:off x="10349676" y="2654989"/>
            <a:ext cx="2996525" cy="3860435"/>
            <a:chOff x="0" y="0"/>
            <a:chExt cx="716142" cy="92260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6142" cy="922608"/>
            </a:xfrm>
            <a:custGeom>
              <a:avLst/>
              <a:gdLst/>
              <a:ahLst/>
              <a:cxnLst/>
              <a:rect r="r" b="b" t="t" l="l"/>
              <a:pathLst>
                <a:path h="922608" w="716142">
                  <a:moveTo>
                    <a:pt x="238843" y="19070"/>
                  </a:moveTo>
                  <a:cubicBezTo>
                    <a:pt x="275439" y="7556"/>
                    <a:pt x="317298" y="0"/>
                    <a:pt x="358264" y="0"/>
                  </a:cubicBezTo>
                  <a:cubicBezTo>
                    <a:pt x="399231" y="0"/>
                    <a:pt x="438652" y="6476"/>
                    <a:pt x="474980" y="17990"/>
                  </a:cubicBezTo>
                  <a:cubicBezTo>
                    <a:pt x="475754" y="18350"/>
                    <a:pt x="476526" y="18350"/>
                    <a:pt x="477299" y="18710"/>
                  </a:cubicBezTo>
                  <a:cubicBezTo>
                    <a:pt x="613725" y="64765"/>
                    <a:pt x="714209" y="186379"/>
                    <a:pt x="716142" y="330941"/>
                  </a:cubicBezTo>
                  <a:lnTo>
                    <a:pt x="716142" y="922608"/>
                  </a:lnTo>
                  <a:lnTo>
                    <a:pt x="0" y="922608"/>
                  </a:lnTo>
                  <a:lnTo>
                    <a:pt x="0" y="331380"/>
                  </a:lnTo>
                  <a:cubicBezTo>
                    <a:pt x="1932" y="185660"/>
                    <a:pt x="100870" y="64045"/>
                    <a:pt x="238843" y="19070"/>
                  </a:cubicBezTo>
                  <a:close/>
                </a:path>
              </a:pathLst>
            </a:custGeom>
            <a:solidFill>
              <a:srgbClr val="C34D24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79375"/>
              <a:ext cx="716142" cy="843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126103" y="5941509"/>
            <a:ext cx="1443670" cy="1443670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47" id="47"/>
          <p:cNvSpPr/>
          <p:nvPr/>
        </p:nvSpPr>
        <p:spPr>
          <a:xfrm flipH="false" flipV="false" rot="0">
            <a:off x="11262916" y="6068658"/>
            <a:ext cx="1170044" cy="1189371"/>
          </a:xfrm>
          <a:custGeom>
            <a:avLst/>
            <a:gdLst/>
            <a:ahLst/>
            <a:cxnLst/>
            <a:rect r="r" b="b" t="t" l="l"/>
            <a:pathLst>
              <a:path h="1189371" w="1170044">
                <a:moveTo>
                  <a:pt x="0" y="0"/>
                </a:moveTo>
                <a:lnTo>
                  <a:pt x="1170044" y="0"/>
                </a:lnTo>
                <a:lnTo>
                  <a:pt x="1170044" y="1189372"/>
                </a:lnTo>
                <a:lnTo>
                  <a:pt x="0" y="1189372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48" id="48"/>
          <p:cNvGrpSpPr/>
          <p:nvPr/>
        </p:nvGrpSpPr>
        <p:grpSpPr>
          <a:xfrm rot="0">
            <a:off x="4892432" y="5933949"/>
            <a:ext cx="1443670" cy="1443670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CF0F3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3"/>
                </a:lnSpc>
              </a:pPr>
            </a:p>
          </p:txBody>
        </p:sp>
      </p:grpSp>
      <p:sp>
        <p:nvSpPr>
          <p:cNvPr name="Freeform 51" id="51"/>
          <p:cNvSpPr/>
          <p:nvPr/>
        </p:nvSpPr>
        <p:spPr>
          <a:xfrm flipH="false" flipV="false" rot="0">
            <a:off x="5029245" y="6061098"/>
            <a:ext cx="1170044" cy="1189371"/>
          </a:xfrm>
          <a:custGeom>
            <a:avLst/>
            <a:gdLst/>
            <a:ahLst/>
            <a:cxnLst/>
            <a:rect r="r" b="b" t="t" l="l"/>
            <a:pathLst>
              <a:path h="1189371" w="1170044">
                <a:moveTo>
                  <a:pt x="0" y="0"/>
                </a:moveTo>
                <a:lnTo>
                  <a:pt x="1170044" y="0"/>
                </a:lnTo>
                <a:lnTo>
                  <a:pt x="1170044" y="1189371"/>
                </a:lnTo>
                <a:lnTo>
                  <a:pt x="0" y="118937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2" id="52"/>
          <p:cNvGrpSpPr/>
          <p:nvPr/>
        </p:nvGrpSpPr>
        <p:grpSpPr>
          <a:xfrm rot="0">
            <a:off x="5344728" y="2242322"/>
            <a:ext cx="539079" cy="537988"/>
            <a:chOff x="0" y="0"/>
            <a:chExt cx="718773" cy="717318"/>
          </a:xfrm>
        </p:grpSpPr>
        <p:grpSp>
          <p:nvGrpSpPr>
            <p:cNvPr name="Group 53" id="53"/>
            <p:cNvGrpSpPr/>
            <p:nvPr/>
          </p:nvGrpSpPr>
          <p:grpSpPr>
            <a:xfrm rot="0">
              <a:off x="0" y="0"/>
              <a:ext cx="718773" cy="717318"/>
              <a:chOff x="0" y="0"/>
              <a:chExt cx="812800" cy="811155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86C9C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56" id="56"/>
            <p:cNvSpPr txBox="true"/>
            <p:nvPr/>
          </p:nvSpPr>
          <p:spPr>
            <a:xfrm rot="0">
              <a:off x="170942" y="182630"/>
              <a:ext cx="376889" cy="313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0"/>
                </a:lnSpc>
              </a:pPr>
              <a:r>
                <a:rPr lang="en-US" sz="1379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8462089" y="2242322"/>
            <a:ext cx="539079" cy="537988"/>
            <a:chOff x="0" y="0"/>
            <a:chExt cx="718773" cy="717318"/>
          </a:xfrm>
        </p:grpSpPr>
        <p:grpSp>
          <p:nvGrpSpPr>
            <p:cNvPr name="Group 58" id="58"/>
            <p:cNvGrpSpPr/>
            <p:nvPr/>
          </p:nvGrpSpPr>
          <p:grpSpPr>
            <a:xfrm rot="0">
              <a:off x="0" y="0"/>
              <a:ext cx="718773" cy="717318"/>
              <a:chOff x="0" y="0"/>
              <a:chExt cx="812800" cy="811155"/>
            </a:xfrm>
          </p:grpSpPr>
          <p:sp>
            <p:nvSpPr>
              <p:cNvPr name="Freeform 59" id="59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308FBE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0" id="60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1" id="61"/>
            <p:cNvSpPr txBox="true"/>
            <p:nvPr/>
          </p:nvSpPr>
          <p:spPr>
            <a:xfrm rot="0">
              <a:off x="170942" y="182630"/>
              <a:ext cx="376889" cy="313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0"/>
                </a:lnSpc>
              </a:pPr>
              <a:r>
                <a:rPr lang="en-US" sz="1379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578398" y="2242322"/>
            <a:ext cx="539079" cy="537988"/>
            <a:chOff x="0" y="0"/>
            <a:chExt cx="718773" cy="717318"/>
          </a:xfrm>
        </p:grpSpPr>
        <p:grpSp>
          <p:nvGrpSpPr>
            <p:cNvPr name="Group 63" id="63"/>
            <p:cNvGrpSpPr/>
            <p:nvPr/>
          </p:nvGrpSpPr>
          <p:grpSpPr>
            <a:xfrm rot="0">
              <a:off x="0" y="0"/>
              <a:ext cx="718773" cy="717318"/>
              <a:chOff x="0" y="0"/>
              <a:chExt cx="812800" cy="811155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0" y="0"/>
                <a:ext cx="812800" cy="811155"/>
              </a:xfrm>
              <a:custGeom>
                <a:avLst/>
                <a:gdLst/>
                <a:ahLst/>
                <a:cxnLst/>
                <a:rect r="r" b="b" t="t" l="l"/>
                <a:pathLst>
                  <a:path h="811155" w="812800">
                    <a:moveTo>
                      <a:pt x="406400" y="0"/>
                    </a:moveTo>
                    <a:cubicBezTo>
                      <a:pt x="181951" y="0"/>
                      <a:pt x="0" y="181583"/>
                      <a:pt x="0" y="405577"/>
                    </a:cubicBezTo>
                    <a:cubicBezTo>
                      <a:pt x="0" y="629572"/>
                      <a:pt x="181951" y="811155"/>
                      <a:pt x="406400" y="811155"/>
                    </a:cubicBezTo>
                    <a:cubicBezTo>
                      <a:pt x="630849" y="811155"/>
                      <a:pt x="812800" y="629572"/>
                      <a:pt x="812800" y="405577"/>
                    </a:cubicBezTo>
                    <a:cubicBezTo>
                      <a:pt x="812800" y="181583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34D24"/>
              </a:solidFill>
              <a:ln w="7620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name="TextBox 65" id="65"/>
              <p:cNvSpPr txBox="true"/>
              <p:nvPr/>
            </p:nvSpPr>
            <p:spPr>
              <a:xfrm>
                <a:off x="76200" y="28421"/>
                <a:ext cx="660400" cy="70668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  <p:sp>
          <p:nvSpPr>
            <p:cNvPr name="TextBox 66" id="66"/>
            <p:cNvSpPr txBox="true"/>
            <p:nvPr/>
          </p:nvSpPr>
          <p:spPr>
            <a:xfrm rot="0">
              <a:off x="170942" y="182630"/>
              <a:ext cx="376889" cy="3139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30"/>
                </a:lnSpc>
              </a:pPr>
              <a:r>
                <a:rPr lang="en-US" sz="1379" b="true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5335179" y="6388442"/>
            <a:ext cx="558177" cy="549804"/>
          </a:xfrm>
          <a:custGeom>
            <a:avLst/>
            <a:gdLst/>
            <a:ahLst/>
            <a:cxnLst/>
            <a:rect r="r" b="b" t="t" l="l"/>
            <a:pathLst>
              <a:path h="549804" w="558177">
                <a:moveTo>
                  <a:pt x="0" y="0"/>
                </a:moveTo>
                <a:lnTo>
                  <a:pt x="558177" y="0"/>
                </a:lnTo>
                <a:lnTo>
                  <a:pt x="558177" y="549804"/>
                </a:lnTo>
                <a:lnTo>
                  <a:pt x="0" y="54980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8427051" y="6305545"/>
            <a:ext cx="685357" cy="685357"/>
          </a:xfrm>
          <a:custGeom>
            <a:avLst/>
            <a:gdLst/>
            <a:ahLst/>
            <a:cxnLst/>
            <a:rect r="r" b="b" t="t" l="l"/>
            <a:pathLst>
              <a:path h="685357" w="685357">
                <a:moveTo>
                  <a:pt x="0" y="0"/>
                </a:moveTo>
                <a:lnTo>
                  <a:pt x="685356" y="0"/>
                </a:lnTo>
                <a:lnTo>
                  <a:pt x="685356" y="685357"/>
                </a:lnTo>
                <a:lnTo>
                  <a:pt x="0" y="685357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11572917" y="6382437"/>
            <a:ext cx="573136" cy="490031"/>
          </a:xfrm>
          <a:custGeom>
            <a:avLst/>
            <a:gdLst/>
            <a:ahLst/>
            <a:cxnLst/>
            <a:rect r="r" b="b" t="t" l="l"/>
            <a:pathLst>
              <a:path h="490031" w="573136">
                <a:moveTo>
                  <a:pt x="0" y="0"/>
                </a:moveTo>
                <a:lnTo>
                  <a:pt x="573136" y="0"/>
                </a:lnTo>
                <a:lnTo>
                  <a:pt x="573136" y="490032"/>
                </a:lnTo>
                <a:lnTo>
                  <a:pt x="0" y="490032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0" id="70"/>
          <p:cNvSpPr txBox="true"/>
          <p:nvPr/>
        </p:nvSpPr>
        <p:spPr>
          <a:xfrm rot="0">
            <a:off x="2765749" y="1079161"/>
            <a:ext cx="10150811" cy="733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Add Interactive Filters (Slicers)</a:t>
            </a:r>
          </a:p>
          <a:p>
            <a:pPr algn="l">
              <a:lnSpc>
                <a:spcPts val="2999"/>
              </a:lnSpc>
            </a:pPr>
          </a:p>
        </p:txBody>
      </p:sp>
      <p:sp>
        <p:nvSpPr>
          <p:cNvPr name="TextBox 71" id="71"/>
          <p:cNvSpPr txBox="true"/>
          <p:nvPr/>
        </p:nvSpPr>
        <p:spPr>
          <a:xfrm rot="0">
            <a:off x="4281402" y="3354830"/>
            <a:ext cx="2585463" cy="30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99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Add District Filter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7510837" y="3326770"/>
            <a:ext cx="2441585" cy="612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99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Add Institution Type Filter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0728866" y="3368362"/>
            <a:ext cx="2441585" cy="302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499"/>
              </a:lnSpc>
              <a:spcBef>
                <a:spcPct val="0"/>
              </a:spcBef>
            </a:pPr>
            <a:r>
              <a:rPr lang="en-US" b="true" sz="178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Style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166195" y="3763255"/>
            <a:ext cx="2864637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Click Add a control → Drop-down list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4190451" y="4379717"/>
            <a:ext cx="2996525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Cl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ick above your charts to place it.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166195" y="4933125"/>
            <a:ext cx="2996525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Setup tab → Control f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ield → District.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517340" y="3838438"/>
            <a:ext cx="2864637" cy="241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Show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search box → ON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517340" y="4370192"/>
            <a:ext cx="2864637" cy="241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Background: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White #FFFFFF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577662" y="4918005"/>
            <a:ext cx="2768539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order: Light Gray #D9D9D9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4198741" y="5491061"/>
            <a:ext cx="2910800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Rename title: F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ilter by District.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304064" y="4043600"/>
            <a:ext cx="2864637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Click Add a control → Drop-down list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7304064" y="4596261"/>
            <a:ext cx="2996525" cy="241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Pla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ce beside the first filter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334100" y="4876928"/>
            <a:ext cx="2996525" cy="491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Control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field → Institution Type.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7334100" y="5415813"/>
            <a:ext cx="2996525" cy="740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8457" indent="-154228" lvl="1">
              <a:lnSpc>
                <a:spcPts val="2000"/>
              </a:lnSpc>
              <a:buFont typeface="Arial"/>
              <a:buChar char="•"/>
            </a:pP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Rename title:</a:t>
            </a:r>
            <a:r>
              <a:rPr lang="en-US" sz="142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Filter by Institution Type.</a:t>
            </a:r>
          </a:p>
          <a:p>
            <a:pPr algn="l">
              <a:lnSpc>
                <a:spcPts val="20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69606" y="8725807"/>
            <a:ext cx="19657606" cy="3303978"/>
            <a:chOff x="0" y="0"/>
            <a:chExt cx="5177312" cy="8701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177312" cy="870183"/>
            </a:xfrm>
            <a:custGeom>
              <a:avLst/>
              <a:gdLst/>
              <a:ahLst/>
              <a:cxnLst/>
              <a:rect r="r" b="b" t="t" l="l"/>
              <a:pathLst>
                <a:path h="870183" w="5177312">
                  <a:moveTo>
                    <a:pt x="0" y="0"/>
                  </a:moveTo>
                  <a:lnTo>
                    <a:pt x="5177312" y="0"/>
                  </a:lnTo>
                  <a:lnTo>
                    <a:pt x="5177312" y="870183"/>
                  </a:lnTo>
                  <a:lnTo>
                    <a:pt x="0" y="870183"/>
                  </a:lnTo>
                  <a:close/>
                </a:path>
              </a:pathLst>
            </a:custGeom>
            <a:solidFill>
              <a:srgbClr val="FCB503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177312" cy="9082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5400000">
            <a:off x="1318369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11260060" y="6650461"/>
            <a:ext cx="5709571" cy="10038806"/>
          </a:xfrm>
          <a:custGeom>
            <a:avLst/>
            <a:gdLst/>
            <a:ahLst/>
            <a:cxnLst/>
            <a:rect r="r" b="b" t="t" l="l"/>
            <a:pathLst>
              <a:path h="10038806" w="5709571">
                <a:moveTo>
                  <a:pt x="0" y="0"/>
                </a:moveTo>
                <a:lnTo>
                  <a:pt x="5709571" y="0"/>
                </a:lnTo>
                <a:lnTo>
                  <a:pt x="5709571" y="10038806"/>
                </a:lnTo>
                <a:lnTo>
                  <a:pt x="0" y="100388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7" id="7"/>
          <p:cNvGrpSpPr/>
          <p:nvPr/>
        </p:nvGrpSpPr>
        <p:grpSpPr>
          <a:xfrm rot="0">
            <a:off x="2478719" y="875533"/>
            <a:ext cx="10723591" cy="733555"/>
            <a:chOff x="0" y="0"/>
            <a:chExt cx="2824320" cy="193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24320" cy="193200"/>
            </a:xfrm>
            <a:custGeom>
              <a:avLst/>
              <a:gdLst/>
              <a:ahLst/>
              <a:cxnLst/>
              <a:rect r="r" b="b" t="t" l="l"/>
              <a:pathLst>
                <a:path h="193200" w="2824320">
                  <a:moveTo>
                    <a:pt x="0" y="0"/>
                  </a:moveTo>
                  <a:lnTo>
                    <a:pt x="2824320" y="0"/>
                  </a:lnTo>
                  <a:lnTo>
                    <a:pt x="2824320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5F5F5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824320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5079247" y="875533"/>
            <a:ext cx="733425" cy="733555"/>
            <a:chOff x="0" y="0"/>
            <a:chExt cx="193165" cy="193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221485" y="875533"/>
            <a:ext cx="733425" cy="733555"/>
            <a:chOff x="0" y="0"/>
            <a:chExt cx="193165" cy="193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3364235" y="875533"/>
            <a:ext cx="733425" cy="733555"/>
            <a:chOff x="0" y="0"/>
            <a:chExt cx="193165" cy="193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3165" cy="193200"/>
            </a:xfrm>
            <a:custGeom>
              <a:avLst/>
              <a:gdLst/>
              <a:ahLst/>
              <a:cxnLst/>
              <a:rect r="r" b="b" t="t" l="l"/>
              <a:pathLst>
                <a:path h="193200" w="193165">
                  <a:moveTo>
                    <a:pt x="0" y="0"/>
                  </a:moveTo>
                  <a:lnTo>
                    <a:pt x="193165" y="0"/>
                  </a:lnTo>
                  <a:lnTo>
                    <a:pt x="193165" y="193200"/>
                  </a:lnTo>
                  <a:lnTo>
                    <a:pt x="0" y="193200"/>
                  </a:lnTo>
                  <a:close/>
                </a:path>
              </a:pathLst>
            </a:custGeom>
            <a:solidFill>
              <a:srgbClr val="FED101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93165" cy="231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4389720" y="1043577"/>
            <a:ext cx="397468" cy="397468"/>
          </a:xfrm>
          <a:custGeom>
            <a:avLst/>
            <a:gdLst/>
            <a:ahLst/>
            <a:cxnLst/>
            <a:rect r="r" b="b" t="t" l="l"/>
            <a:pathLst>
              <a:path h="397468" w="397468">
                <a:moveTo>
                  <a:pt x="0" y="0"/>
                </a:moveTo>
                <a:lnTo>
                  <a:pt x="397468" y="0"/>
                </a:lnTo>
                <a:lnTo>
                  <a:pt x="397468" y="397468"/>
                </a:lnTo>
                <a:lnTo>
                  <a:pt x="0" y="39746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275323" y="1071674"/>
            <a:ext cx="341273" cy="341273"/>
          </a:xfrm>
          <a:custGeom>
            <a:avLst/>
            <a:gdLst/>
            <a:ahLst/>
            <a:cxnLst/>
            <a:rect r="r" b="b" t="t" l="l"/>
            <a:pathLst>
              <a:path h="341273" w="341273">
                <a:moveTo>
                  <a:pt x="0" y="0"/>
                </a:moveTo>
                <a:lnTo>
                  <a:pt x="341273" y="0"/>
                </a:lnTo>
                <a:lnTo>
                  <a:pt x="341273" y="341273"/>
                </a:lnTo>
                <a:lnTo>
                  <a:pt x="0" y="34127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AutoShape 21" id="21"/>
          <p:cNvSpPr/>
          <p:nvPr/>
        </p:nvSpPr>
        <p:spPr>
          <a:xfrm>
            <a:off x="13523387" y="1261361"/>
            <a:ext cx="415121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2" id="22"/>
          <p:cNvSpPr/>
          <p:nvPr/>
        </p:nvSpPr>
        <p:spPr>
          <a:xfrm flipH="false" flipV="false" rot="5400000">
            <a:off x="15503582" y="5593770"/>
            <a:ext cx="2698443" cy="1759803"/>
          </a:xfrm>
          <a:custGeom>
            <a:avLst/>
            <a:gdLst/>
            <a:ahLst/>
            <a:cxnLst/>
            <a:rect r="r" b="b" t="t" l="l"/>
            <a:pathLst>
              <a:path h="1759803" w="2698443">
                <a:moveTo>
                  <a:pt x="0" y="0"/>
                </a:moveTo>
                <a:lnTo>
                  <a:pt x="2698443" y="0"/>
                </a:lnTo>
                <a:lnTo>
                  <a:pt x="2698443" y="1759803"/>
                </a:lnTo>
                <a:lnTo>
                  <a:pt x="0" y="17598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52487" b="-133821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5400000">
            <a:off x="14795403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5400000">
            <a:off x="-618812" y="1900733"/>
            <a:ext cx="4114800" cy="1759803"/>
          </a:xfrm>
          <a:custGeom>
            <a:avLst/>
            <a:gdLst/>
            <a:ahLst/>
            <a:cxnLst/>
            <a:rect r="r" b="b" t="t" l="l"/>
            <a:pathLst>
              <a:path h="1759803" w="4114800">
                <a:moveTo>
                  <a:pt x="0" y="0"/>
                </a:moveTo>
                <a:lnTo>
                  <a:pt x="4114800" y="0"/>
                </a:lnTo>
                <a:lnTo>
                  <a:pt x="4114800" y="1759802"/>
                </a:lnTo>
                <a:lnTo>
                  <a:pt x="0" y="17598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-133821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5400000">
            <a:off x="15010" y="5668126"/>
            <a:ext cx="2719361" cy="1632009"/>
          </a:xfrm>
          <a:custGeom>
            <a:avLst/>
            <a:gdLst/>
            <a:ahLst/>
            <a:cxnLst/>
            <a:rect r="r" b="b" t="t" l="l"/>
            <a:pathLst>
              <a:path h="1632009" w="2719361">
                <a:moveTo>
                  <a:pt x="0" y="0"/>
                </a:moveTo>
                <a:lnTo>
                  <a:pt x="2719361" y="0"/>
                </a:lnTo>
                <a:lnTo>
                  <a:pt x="2719361" y="1632009"/>
                </a:lnTo>
                <a:lnTo>
                  <a:pt x="0" y="163200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51314" t="0" r="0" b="-15213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43089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0" y="0"/>
                </a:moveTo>
                <a:lnTo>
                  <a:pt x="1759803" y="0"/>
                </a:lnTo>
                <a:lnTo>
                  <a:pt x="1759803" y="475147"/>
                </a:lnTo>
                <a:lnTo>
                  <a:pt x="0" y="47514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false" rot="0">
            <a:off x="15972902" y="7939881"/>
            <a:ext cx="1759803" cy="475147"/>
          </a:xfrm>
          <a:custGeom>
            <a:avLst/>
            <a:gdLst/>
            <a:ahLst/>
            <a:cxnLst/>
            <a:rect r="r" b="b" t="t" l="l"/>
            <a:pathLst>
              <a:path h="475147" w="1759803">
                <a:moveTo>
                  <a:pt x="1759803" y="0"/>
                </a:moveTo>
                <a:lnTo>
                  <a:pt x="0" y="0"/>
                </a:lnTo>
                <a:lnTo>
                  <a:pt x="0" y="475147"/>
                </a:lnTo>
                <a:lnTo>
                  <a:pt x="1759803" y="475147"/>
                </a:lnTo>
                <a:lnTo>
                  <a:pt x="1759803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aphicFrame>
        <p:nvGraphicFramePr>
          <p:cNvPr name="Object 28" id="28"/>
          <p:cNvGraphicFramePr/>
          <p:nvPr/>
        </p:nvGraphicFramePr>
        <p:xfrm>
          <a:off x="2478719" y="1897783"/>
          <a:ext cx="9258300" cy="2514600"/>
        </p:xfrm>
        <a:graphic>
          <a:graphicData uri="http://schemas.openxmlformats.org/presentationml/2006/ole">
            <p:oleObj imgW="11099800" imgH="4356100" r:id="rId1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1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9" id="29"/>
          <p:cNvSpPr txBox="true"/>
          <p:nvPr/>
        </p:nvSpPr>
        <p:spPr>
          <a:xfrm rot="0">
            <a:off x="2765749" y="1079161"/>
            <a:ext cx="10150811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b="true" sz="2499" i="true">
                <a:solidFill>
                  <a:srgbClr val="000000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DAG3W8fS_g0</dc:identifier>
  <dcterms:modified xsi:type="dcterms:W3CDTF">2011-08-01T06:04:30Z</dcterms:modified>
  <cp:revision>1</cp:revision>
  <dc:title>Google Looker Studio </dc:title>
</cp:coreProperties>
</file>