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Bernoru Condensed" charset="1" panose="00000A06000000000000"/>
      <p:regular r:id="rId23"/>
    </p:embeddedFont>
    <p:embeddedFont>
      <p:font typeface="Montserrat" charset="1" panose="00000500000000000000"/>
      <p:regular r:id="rId24"/>
    </p:embeddedFont>
    <p:embeddedFont>
      <p:font typeface="Montserrat Italics" charset="1" panose="00000500000000000000"/>
      <p:regular r:id="rId25"/>
    </p:embeddedFont>
    <p:embeddedFont>
      <p:font typeface="Hero" charset="1" panose="00000500000000000000"/>
      <p:regular r:id="rId26"/>
    </p:embeddedFont>
    <p:embeddedFont>
      <p:font typeface="Hero Bold" charset="1" panose="00000500000000000000"/>
      <p:regular r:id="rId27"/>
    </p:embeddedFont>
    <p:embeddedFont>
      <p:font typeface="Roboto Mono Bold" charset="1" panose="00000000000000000000"/>
      <p:regular r:id="rId28"/>
    </p:embeddedFont>
    <p:embeddedFont>
      <p:font typeface="Canva Sans Bold" charset="1" panose="020B0803030501040103"/>
      <p:regular r:id="rId29"/>
    </p:embeddedFont>
    <p:embeddedFont>
      <p:font typeface="Canva Sans" charset="1" panose="020B0503030501040103"/>
      <p:regular r:id="rId30"/>
    </p:embeddedFont>
    <p:embeddedFont>
      <p:font typeface="Proxima Nova Bold" charset="1" panose="02000506030000020004"/>
      <p:regular r:id="rId31"/>
    </p:embeddedFont>
    <p:embeddedFont>
      <p:font typeface="Proxima Nova" charset="1" panose="020005060300000200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embeddings/oleObject1.bin" Type="http://schemas.openxmlformats.org/officeDocument/2006/relationships/oleObjec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8.png" Type="http://schemas.openxmlformats.org/officeDocument/2006/relationships/image"/><Relationship Id="rId15" Target="../embeddings/oleObject2.bin" Type="http://schemas.openxmlformats.org/officeDocument/2006/relationships/oleObjec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16" Target="../media/image27.png" Type="http://schemas.openxmlformats.org/officeDocument/2006/relationships/image"/><Relationship Id="rId17" Target="../media/image28.svg" Type="http://schemas.openxmlformats.org/officeDocument/2006/relationships/image"/><Relationship Id="rId18" Target="../media/image29.png" Type="http://schemas.openxmlformats.org/officeDocument/2006/relationships/image"/><Relationship Id="rId19" Target="../media/image30.svg" Type="http://schemas.openxmlformats.org/officeDocument/2006/relationships/image"/><Relationship Id="rId2" Target="../media/image7.png" Type="http://schemas.openxmlformats.org/officeDocument/2006/relationships/image"/><Relationship Id="rId20" Target="../media/image31.png" Type="http://schemas.openxmlformats.org/officeDocument/2006/relationships/image"/><Relationship Id="rId21" Target="../media/image32.svg" Type="http://schemas.openxmlformats.org/officeDocument/2006/relationships/image"/><Relationship Id="rId22" Target="../media/image33.png" Type="http://schemas.openxmlformats.org/officeDocument/2006/relationships/image"/><Relationship Id="rId23" Target="../media/image34.svg" Type="http://schemas.openxmlformats.org/officeDocument/2006/relationships/image"/><Relationship Id="rId24" Target="../media/image35.png" Type="http://schemas.openxmlformats.org/officeDocument/2006/relationships/image"/><Relationship Id="rId25" Target="../media/image36.svg" Type="http://schemas.openxmlformats.org/officeDocument/2006/relationships/image"/><Relationship Id="rId26" Target="../media/image37.png" Type="http://schemas.openxmlformats.org/officeDocument/2006/relationships/image"/><Relationship Id="rId27" Target="../media/image38.svg" Type="http://schemas.openxmlformats.org/officeDocument/2006/relationships/image"/><Relationship Id="rId28" Target="../media/image39.png" Type="http://schemas.openxmlformats.org/officeDocument/2006/relationships/image"/><Relationship Id="rId29" Target="../media/image40.svg" Type="http://schemas.openxmlformats.org/officeDocument/2006/relationships/image"/><Relationship Id="rId3" Target="../media/image8.svg" Type="http://schemas.openxmlformats.org/officeDocument/2006/relationships/image"/><Relationship Id="rId30" Target="../media/image41.png" Type="http://schemas.openxmlformats.org/officeDocument/2006/relationships/image"/><Relationship Id="rId31" Target="../media/image42.svg" Type="http://schemas.openxmlformats.org/officeDocument/2006/relationships/image"/><Relationship Id="rId32" Target="../media/image43.png" Type="http://schemas.openxmlformats.org/officeDocument/2006/relationships/image"/><Relationship Id="rId33" Target="../media/image4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45.png" Type="http://schemas.openxmlformats.org/officeDocument/2006/relationships/image"/><Relationship Id="rId13" Target="../media/image4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media/image49.png" Type="http://schemas.openxmlformats.org/officeDocument/2006/relationships/image"/><Relationship Id="rId15" Target="../embeddings/oleObject3.bin" Type="http://schemas.openxmlformats.org/officeDocument/2006/relationships/oleObjec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50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51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52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53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54.png" Type="http://schemas.openxmlformats.org/officeDocument/2006/relationships/image"/><Relationship Id="rId13" Target="../media/image55.png" Type="http://schemas.openxmlformats.org/officeDocument/2006/relationships/image"/><Relationship Id="rId14" Target="../embeddings/oleObject4.bin" Type="http://schemas.openxmlformats.org/officeDocument/2006/relationships/oleObjec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56.png" Type="http://schemas.openxmlformats.org/officeDocument/2006/relationships/image"/><Relationship Id="rId13" Target="../embeddings/oleObject5.bin" Type="http://schemas.openxmlformats.org/officeDocument/2006/relationships/oleObjec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77023" y="2224450"/>
            <a:ext cx="5376765" cy="5349881"/>
          </a:xfrm>
          <a:custGeom>
            <a:avLst/>
            <a:gdLst/>
            <a:ahLst/>
            <a:cxnLst/>
            <a:rect r="r" b="b" t="t" l="l"/>
            <a:pathLst>
              <a:path h="5349881" w="5376765">
                <a:moveTo>
                  <a:pt x="0" y="0"/>
                </a:moveTo>
                <a:lnTo>
                  <a:pt x="5376765" y="0"/>
                </a:lnTo>
                <a:lnTo>
                  <a:pt x="5376765" y="5349881"/>
                </a:lnTo>
                <a:lnTo>
                  <a:pt x="0" y="5349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17719" y="2224450"/>
            <a:ext cx="7693257" cy="5349881"/>
            <a:chOff x="0" y="0"/>
            <a:chExt cx="2026208" cy="14090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6208" cy="1409022"/>
            </a:xfrm>
            <a:custGeom>
              <a:avLst/>
              <a:gdLst/>
              <a:ahLst/>
              <a:cxnLst/>
              <a:rect r="r" b="b" t="t" l="l"/>
              <a:pathLst>
                <a:path h="1409022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369775"/>
                  </a:lnTo>
                  <a:cubicBezTo>
                    <a:pt x="2026208" y="1391451"/>
                    <a:pt x="2008636" y="1409022"/>
                    <a:pt x="1986961" y="1409022"/>
                  </a:cubicBezTo>
                  <a:lnTo>
                    <a:pt x="39247" y="1409022"/>
                  </a:lnTo>
                  <a:cubicBezTo>
                    <a:pt x="17571" y="1409022"/>
                    <a:pt x="0" y="1391451"/>
                    <a:pt x="0" y="1369775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6208" cy="1447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19623" y="8243772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54709" y="8243772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89795" y="8243772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24880" y="8243772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477023" y="7739286"/>
            <a:ext cx="13333954" cy="733555"/>
            <a:chOff x="0" y="0"/>
            <a:chExt cx="3511823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11823" cy="193200"/>
            </a:xfrm>
            <a:custGeom>
              <a:avLst/>
              <a:gdLst/>
              <a:ahLst/>
              <a:cxnLst/>
              <a:rect r="r" b="b" t="t" l="l"/>
              <a:pathLst>
                <a:path h="193200" w="3511823">
                  <a:moveTo>
                    <a:pt x="0" y="0"/>
                  </a:moveTo>
                  <a:lnTo>
                    <a:pt x="3511823" y="0"/>
                  </a:lnTo>
                  <a:lnTo>
                    <a:pt x="3511823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511823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19623" y="39331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19623" y="2386251"/>
            <a:ext cx="1704332" cy="1692288"/>
          </a:xfrm>
          <a:custGeom>
            <a:avLst/>
            <a:gdLst/>
            <a:ahLst/>
            <a:cxnLst/>
            <a:rect r="r" b="b" t="t" l="l"/>
            <a:pathLst>
              <a:path h="1692288" w="1704332">
                <a:moveTo>
                  <a:pt x="0" y="0"/>
                </a:moveTo>
                <a:lnTo>
                  <a:pt x="1704332" y="0"/>
                </a:lnTo>
                <a:lnTo>
                  <a:pt x="1704332" y="1692289"/>
                </a:lnTo>
                <a:lnTo>
                  <a:pt x="0" y="169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41431" b="-14315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135348" y="2403095"/>
            <a:ext cx="1704332" cy="1692288"/>
          </a:xfrm>
          <a:custGeom>
            <a:avLst/>
            <a:gdLst/>
            <a:ahLst/>
            <a:cxnLst/>
            <a:rect r="r" b="b" t="t" l="l"/>
            <a:pathLst>
              <a:path h="1692288" w="1704332">
                <a:moveTo>
                  <a:pt x="0" y="0"/>
                </a:moveTo>
                <a:lnTo>
                  <a:pt x="1704332" y="0"/>
                </a:lnTo>
                <a:lnTo>
                  <a:pt x="1704332" y="1692289"/>
                </a:lnTo>
                <a:lnTo>
                  <a:pt x="0" y="169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41431" b="-14315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19623" y="4335197"/>
            <a:ext cx="1704332" cy="1692288"/>
          </a:xfrm>
          <a:custGeom>
            <a:avLst/>
            <a:gdLst/>
            <a:ahLst/>
            <a:cxnLst/>
            <a:rect r="r" b="b" t="t" l="l"/>
            <a:pathLst>
              <a:path h="1692288" w="1704332">
                <a:moveTo>
                  <a:pt x="0" y="0"/>
                </a:moveTo>
                <a:lnTo>
                  <a:pt x="1704332" y="0"/>
                </a:lnTo>
                <a:lnTo>
                  <a:pt x="1704332" y="1692288"/>
                </a:lnTo>
                <a:lnTo>
                  <a:pt x="0" y="1692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41431" b="-14315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135348" y="4352041"/>
            <a:ext cx="1704332" cy="1692288"/>
          </a:xfrm>
          <a:custGeom>
            <a:avLst/>
            <a:gdLst/>
            <a:ahLst/>
            <a:cxnLst/>
            <a:rect r="r" b="b" t="t" l="l"/>
            <a:pathLst>
              <a:path h="1692288" w="1704332">
                <a:moveTo>
                  <a:pt x="0" y="0"/>
                </a:moveTo>
                <a:lnTo>
                  <a:pt x="1704332" y="0"/>
                </a:lnTo>
                <a:lnTo>
                  <a:pt x="1704332" y="1692288"/>
                </a:lnTo>
                <a:lnTo>
                  <a:pt x="0" y="1692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41431" b="-14315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19623" y="6284660"/>
            <a:ext cx="1704332" cy="1692288"/>
          </a:xfrm>
          <a:custGeom>
            <a:avLst/>
            <a:gdLst/>
            <a:ahLst/>
            <a:cxnLst/>
            <a:rect r="r" b="b" t="t" l="l"/>
            <a:pathLst>
              <a:path h="1692288" w="1704332">
                <a:moveTo>
                  <a:pt x="0" y="0"/>
                </a:moveTo>
                <a:lnTo>
                  <a:pt x="1704332" y="0"/>
                </a:lnTo>
                <a:lnTo>
                  <a:pt x="1704332" y="1692289"/>
                </a:lnTo>
                <a:lnTo>
                  <a:pt x="0" y="169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41431" b="-14315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135348" y="6301504"/>
            <a:ext cx="1704332" cy="1692288"/>
          </a:xfrm>
          <a:custGeom>
            <a:avLst/>
            <a:gdLst/>
            <a:ahLst/>
            <a:cxnLst/>
            <a:rect r="r" b="b" t="t" l="l"/>
            <a:pathLst>
              <a:path h="1692288" w="1704332">
                <a:moveTo>
                  <a:pt x="0" y="0"/>
                </a:moveTo>
                <a:lnTo>
                  <a:pt x="1704332" y="0"/>
                </a:lnTo>
                <a:lnTo>
                  <a:pt x="1704332" y="1692288"/>
                </a:lnTo>
                <a:lnTo>
                  <a:pt x="0" y="1692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41431" b="-14315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854709" y="39331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289795" y="39331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724880" y="39331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9544655" y="1814159"/>
            <a:ext cx="4839386" cy="820583"/>
            <a:chOff x="0" y="0"/>
            <a:chExt cx="1274571" cy="2161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74571" cy="216121"/>
            </a:xfrm>
            <a:custGeom>
              <a:avLst/>
              <a:gdLst/>
              <a:ahLst/>
              <a:cxnLst/>
              <a:rect r="r" b="b" t="t" l="l"/>
              <a:pathLst>
                <a:path h="216121" w="1274571">
                  <a:moveTo>
                    <a:pt x="30396" y="0"/>
                  </a:moveTo>
                  <a:lnTo>
                    <a:pt x="1244175" y="0"/>
                  </a:lnTo>
                  <a:cubicBezTo>
                    <a:pt x="1252236" y="0"/>
                    <a:pt x="1259968" y="3202"/>
                    <a:pt x="1265668" y="8903"/>
                  </a:cubicBezTo>
                  <a:cubicBezTo>
                    <a:pt x="1271368" y="14603"/>
                    <a:pt x="1274571" y="22334"/>
                    <a:pt x="1274571" y="30396"/>
                  </a:cubicBezTo>
                  <a:lnTo>
                    <a:pt x="1274571" y="185725"/>
                  </a:lnTo>
                  <a:cubicBezTo>
                    <a:pt x="1274571" y="202512"/>
                    <a:pt x="1260962" y="216121"/>
                    <a:pt x="1244175" y="216121"/>
                  </a:cubicBezTo>
                  <a:lnTo>
                    <a:pt x="30396" y="216121"/>
                  </a:lnTo>
                  <a:cubicBezTo>
                    <a:pt x="22334" y="216121"/>
                    <a:pt x="14603" y="212918"/>
                    <a:pt x="8903" y="207218"/>
                  </a:cubicBezTo>
                  <a:cubicBezTo>
                    <a:pt x="3202" y="201518"/>
                    <a:pt x="0" y="193786"/>
                    <a:pt x="0" y="185725"/>
                  </a:cubicBezTo>
                  <a:lnTo>
                    <a:pt x="0" y="30396"/>
                  </a:lnTo>
                  <a:cubicBezTo>
                    <a:pt x="0" y="22334"/>
                    <a:pt x="3202" y="14603"/>
                    <a:pt x="8903" y="8903"/>
                  </a:cubicBezTo>
                  <a:cubicBezTo>
                    <a:pt x="14603" y="3202"/>
                    <a:pt x="22334" y="0"/>
                    <a:pt x="30396" y="0"/>
                  </a:cubicBez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74571" cy="254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2477023" y="2386251"/>
            <a:ext cx="371873" cy="437712"/>
          </a:xfrm>
          <a:custGeom>
            <a:avLst/>
            <a:gdLst/>
            <a:ahLst/>
            <a:cxnLst/>
            <a:rect r="r" b="b" t="t" l="l"/>
            <a:pathLst>
              <a:path h="437712" w="371873">
                <a:moveTo>
                  <a:pt x="0" y="0"/>
                </a:moveTo>
                <a:lnTo>
                  <a:pt x="371873" y="0"/>
                </a:lnTo>
                <a:lnTo>
                  <a:pt x="371873" y="437712"/>
                </a:lnTo>
                <a:lnTo>
                  <a:pt x="0" y="4377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117719" y="3123406"/>
            <a:ext cx="7693257" cy="137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9"/>
              </a:lnSpc>
            </a:pPr>
            <a:r>
              <a:rPr lang="en-US" sz="10299">
                <a:solidFill>
                  <a:srgbClr val="000000"/>
                </a:solidFill>
                <a:latin typeface="Bernoru Condensed"/>
                <a:ea typeface="Bernoru Condensed"/>
                <a:cs typeface="Bernoru Condensed"/>
                <a:sym typeface="Bernoru Condensed"/>
              </a:rPr>
              <a:t>POWER BI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07609" y="5951409"/>
            <a:ext cx="6136423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Transforming Data into Actionable Insights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5" id="25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name="Object 28" id="28"/>
          <p:cNvGraphicFramePr/>
          <p:nvPr/>
        </p:nvGraphicFramePr>
        <p:xfrm>
          <a:off x="2478719" y="2016527"/>
          <a:ext cx="16230600" cy="5679924"/>
        </p:xfrm>
        <a:graphic>
          <a:graphicData uri="http://schemas.openxmlformats.org/presentationml/2006/ole">
            <p:oleObj imgW="19469100" imgH="8915400" r:id="rId1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9" id="29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DATA</a:t>
            </a: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SET DESCRIPTION ..............................................................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18349" y="2012822"/>
            <a:ext cx="5308179" cy="5228557"/>
          </a:xfrm>
          <a:custGeom>
            <a:avLst/>
            <a:gdLst/>
            <a:ahLst/>
            <a:cxnLst/>
            <a:rect r="r" b="b" t="t" l="l"/>
            <a:pathLst>
              <a:path h="5228557" w="5308179">
                <a:moveTo>
                  <a:pt x="0" y="0"/>
                </a:moveTo>
                <a:lnTo>
                  <a:pt x="5308180" y="0"/>
                </a:lnTo>
                <a:lnTo>
                  <a:pt x="5308180" y="5228557"/>
                </a:lnTo>
                <a:lnTo>
                  <a:pt x="0" y="5228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2478719" y="2012822"/>
            <a:ext cx="7693257" cy="6402206"/>
            <a:chOff x="0" y="0"/>
            <a:chExt cx="2026208" cy="16861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26208" cy="1686178"/>
            </a:xfrm>
            <a:custGeom>
              <a:avLst/>
              <a:gdLst/>
              <a:ahLst/>
              <a:cxnLst/>
              <a:rect r="r" b="b" t="t" l="l"/>
              <a:pathLst>
                <a:path h="1686178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646931"/>
                  </a:lnTo>
                  <a:cubicBezTo>
                    <a:pt x="2026208" y="1668606"/>
                    <a:pt x="2008636" y="1686178"/>
                    <a:pt x="1986961" y="1686178"/>
                  </a:cubicBezTo>
                  <a:lnTo>
                    <a:pt x="39247" y="1686178"/>
                  </a:lnTo>
                  <a:cubicBezTo>
                    <a:pt x="17571" y="1686178"/>
                    <a:pt x="0" y="1668606"/>
                    <a:pt x="0" y="1646931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26208" cy="172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5" id="25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DATA CLEANING (Power Query) ..............................................................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3" id="33"/>
          <p:cNvGrpSpPr/>
          <p:nvPr/>
        </p:nvGrpSpPr>
        <p:grpSpPr>
          <a:xfrm rot="0">
            <a:off x="10418349" y="7337611"/>
            <a:ext cx="5308179" cy="1077417"/>
            <a:chOff x="0" y="0"/>
            <a:chExt cx="1398039" cy="2837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98039" cy="283764"/>
            </a:xfrm>
            <a:custGeom>
              <a:avLst/>
              <a:gdLst/>
              <a:ahLst/>
              <a:cxnLst/>
              <a:rect r="r" b="b" t="t" l="l"/>
              <a:pathLst>
                <a:path h="283764" w="1398039">
                  <a:moveTo>
                    <a:pt x="0" y="0"/>
                  </a:moveTo>
                  <a:lnTo>
                    <a:pt x="1398039" y="0"/>
                  </a:lnTo>
                  <a:lnTo>
                    <a:pt x="1398039" y="283764"/>
                  </a:lnTo>
                  <a:lnTo>
                    <a:pt x="0" y="283764"/>
                  </a:lnTo>
                  <a:close/>
                </a:path>
              </a:pathLst>
            </a:custGeom>
            <a:solidFill>
              <a:srgbClr val="8C7B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398039" cy="321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418349" y="7241379"/>
            <a:ext cx="5308179" cy="384854"/>
            <a:chOff x="0" y="0"/>
            <a:chExt cx="1398039" cy="10136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98039" cy="101361"/>
            </a:xfrm>
            <a:custGeom>
              <a:avLst/>
              <a:gdLst/>
              <a:ahLst/>
              <a:cxnLst/>
              <a:rect r="r" b="b" t="t" l="l"/>
              <a:pathLst>
                <a:path h="101361" w="1398039">
                  <a:moveTo>
                    <a:pt x="0" y="0"/>
                  </a:moveTo>
                  <a:lnTo>
                    <a:pt x="1398039" y="0"/>
                  </a:lnTo>
                  <a:lnTo>
                    <a:pt x="1398039" y="101361"/>
                  </a:lnTo>
                  <a:lnTo>
                    <a:pt x="0" y="101361"/>
                  </a:lnTo>
                  <a:close/>
                </a:path>
              </a:pathLst>
            </a:custGeom>
            <a:solidFill>
              <a:srgbClr val="4ADA8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398039" cy="139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832424" y="2940682"/>
            <a:ext cx="7252340" cy="505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0"/>
              </a:lnSpc>
              <a:spcBef>
                <a:spcPct val="0"/>
              </a:spcBef>
            </a:pPr>
            <a:r>
              <a:rPr lang="en-US" sz="2088" strike="noStrike" u="none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Go to Add Column → Custom Column, then create:</a:t>
            </a:r>
          </a:p>
          <a:p>
            <a:pPr algn="l" marL="0" indent="0" lvl="0">
              <a:lnSpc>
                <a:spcPts val="1900"/>
              </a:lnSpc>
              <a:spcBef>
                <a:spcPct val="0"/>
              </a:spcBef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3271249" y="2168880"/>
            <a:ext cx="5720260" cy="72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0"/>
              </a:lnSpc>
              <a:spcBef>
                <a:spcPct val="0"/>
              </a:spcBef>
            </a:pPr>
            <a:r>
              <a:rPr lang="en-US" sz="4214">
                <a:solidFill>
                  <a:srgbClr val="DA9E68"/>
                </a:solidFill>
                <a:latin typeface="Hero Bold"/>
                <a:ea typeface="Hero Bold"/>
                <a:cs typeface="Hero Bold"/>
                <a:sym typeface="Hero Bold"/>
              </a:rPr>
              <a:t>Check Column Types</a:t>
            </a:r>
          </a:p>
        </p:txBody>
      </p:sp>
      <p:grpSp>
        <p:nvGrpSpPr>
          <p:cNvPr name="Group 41" id="41"/>
          <p:cNvGrpSpPr/>
          <p:nvPr/>
        </p:nvGrpSpPr>
        <p:grpSpPr>
          <a:xfrm rot="-5346558">
            <a:off x="3868503" y="2287890"/>
            <a:ext cx="4835384" cy="7037428"/>
            <a:chOff x="0" y="0"/>
            <a:chExt cx="4452573" cy="648028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453843" cy="6481555"/>
            </a:xfrm>
            <a:custGeom>
              <a:avLst/>
              <a:gdLst/>
              <a:ahLst/>
              <a:cxnLst/>
              <a:rect r="r" b="b" t="t" l="l"/>
              <a:pathLst>
                <a:path h="6481555" w="4453843">
                  <a:moveTo>
                    <a:pt x="60960" y="269240"/>
                  </a:moveTo>
                  <a:cubicBezTo>
                    <a:pt x="60960" y="154940"/>
                    <a:pt x="153670" y="62230"/>
                    <a:pt x="267970" y="62230"/>
                  </a:cubicBezTo>
                  <a:lnTo>
                    <a:pt x="607787" y="62230"/>
                  </a:lnTo>
                  <a:lnTo>
                    <a:pt x="607787" y="0"/>
                  </a:lnTo>
                  <a:lnTo>
                    <a:pt x="269240" y="0"/>
                  </a:lnTo>
                  <a:cubicBezTo>
                    <a:pt x="120650" y="0"/>
                    <a:pt x="0" y="120650"/>
                    <a:pt x="0" y="269240"/>
                  </a:cubicBezTo>
                  <a:lnTo>
                    <a:pt x="0" y="581342"/>
                  </a:lnTo>
                  <a:lnTo>
                    <a:pt x="60960" y="581342"/>
                  </a:lnTo>
                  <a:lnTo>
                    <a:pt x="60960" y="269240"/>
                  </a:lnTo>
                  <a:close/>
                  <a:moveTo>
                    <a:pt x="157480" y="387350"/>
                  </a:moveTo>
                  <a:cubicBezTo>
                    <a:pt x="157480" y="260350"/>
                    <a:pt x="260350" y="157480"/>
                    <a:pt x="387350" y="157480"/>
                  </a:cubicBezTo>
                  <a:lnTo>
                    <a:pt x="607787" y="157480"/>
                  </a:lnTo>
                  <a:lnTo>
                    <a:pt x="607787" y="140970"/>
                  </a:lnTo>
                  <a:lnTo>
                    <a:pt x="387350" y="140970"/>
                  </a:lnTo>
                  <a:cubicBezTo>
                    <a:pt x="251460" y="140970"/>
                    <a:pt x="140970" y="251460"/>
                    <a:pt x="140970" y="387350"/>
                  </a:cubicBezTo>
                  <a:lnTo>
                    <a:pt x="140970" y="580055"/>
                  </a:lnTo>
                  <a:lnTo>
                    <a:pt x="157480" y="580055"/>
                  </a:lnTo>
                  <a:lnTo>
                    <a:pt x="157480" y="387350"/>
                  </a:lnTo>
                  <a:close/>
                  <a:moveTo>
                    <a:pt x="0" y="580055"/>
                  </a:moveTo>
                  <a:lnTo>
                    <a:pt x="60960" y="580055"/>
                  </a:lnTo>
                  <a:lnTo>
                    <a:pt x="60960" y="5873225"/>
                  </a:lnTo>
                  <a:lnTo>
                    <a:pt x="0" y="5873225"/>
                  </a:lnTo>
                  <a:lnTo>
                    <a:pt x="0" y="580055"/>
                  </a:lnTo>
                  <a:close/>
                  <a:moveTo>
                    <a:pt x="142240" y="580055"/>
                  </a:moveTo>
                  <a:lnTo>
                    <a:pt x="158750" y="580055"/>
                  </a:lnTo>
                  <a:lnTo>
                    <a:pt x="158750" y="5873225"/>
                  </a:lnTo>
                  <a:lnTo>
                    <a:pt x="142240" y="5873225"/>
                  </a:lnTo>
                  <a:lnTo>
                    <a:pt x="142240" y="580055"/>
                  </a:lnTo>
                  <a:close/>
                  <a:moveTo>
                    <a:pt x="269240" y="6419325"/>
                  </a:moveTo>
                  <a:cubicBezTo>
                    <a:pt x="154940" y="6419325"/>
                    <a:pt x="62230" y="6326615"/>
                    <a:pt x="62230" y="6212315"/>
                  </a:cubicBezTo>
                  <a:lnTo>
                    <a:pt x="62230" y="5873225"/>
                  </a:lnTo>
                  <a:lnTo>
                    <a:pt x="0" y="5873225"/>
                  </a:lnTo>
                  <a:lnTo>
                    <a:pt x="0" y="6212315"/>
                  </a:lnTo>
                  <a:cubicBezTo>
                    <a:pt x="0" y="6360905"/>
                    <a:pt x="120650" y="6481555"/>
                    <a:pt x="269240" y="6481555"/>
                  </a:cubicBezTo>
                  <a:lnTo>
                    <a:pt x="609234" y="6481555"/>
                  </a:lnTo>
                  <a:lnTo>
                    <a:pt x="609234" y="6419325"/>
                  </a:lnTo>
                  <a:lnTo>
                    <a:pt x="269240" y="6419325"/>
                  </a:lnTo>
                  <a:close/>
                  <a:moveTo>
                    <a:pt x="387350" y="6322805"/>
                  </a:moveTo>
                  <a:cubicBezTo>
                    <a:pt x="260350" y="6322805"/>
                    <a:pt x="157480" y="6219935"/>
                    <a:pt x="157480" y="6092935"/>
                  </a:cubicBezTo>
                  <a:lnTo>
                    <a:pt x="157480" y="5873225"/>
                  </a:lnTo>
                  <a:lnTo>
                    <a:pt x="140970" y="5873225"/>
                  </a:lnTo>
                  <a:lnTo>
                    <a:pt x="140970" y="6092935"/>
                  </a:lnTo>
                  <a:cubicBezTo>
                    <a:pt x="140970" y="6228825"/>
                    <a:pt x="251460" y="6339315"/>
                    <a:pt x="387350" y="6339315"/>
                  </a:cubicBezTo>
                  <a:lnTo>
                    <a:pt x="607787" y="6339315"/>
                  </a:lnTo>
                  <a:lnTo>
                    <a:pt x="607787" y="6322805"/>
                  </a:lnTo>
                  <a:lnTo>
                    <a:pt x="387350" y="6322805"/>
                  </a:lnTo>
                  <a:close/>
                  <a:moveTo>
                    <a:pt x="607787" y="6419325"/>
                  </a:moveTo>
                  <a:lnTo>
                    <a:pt x="3709871" y="6419325"/>
                  </a:lnTo>
                  <a:lnTo>
                    <a:pt x="3709871" y="6480285"/>
                  </a:lnTo>
                  <a:lnTo>
                    <a:pt x="607787" y="6480285"/>
                  </a:lnTo>
                  <a:lnTo>
                    <a:pt x="607787" y="6419325"/>
                  </a:lnTo>
                  <a:close/>
                  <a:moveTo>
                    <a:pt x="607787" y="6322805"/>
                  </a:moveTo>
                  <a:lnTo>
                    <a:pt x="3709871" y="6322805"/>
                  </a:lnTo>
                  <a:lnTo>
                    <a:pt x="3709871" y="6339315"/>
                  </a:lnTo>
                  <a:lnTo>
                    <a:pt x="607787" y="6339315"/>
                  </a:lnTo>
                  <a:lnTo>
                    <a:pt x="607787" y="6322805"/>
                  </a:lnTo>
                  <a:close/>
                  <a:moveTo>
                    <a:pt x="4391613" y="5873225"/>
                  </a:moveTo>
                  <a:lnTo>
                    <a:pt x="4391613" y="6212315"/>
                  </a:lnTo>
                  <a:cubicBezTo>
                    <a:pt x="4391613" y="6326615"/>
                    <a:pt x="4298903" y="6419325"/>
                    <a:pt x="4184603" y="6419325"/>
                  </a:cubicBezTo>
                  <a:lnTo>
                    <a:pt x="3709871" y="6419325"/>
                  </a:lnTo>
                  <a:lnTo>
                    <a:pt x="3709871" y="6480285"/>
                  </a:lnTo>
                  <a:lnTo>
                    <a:pt x="4184603" y="6480285"/>
                  </a:lnTo>
                  <a:cubicBezTo>
                    <a:pt x="4333193" y="6480285"/>
                    <a:pt x="4453843" y="6359635"/>
                    <a:pt x="4453843" y="6211045"/>
                  </a:cubicBezTo>
                  <a:lnTo>
                    <a:pt x="4453843" y="5873225"/>
                  </a:lnTo>
                  <a:lnTo>
                    <a:pt x="4391613" y="5873225"/>
                  </a:lnTo>
                  <a:close/>
                  <a:moveTo>
                    <a:pt x="4295093" y="6092935"/>
                  </a:moveTo>
                  <a:cubicBezTo>
                    <a:pt x="4295093" y="6219935"/>
                    <a:pt x="4192223" y="6322805"/>
                    <a:pt x="4065223" y="6322805"/>
                  </a:cubicBezTo>
                  <a:lnTo>
                    <a:pt x="3709871" y="6322805"/>
                  </a:lnTo>
                  <a:lnTo>
                    <a:pt x="3709871" y="6339315"/>
                  </a:lnTo>
                  <a:lnTo>
                    <a:pt x="4065223" y="6339315"/>
                  </a:lnTo>
                  <a:cubicBezTo>
                    <a:pt x="4201113" y="6339315"/>
                    <a:pt x="4311603" y="6228825"/>
                    <a:pt x="4311603" y="6092935"/>
                  </a:cubicBezTo>
                  <a:lnTo>
                    <a:pt x="4311603" y="5873225"/>
                  </a:lnTo>
                  <a:lnTo>
                    <a:pt x="4295093" y="5873225"/>
                  </a:lnTo>
                  <a:lnTo>
                    <a:pt x="4295093" y="6092935"/>
                  </a:lnTo>
                  <a:close/>
                  <a:moveTo>
                    <a:pt x="4391613" y="580055"/>
                  </a:moveTo>
                  <a:lnTo>
                    <a:pt x="4452573" y="580055"/>
                  </a:lnTo>
                  <a:lnTo>
                    <a:pt x="4452573" y="5873225"/>
                  </a:lnTo>
                  <a:lnTo>
                    <a:pt x="4391613" y="5873225"/>
                  </a:lnTo>
                  <a:lnTo>
                    <a:pt x="4391613" y="580055"/>
                  </a:lnTo>
                  <a:close/>
                  <a:moveTo>
                    <a:pt x="4295093" y="580055"/>
                  </a:moveTo>
                  <a:lnTo>
                    <a:pt x="4311603" y="580055"/>
                  </a:lnTo>
                  <a:lnTo>
                    <a:pt x="4311603" y="5873225"/>
                  </a:lnTo>
                  <a:lnTo>
                    <a:pt x="4295093" y="5873225"/>
                  </a:lnTo>
                  <a:lnTo>
                    <a:pt x="4295093" y="580055"/>
                  </a:lnTo>
                  <a:close/>
                  <a:moveTo>
                    <a:pt x="4184603" y="60960"/>
                  </a:moveTo>
                  <a:cubicBezTo>
                    <a:pt x="4298903" y="60960"/>
                    <a:pt x="4391613" y="153670"/>
                    <a:pt x="4391613" y="267970"/>
                  </a:cubicBezTo>
                  <a:lnTo>
                    <a:pt x="4391613" y="580055"/>
                  </a:lnTo>
                  <a:lnTo>
                    <a:pt x="4452573" y="580055"/>
                  </a:lnTo>
                  <a:lnTo>
                    <a:pt x="4452573" y="269240"/>
                  </a:lnTo>
                  <a:cubicBezTo>
                    <a:pt x="4452573" y="120650"/>
                    <a:pt x="4331923" y="0"/>
                    <a:pt x="4183333" y="0"/>
                  </a:cubicBezTo>
                  <a:lnTo>
                    <a:pt x="3708425" y="0"/>
                  </a:lnTo>
                  <a:lnTo>
                    <a:pt x="3708425" y="60960"/>
                  </a:lnTo>
                  <a:lnTo>
                    <a:pt x="4184603" y="60960"/>
                  </a:lnTo>
                  <a:close/>
                  <a:moveTo>
                    <a:pt x="4065223" y="142240"/>
                  </a:moveTo>
                  <a:lnTo>
                    <a:pt x="3709871" y="142240"/>
                  </a:lnTo>
                  <a:lnTo>
                    <a:pt x="3709871" y="158750"/>
                  </a:lnTo>
                  <a:lnTo>
                    <a:pt x="4065223" y="158750"/>
                  </a:lnTo>
                  <a:cubicBezTo>
                    <a:pt x="4192223" y="158750"/>
                    <a:pt x="4295093" y="261620"/>
                    <a:pt x="4295093" y="388620"/>
                  </a:cubicBezTo>
                  <a:lnTo>
                    <a:pt x="4295093" y="581342"/>
                  </a:lnTo>
                  <a:lnTo>
                    <a:pt x="4311603" y="581342"/>
                  </a:lnTo>
                  <a:lnTo>
                    <a:pt x="4311603" y="387350"/>
                  </a:lnTo>
                  <a:cubicBezTo>
                    <a:pt x="4311603" y="251460"/>
                    <a:pt x="4201113" y="142240"/>
                    <a:pt x="4065224" y="142240"/>
                  </a:cubicBezTo>
                  <a:close/>
                  <a:moveTo>
                    <a:pt x="607787" y="0"/>
                  </a:moveTo>
                  <a:lnTo>
                    <a:pt x="3709871" y="0"/>
                  </a:lnTo>
                  <a:lnTo>
                    <a:pt x="3709871" y="60960"/>
                  </a:lnTo>
                  <a:lnTo>
                    <a:pt x="607787" y="60960"/>
                  </a:lnTo>
                  <a:lnTo>
                    <a:pt x="607787" y="0"/>
                  </a:lnTo>
                  <a:close/>
                  <a:moveTo>
                    <a:pt x="607787" y="142240"/>
                  </a:moveTo>
                  <a:lnTo>
                    <a:pt x="3709871" y="142240"/>
                  </a:lnTo>
                  <a:lnTo>
                    <a:pt x="3709871" y="158750"/>
                  </a:lnTo>
                  <a:lnTo>
                    <a:pt x="607787" y="158750"/>
                  </a:lnTo>
                  <a:lnTo>
                    <a:pt x="607787" y="1422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aphicFrame>
        <p:nvGraphicFramePr>
          <p:cNvPr name="Object 43" id="43"/>
          <p:cNvGraphicFramePr/>
          <p:nvPr/>
        </p:nvGraphicFramePr>
        <p:xfrm>
          <a:off x="3114108" y="3732084"/>
          <a:ext cx="9794081" cy="2828925"/>
        </p:xfrm>
        <a:graphic>
          <a:graphicData uri="http://schemas.openxmlformats.org/presentationml/2006/ole">
            <p:oleObj imgW="11747500" imgH="4787900" r:id="rId1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3537667"/>
            <a:ext cx="7693257" cy="3154383"/>
            <a:chOff x="0" y="0"/>
            <a:chExt cx="2026208" cy="830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830784"/>
            </a:xfrm>
            <a:custGeom>
              <a:avLst/>
              <a:gdLst/>
              <a:ahLst/>
              <a:cxnLst/>
              <a:rect r="r" b="b" t="t" l="l"/>
              <a:pathLst>
                <a:path h="830784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791537"/>
                  </a:lnTo>
                  <a:cubicBezTo>
                    <a:pt x="2026208" y="813213"/>
                    <a:pt x="2008636" y="830784"/>
                    <a:pt x="1986961" y="830784"/>
                  </a:cubicBezTo>
                  <a:lnTo>
                    <a:pt x="39247" y="830784"/>
                  </a:lnTo>
                  <a:cubicBezTo>
                    <a:pt x="17571" y="830784"/>
                    <a:pt x="0" y="813213"/>
                    <a:pt x="0" y="791537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868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0721678" y="2271554"/>
            <a:ext cx="4409444" cy="4420496"/>
          </a:xfrm>
          <a:custGeom>
            <a:avLst/>
            <a:gdLst/>
            <a:ahLst/>
            <a:cxnLst/>
            <a:rect r="r" b="b" t="t" l="l"/>
            <a:pathLst>
              <a:path h="4420496" w="4409444">
                <a:moveTo>
                  <a:pt x="0" y="0"/>
                </a:moveTo>
                <a:lnTo>
                  <a:pt x="4409444" y="0"/>
                </a:lnTo>
                <a:lnTo>
                  <a:pt x="4409444" y="4420496"/>
                </a:lnTo>
                <a:lnTo>
                  <a:pt x="0" y="44204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2478719" y="7073050"/>
            <a:ext cx="7898887" cy="1262532"/>
            <a:chOff x="0" y="0"/>
            <a:chExt cx="1975850" cy="3158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75850" cy="315813"/>
            </a:xfrm>
            <a:custGeom>
              <a:avLst/>
              <a:gdLst/>
              <a:ahLst/>
              <a:cxnLst/>
              <a:rect r="r" b="b" t="t" l="l"/>
              <a:pathLst>
                <a:path h="315813" w="1975850">
                  <a:moveTo>
                    <a:pt x="0" y="0"/>
                  </a:moveTo>
                  <a:lnTo>
                    <a:pt x="1975850" y="0"/>
                  </a:lnTo>
                  <a:lnTo>
                    <a:pt x="1975850" y="315813"/>
                  </a:lnTo>
                  <a:lnTo>
                    <a:pt x="0" y="315813"/>
                  </a:lnTo>
                  <a:close/>
                </a:path>
              </a:pathLst>
            </a:custGeom>
            <a:solidFill>
              <a:srgbClr val="8C7B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975850" cy="353913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639061" y="7223482"/>
            <a:ext cx="6189690" cy="961667"/>
            <a:chOff x="0" y="0"/>
            <a:chExt cx="1548306" cy="2405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48306" cy="240554"/>
            </a:xfrm>
            <a:custGeom>
              <a:avLst/>
              <a:gdLst/>
              <a:ahLst/>
              <a:cxnLst/>
              <a:rect r="r" b="b" t="t" l="l"/>
              <a:pathLst>
                <a:path h="240554" w="1548306">
                  <a:moveTo>
                    <a:pt x="0" y="0"/>
                  </a:moveTo>
                  <a:lnTo>
                    <a:pt x="1548306" y="0"/>
                  </a:lnTo>
                  <a:lnTo>
                    <a:pt x="1548306" y="240554"/>
                  </a:lnTo>
                  <a:lnTo>
                    <a:pt x="0" y="24055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548306" cy="278654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581577" y="7223482"/>
            <a:ext cx="961667" cy="961667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2764784" y="7419534"/>
            <a:ext cx="578971" cy="569563"/>
          </a:xfrm>
          <a:custGeom>
            <a:avLst/>
            <a:gdLst/>
            <a:ahLst/>
            <a:cxnLst/>
            <a:rect r="r" b="b" t="t" l="l"/>
            <a:pathLst>
              <a:path h="569563" w="578971">
                <a:moveTo>
                  <a:pt x="0" y="0"/>
                </a:moveTo>
                <a:lnTo>
                  <a:pt x="578971" y="0"/>
                </a:lnTo>
                <a:lnTo>
                  <a:pt x="578971" y="569563"/>
                </a:lnTo>
                <a:lnTo>
                  <a:pt x="0" y="5695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DATA CLEANING (Power Query) ..............................................................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576410" y="1894532"/>
            <a:ext cx="5720260" cy="72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0"/>
              </a:lnSpc>
              <a:spcBef>
                <a:spcPct val="0"/>
              </a:spcBef>
            </a:pPr>
            <a:r>
              <a:rPr lang="en-US" sz="4214">
                <a:solidFill>
                  <a:srgbClr val="DA9E68"/>
                </a:solidFill>
                <a:latin typeface="Hero Bold"/>
                <a:ea typeface="Hero Bold"/>
                <a:cs typeface="Hero Bold"/>
                <a:sym typeface="Hero Bold"/>
              </a:rPr>
              <a:t>Add Custom Columns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65749" y="4666584"/>
            <a:ext cx="7117729" cy="156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6"/>
              </a:lnSpc>
            </a:pPr>
            <a:r>
              <a:rPr lang="en-US" sz="1409" b="true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if [Faculty Count] &lt;&gt; null and [Faculty Count] &lt;&gt; 0</a:t>
            </a:r>
          </a:p>
          <a:p>
            <a:pPr algn="just">
              <a:lnSpc>
                <a:spcPts val="3466"/>
              </a:lnSpc>
            </a:pPr>
            <a:r>
              <a:rPr lang="en-US" sz="1409" b="true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then Number.Round([Total Enrollment] / [Faculty Count], 2)</a:t>
            </a:r>
          </a:p>
          <a:p>
            <a:pPr algn="just">
              <a:lnSpc>
                <a:spcPts val="3466"/>
              </a:lnSpc>
            </a:pPr>
            <a:r>
              <a:rPr lang="en-US" sz="1409" b="true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else null</a:t>
            </a:r>
          </a:p>
          <a:p>
            <a:pPr algn="l">
              <a:lnSpc>
                <a:spcPts val="1282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2746699" y="3943727"/>
            <a:ext cx="4903220" cy="43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b="true" sz="250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(a) Student–Teacher Ratio (STR)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576410" y="2828259"/>
            <a:ext cx="7252340" cy="505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0"/>
              </a:lnSpc>
              <a:spcBef>
                <a:spcPct val="0"/>
              </a:spcBef>
            </a:pPr>
            <a:r>
              <a:rPr lang="en-US" sz="2088" strike="noStrike" u="none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Go to Add Column → Custom Column, then create:</a:t>
            </a:r>
          </a:p>
          <a:p>
            <a:pPr algn="l" marL="0" indent="0" lvl="0">
              <a:lnSpc>
                <a:spcPts val="1900"/>
              </a:lnSpc>
              <a:spcBef>
                <a:spcPct val="0"/>
              </a:spcBef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3917844" y="7568350"/>
            <a:ext cx="570039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Shows number of students per teacher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3537667"/>
            <a:ext cx="7693257" cy="3154383"/>
            <a:chOff x="0" y="0"/>
            <a:chExt cx="2026208" cy="830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830784"/>
            </a:xfrm>
            <a:custGeom>
              <a:avLst/>
              <a:gdLst/>
              <a:ahLst/>
              <a:cxnLst/>
              <a:rect r="r" b="b" t="t" l="l"/>
              <a:pathLst>
                <a:path h="830784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791537"/>
                  </a:lnTo>
                  <a:cubicBezTo>
                    <a:pt x="2026208" y="813213"/>
                    <a:pt x="2008636" y="830784"/>
                    <a:pt x="1986961" y="830784"/>
                  </a:cubicBezTo>
                  <a:lnTo>
                    <a:pt x="39247" y="830784"/>
                  </a:lnTo>
                  <a:cubicBezTo>
                    <a:pt x="17571" y="830784"/>
                    <a:pt x="0" y="813213"/>
                    <a:pt x="0" y="791537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868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0721678" y="2271554"/>
            <a:ext cx="4409444" cy="4420496"/>
          </a:xfrm>
          <a:custGeom>
            <a:avLst/>
            <a:gdLst/>
            <a:ahLst/>
            <a:cxnLst/>
            <a:rect r="r" b="b" t="t" l="l"/>
            <a:pathLst>
              <a:path h="4420496" w="4409444">
                <a:moveTo>
                  <a:pt x="0" y="0"/>
                </a:moveTo>
                <a:lnTo>
                  <a:pt x="4409444" y="0"/>
                </a:lnTo>
                <a:lnTo>
                  <a:pt x="4409444" y="4420496"/>
                </a:lnTo>
                <a:lnTo>
                  <a:pt x="0" y="44204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2478719" y="7073050"/>
            <a:ext cx="7898887" cy="1262532"/>
            <a:chOff x="0" y="0"/>
            <a:chExt cx="1975850" cy="3158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75850" cy="315813"/>
            </a:xfrm>
            <a:custGeom>
              <a:avLst/>
              <a:gdLst/>
              <a:ahLst/>
              <a:cxnLst/>
              <a:rect r="r" b="b" t="t" l="l"/>
              <a:pathLst>
                <a:path h="315813" w="1975850">
                  <a:moveTo>
                    <a:pt x="0" y="0"/>
                  </a:moveTo>
                  <a:lnTo>
                    <a:pt x="1975850" y="0"/>
                  </a:lnTo>
                  <a:lnTo>
                    <a:pt x="1975850" y="315813"/>
                  </a:lnTo>
                  <a:lnTo>
                    <a:pt x="0" y="315813"/>
                  </a:lnTo>
                  <a:close/>
                </a:path>
              </a:pathLst>
            </a:custGeom>
            <a:solidFill>
              <a:srgbClr val="8C7B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975850" cy="353913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639061" y="7223482"/>
            <a:ext cx="6189690" cy="961667"/>
            <a:chOff x="0" y="0"/>
            <a:chExt cx="1548306" cy="2405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48306" cy="240554"/>
            </a:xfrm>
            <a:custGeom>
              <a:avLst/>
              <a:gdLst/>
              <a:ahLst/>
              <a:cxnLst/>
              <a:rect r="r" b="b" t="t" l="l"/>
              <a:pathLst>
                <a:path h="240554" w="1548306">
                  <a:moveTo>
                    <a:pt x="0" y="0"/>
                  </a:moveTo>
                  <a:lnTo>
                    <a:pt x="1548306" y="0"/>
                  </a:lnTo>
                  <a:lnTo>
                    <a:pt x="1548306" y="240554"/>
                  </a:lnTo>
                  <a:lnTo>
                    <a:pt x="0" y="24055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548306" cy="278654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581577" y="7223482"/>
            <a:ext cx="961667" cy="961667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2764784" y="7419534"/>
            <a:ext cx="578971" cy="569563"/>
          </a:xfrm>
          <a:custGeom>
            <a:avLst/>
            <a:gdLst/>
            <a:ahLst/>
            <a:cxnLst/>
            <a:rect r="r" b="b" t="t" l="l"/>
            <a:pathLst>
              <a:path h="569563" w="578971">
                <a:moveTo>
                  <a:pt x="0" y="0"/>
                </a:moveTo>
                <a:lnTo>
                  <a:pt x="578971" y="0"/>
                </a:lnTo>
                <a:lnTo>
                  <a:pt x="578971" y="569563"/>
                </a:lnTo>
                <a:lnTo>
                  <a:pt x="0" y="5695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DATA CLEANING (Power Query) ..............................................................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576410" y="1894532"/>
            <a:ext cx="5720260" cy="72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0"/>
              </a:lnSpc>
              <a:spcBef>
                <a:spcPct val="0"/>
              </a:spcBef>
            </a:pPr>
            <a:r>
              <a:rPr lang="en-US" sz="4214">
                <a:solidFill>
                  <a:srgbClr val="DA9E68"/>
                </a:solidFill>
                <a:latin typeface="Hero Bold"/>
                <a:ea typeface="Hero Bold"/>
                <a:cs typeface="Hero Bold"/>
                <a:sym typeface="Hero Bold"/>
              </a:rPr>
              <a:t>Add Custom Columns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65749" y="4666584"/>
            <a:ext cx="7117729" cy="156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6"/>
              </a:lnSpc>
            </a:pPr>
            <a:r>
              <a:rPr lang="en-US" sz="1409" b="true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if [Male] &lt;&gt; null and [Male] &lt;&gt; 0</a:t>
            </a:r>
          </a:p>
          <a:p>
            <a:pPr algn="just">
              <a:lnSpc>
                <a:spcPts val="3466"/>
              </a:lnSpc>
            </a:pPr>
            <a:r>
              <a:rPr lang="en-US" sz="1409" b="true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then Number.Round([Female] / [Male], 3)</a:t>
            </a:r>
          </a:p>
          <a:p>
            <a:pPr algn="just">
              <a:lnSpc>
                <a:spcPts val="3466"/>
              </a:lnSpc>
            </a:pPr>
            <a:r>
              <a:rPr lang="en-US" sz="1409" b="true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else null</a:t>
            </a:r>
          </a:p>
          <a:p>
            <a:pPr algn="l">
              <a:lnSpc>
                <a:spcPts val="1282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2764784" y="3924677"/>
            <a:ext cx="4443027" cy="43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b="true" sz="250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(b) Gender Parity Index (GPI)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576410" y="2828259"/>
            <a:ext cx="7252340" cy="505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0"/>
              </a:lnSpc>
              <a:spcBef>
                <a:spcPct val="0"/>
              </a:spcBef>
            </a:pPr>
            <a:r>
              <a:rPr lang="en-US" sz="2088" strike="noStrike" u="none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Go to Add Column → Custom Column, then create:</a:t>
            </a:r>
          </a:p>
          <a:p>
            <a:pPr algn="l" marL="0" indent="0" lvl="0">
              <a:lnSpc>
                <a:spcPts val="1900"/>
              </a:lnSpc>
              <a:spcBef>
                <a:spcPct val="0"/>
              </a:spcBef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3917844" y="7568350"/>
            <a:ext cx="570039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Eq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ual female &amp; male enrollment.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3537667"/>
            <a:ext cx="7693257" cy="3465328"/>
            <a:chOff x="0" y="0"/>
            <a:chExt cx="2026208" cy="9126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912679"/>
            </a:xfrm>
            <a:custGeom>
              <a:avLst/>
              <a:gdLst/>
              <a:ahLst/>
              <a:cxnLst/>
              <a:rect r="r" b="b" t="t" l="l"/>
              <a:pathLst>
                <a:path h="912679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873432"/>
                  </a:lnTo>
                  <a:cubicBezTo>
                    <a:pt x="2026208" y="895108"/>
                    <a:pt x="2008636" y="912679"/>
                    <a:pt x="1986961" y="912679"/>
                  </a:cubicBezTo>
                  <a:lnTo>
                    <a:pt x="39247" y="912679"/>
                  </a:lnTo>
                  <a:cubicBezTo>
                    <a:pt x="17571" y="912679"/>
                    <a:pt x="0" y="895108"/>
                    <a:pt x="0" y="873432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950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0721678" y="2271554"/>
            <a:ext cx="4409444" cy="4420496"/>
          </a:xfrm>
          <a:custGeom>
            <a:avLst/>
            <a:gdLst/>
            <a:ahLst/>
            <a:cxnLst/>
            <a:rect r="r" b="b" t="t" l="l"/>
            <a:pathLst>
              <a:path h="4420496" w="4409444">
                <a:moveTo>
                  <a:pt x="0" y="0"/>
                </a:moveTo>
                <a:lnTo>
                  <a:pt x="4409444" y="0"/>
                </a:lnTo>
                <a:lnTo>
                  <a:pt x="4409444" y="4420496"/>
                </a:lnTo>
                <a:lnTo>
                  <a:pt x="0" y="44204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2478719" y="7231595"/>
            <a:ext cx="7898887" cy="1262532"/>
            <a:chOff x="0" y="0"/>
            <a:chExt cx="1975850" cy="3158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75850" cy="315813"/>
            </a:xfrm>
            <a:custGeom>
              <a:avLst/>
              <a:gdLst/>
              <a:ahLst/>
              <a:cxnLst/>
              <a:rect r="r" b="b" t="t" l="l"/>
              <a:pathLst>
                <a:path h="315813" w="1975850">
                  <a:moveTo>
                    <a:pt x="0" y="0"/>
                  </a:moveTo>
                  <a:lnTo>
                    <a:pt x="1975850" y="0"/>
                  </a:lnTo>
                  <a:lnTo>
                    <a:pt x="1975850" y="315813"/>
                  </a:lnTo>
                  <a:lnTo>
                    <a:pt x="0" y="315813"/>
                  </a:lnTo>
                  <a:close/>
                </a:path>
              </a:pathLst>
            </a:custGeom>
            <a:solidFill>
              <a:srgbClr val="8C7B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975850" cy="353913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639061" y="7382027"/>
            <a:ext cx="6189690" cy="961667"/>
            <a:chOff x="0" y="0"/>
            <a:chExt cx="1548306" cy="2405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48306" cy="240554"/>
            </a:xfrm>
            <a:custGeom>
              <a:avLst/>
              <a:gdLst/>
              <a:ahLst/>
              <a:cxnLst/>
              <a:rect r="r" b="b" t="t" l="l"/>
              <a:pathLst>
                <a:path h="240554" w="1548306">
                  <a:moveTo>
                    <a:pt x="0" y="0"/>
                  </a:moveTo>
                  <a:lnTo>
                    <a:pt x="1548306" y="0"/>
                  </a:lnTo>
                  <a:lnTo>
                    <a:pt x="1548306" y="240554"/>
                  </a:lnTo>
                  <a:lnTo>
                    <a:pt x="0" y="24055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548306" cy="278654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581577" y="7382027"/>
            <a:ext cx="961667" cy="961667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2764784" y="7578079"/>
            <a:ext cx="578971" cy="569563"/>
          </a:xfrm>
          <a:custGeom>
            <a:avLst/>
            <a:gdLst/>
            <a:ahLst/>
            <a:cxnLst/>
            <a:rect r="r" b="b" t="t" l="l"/>
            <a:pathLst>
              <a:path h="569563" w="578971">
                <a:moveTo>
                  <a:pt x="0" y="0"/>
                </a:moveTo>
                <a:lnTo>
                  <a:pt x="578971" y="0"/>
                </a:lnTo>
                <a:lnTo>
                  <a:pt x="578971" y="569563"/>
                </a:lnTo>
                <a:lnTo>
                  <a:pt x="0" y="5695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DATA CLEANING (Power Query) ..............................................................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576410" y="1894532"/>
            <a:ext cx="5720260" cy="72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0"/>
              </a:lnSpc>
              <a:spcBef>
                <a:spcPct val="0"/>
              </a:spcBef>
            </a:pPr>
            <a:r>
              <a:rPr lang="en-US" sz="4214">
                <a:solidFill>
                  <a:srgbClr val="DA9E68"/>
                </a:solidFill>
                <a:latin typeface="Hero Bold"/>
                <a:ea typeface="Hero Bold"/>
                <a:cs typeface="Hero Bold"/>
                <a:sym typeface="Hero Bold"/>
              </a:rPr>
              <a:t>Add Custom Columns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93359" y="4173047"/>
            <a:ext cx="7117729" cy="2875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6"/>
              </a:lnSpc>
            </a:pPr>
            <a:r>
              <a:rPr lang="en-US" sz="1409" b="true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if Text.Contains([Institution Name], "University") then "A+"</a:t>
            </a:r>
          </a:p>
          <a:p>
            <a:pPr algn="just">
              <a:lnSpc>
                <a:spcPts val="3466"/>
              </a:lnSpc>
            </a:pPr>
            <a:r>
              <a:rPr lang="en-US" sz="1409" b="true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else if Text.Contains([Institution Name], "Government") then "A"</a:t>
            </a:r>
          </a:p>
          <a:p>
            <a:pPr algn="just">
              <a:lnSpc>
                <a:spcPts val="3466"/>
              </a:lnSpc>
            </a:pPr>
            <a:r>
              <a:rPr lang="en-US" sz="1409" b="true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else if Text.Contains([Institution Name], "Engineering") then "B++"</a:t>
            </a:r>
          </a:p>
          <a:p>
            <a:pPr algn="just">
              <a:lnSpc>
                <a:spcPts val="3466"/>
              </a:lnSpc>
            </a:pPr>
            <a:r>
              <a:rPr lang="en-US" sz="1409" b="true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else if Text.Contains([Institution Name], "College") then "B+"</a:t>
            </a:r>
          </a:p>
          <a:p>
            <a:pPr algn="just">
              <a:lnSpc>
                <a:spcPts val="3466"/>
              </a:lnSpc>
            </a:pPr>
            <a:r>
              <a:rPr lang="en-US" sz="1409" b="true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else "Not Accredited"</a:t>
            </a:r>
          </a:p>
          <a:p>
            <a:pPr algn="l">
              <a:lnSpc>
                <a:spcPts val="1282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2764784" y="3648126"/>
            <a:ext cx="5474330" cy="43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b="true" sz="250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(c) Dummy NAAC Status (for demo)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576410" y="2828259"/>
            <a:ext cx="7252340" cy="505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0"/>
              </a:lnSpc>
              <a:spcBef>
                <a:spcPct val="0"/>
              </a:spcBef>
            </a:pPr>
            <a:r>
              <a:rPr lang="en-US" sz="2088" strike="noStrike" u="none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Go to Add Column → Custom Column, then create:</a:t>
            </a:r>
          </a:p>
          <a:p>
            <a:pPr algn="l" marL="0" indent="0" lvl="0">
              <a:lnSpc>
                <a:spcPts val="1900"/>
              </a:lnSpc>
              <a:spcBef>
                <a:spcPct val="0"/>
              </a:spcBef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3917844" y="7726895"/>
            <a:ext cx="570039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Adds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illustrative NAAC grades for visualization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7023" y="2012822"/>
            <a:ext cx="13333954" cy="6402206"/>
            <a:chOff x="0" y="0"/>
            <a:chExt cx="3511823" cy="1686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11823" cy="1686178"/>
            </a:xfrm>
            <a:custGeom>
              <a:avLst/>
              <a:gdLst/>
              <a:ahLst/>
              <a:cxnLst/>
              <a:rect r="r" b="b" t="t" l="l"/>
              <a:pathLst>
                <a:path h="1686178" w="3511823">
                  <a:moveTo>
                    <a:pt x="22644" y="0"/>
                  </a:moveTo>
                  <a:lnTo>
                    <a:pt x="3489179" y="0"/>
                  </a:lnTo>
                  <a:cubicBezTo>
                    <a:pt x="3501685" y="0"/>
                    <a:pt x="3511823" y="10138"/>
                    <a:pt x="3511823" y="22644"/>
                  </a:cubicBezTo>
                  <a:lnTo>
                    <a:pt x="3511823" y="1663534"/>
                  </a:lnTo>
                  <a:cubicBezTo>
                    <a:pt x="3511823" y="1676040"/>
                    <a:pt x="3501685" y="1686178"/>
                    <a:pt x="3489179" y="1686178"/>
                  </a:cubicBezTo>
                  <a:lnTo>
                    <a:pt x="22644" y="1686178"/>
                  </a:lnTo>
                  <a:cubicBezTo>
                    <a:pt x="10138" y="1686178"/>
                    <a:pt x="0" y="1676040"/>
                    <a:pt x="0" y="1663534"/>
                  </a:cubicBezTo>
                  <a:lnTo>
                    <a:pt x="0" y="22644"/>
                  </a:lnTo>
                  <a:cubicBezTo>
                    <a:pt x="0" y="10138"/>
                    <a:pt x="10138" y="0"/>
                    <a:pt x="2264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511823" cy="172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CREATE MEASURES (DAX) ..............................................................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2" id="32"/>
          <p:cNvSpPr/>
          <p:nvPr/>
        </p:nvSpPr>
        <p:spPr>
          <a:xfrm>
            <a:off x="2849183" y="3040149"/>
            <a:ext cx="0" cy="4254597"/>
          </a:xfrm>
          <a:prstGeom prst="line">
            <a:avLst/>
          </a:prstGeom>
          <a:ln cap="rnd" w="38100">
            <a:solidFill>
              <a:srgbClr val="D6D6E1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3650996" y="2414843"/>
            <a:ext cx="944656" cy="809892"/>
          </a:xfrm>
          <a:custGeom>
            <a:avLst/>
            <a:gdLst/>
            <a:ahLst/>
            <a:cxnLst/>
            <a:rect r="r" b="b" t="t" l="l"/>
            <a:pathLst>
              <a:path h="809892" w="944656">
                <a:moveTo>
                  <a:pt x="0" y="0"/>
                </a:moveTo>
                <a:lnTo>
                  <a:pt x="944656" y="0"/>
                </a:lnTo>
                <a:lnTo>
                  <a:pt x="944656" y="809892"/>
                </a:lnTo>
                <a:lnTo>
                  <a:pt x="0" y="8098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-336861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5039972" y="2414843"/>
            <a:ext cx="3482089" cy="809892"/>
            <a:chOff x="0" y="0"/>
            <a:chExt cx="966020" cy="22468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66020" cy="224685"/>
            </a:xfrm>
            <a:custGeom>
              <a:avLst/>
              <a:gdLst/>
              <a:ahLst/>
              <a:cxnLst/>
              <a:rect r="r" b="b" t="t" l="l"/>
              <a:pathLst>
                <a:path h="224685" w="966020">
                  <a:moveTo>
                    <a:pt x="26680" y="0"/>
                  </a:moveTo>
                  <a:lnTo>
                    <a:pt x="939340" y="0"/>
                  </a:lnTo>
                  <a:cubicBezTo>
                    <a:pt x="946416" y="0"/>
                    <a:pt x="953202" y="2811"/>
                    <a:pt x="958206" y="7814"/>
                  </a:cubicBezTo>
                  <a:cubicBezTo>
                    <a:pt x="963209" y="12818"/>
                    <a:pt x="966020" y="19604"/>
                    <a:pt x="966020" y="26680"/>
                  </a:cubicBezTo>
                  <a:lnTo>
                    <a:pt x="966020" y="198004"/>
                  </a:lnTo>
                  <a:cubicBezTo>
                    <a:pt x="966020" y="205080"/>
                    <a:pt x="963209" y="211867"/>
                    <a:pt x="958206" y="216870"/>
                  </a:cubicBezTo>
                  <a:cubicBezTo>
                    <a:pt x="953202" y="221874"/>
                    <a:pt x="946416" y="224685"/>
                    <a:pt x="939340" y="224685"/>
                  </a:cubicBezTo>
                  <a:lnTo>
                    <a:pt x="26680" y="224685"/>
                  </a:lnTo>
                  <a:cubicBezTo>
                    <a:pt x="19604" y="224685"/>
                    <a:pt x="12818" y="221874"/>
                    <a:pt x="7814" y="216870"/>
                  </a:cubicBezTo>
                  <a:cubicBezTo>
                    <a:pt x="2811" y="211867"/>
                    <a:pt x="0" y="205080"/>
                    <a:pt x="0" y="198004"/>
                  </a:cubicBezTo>
                  <a:lnTo>
                    <a:pt x="0" y="26680"/>
                  </a:lnTo>
                  <a:cubicBezTo>
                    <a:pt x="0" y="19604"/>
                    <a:pt x="2811" y="12818"/>
                    <a:pt x="7814" y="7814"/>
                  </a:cubicBezTo>
                  <a:cubicBezTo>
                    <a:pt x="12818" y="2811"/>
                    <a:pt x="19604" y="0"/>
                    <a:pt x="26680" y="0"/>
                  </a:cubicBezTo>
                  <a:close/>
                </a:path>
              </a:pathLst>
            </a:custGeom>
            <a:solidFill>
              <a:srgbClr val="2F5F98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66020" cy="272310"/>
            </a:xfrm>
            <a:prstGeom prst="rect">
              <a:avLst/>
            </a:prstGeom>
          </p:spPr>
          <p:txBody>
            <a:bodyPr anchor="ctr" rtlCol="false" tIns="48227" lIns="48227" bIns="48227" rIns="48227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sp>
        <p:nvSpPr>
          <p:cNvPr name="AutoShape 37" id="37"/>
          <p:cNvSpPr/>
          <p:nvPr/>
        </p:nvSpPr>
        <p:spPr>
          <a:xfrm flipV="true">
            <a:off x="4595652" y="2837874"/>
            <a:ext cx="323773" cy="0"/>
          </a:xfrm>
          <a:prstGeom prst="line">
            <a:avLst/>
          </a:prstGeom>
          <a:ln cap="rnd" w="38100">
            <a:solidFill>
              <a:srgbClr val="D6D6E1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3650996" y="3588672"/>
            <a:ext cx="944656" cy="809892"/>
          </a:xfrm>
          <a:custGeom>
            <a:avLst/>
            <a:gdLst/>
            <a:ahLst/>
            <a:cxnLst/>
            <a:rect r="r" b="b" t="t" l="l"/>
            <a:pathLst>
              <a:path h="809892" w="944656">
                <a:moveTo>
                  <a:pt x="0" y="0"/>
                </a:moveTo>
                <a:lnTo>
                  <a:pt x="944656" y="0"/>
                </a:lnTo>
                <a:lnTo>
                  <a:pt x="944656" y="809892"/>
                </a:lnTo>
                <a:lnTo>
                  <a:pt x="0" y="8098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-336861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5039972" y="3588672"/>
            <a:ext cx="3482089" cy="809892"/>
            <a:chOff x="0" y="0"/>
            <a:chExt cx="966020" cy="22468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66020" cy="224685"/>
            </a:xfrm>
            <a:custGeom>
              <a:avLst/>
              <a:gdLst/>
              <a:ahLst/>
              <a:cxnLst/>
              <a:rect r="r" b="b" t="t" l="l"/>
              <a:pathLst>
                <a:path h="224685" w="966020">
                  <a:moveTo>
                    <a:pt x="26680" y="0"/>
                  </a:moveTo>
                  <a:lnTo>
                    <a:pt x="939340" y="0"/>
                  </a:lnTo>
                  <a:cubicBezTo>
                    <a:pt x="946416" y="0"/>
                    <a:pt x="953202" y="2811"/>
                    <a:pt x="958206" y="7814"/>
                  </a:cubicBezTo>
                  <a:cubicBezTo>
                    <a:pt x="963209" y="12818"/>
                    <a:pt x="966020" y="19604"/>
                    <a:pt x="966020" y="26680"/>
                  </a:cubicBezTo>
                  <a:lnTo>
                    <a:pt x="966020" y="198004"/>
                  </a:lnTo>
                  <a:cubicBezTo>
                    <a:pt x="966020" y="205080"/>
                    <a:pt x="963209" y="211867"/>
                    <a:pt x="958206" y="216870"/>
                  </a:cubicBezTo>
                  <a:cubicBezTo>
                    <a:pt x="953202" y="221874"/>
                    <a:pt x="946416" y="224685"/>
                    <a:pt x="939340" y="224685"/>
                  </a:cubicBezTo>
                  <a:lnTo>
                    <a:pt x="26680" y="224685"/>
                  </a:lnTo>
                  <a:cubicBezTo>
                    <a:pt x="19604" y="224685"/>
                    <a:pt x="12818" y="221874"/>
                    <a:pt x="7814" y="216870"/>
                  </a:cubicBezTo>
                  <a:cubicBezTo>
                    <a:pt x="2811" y="211867"/>
                    <a:pt x="0" y="205080"/>
                    <a:pt x="0" y="198004"/>
                  </a:cubicBezTo>
                  <a:lnTo>
                    <a:pt x="0" y="26680"/>
                  </a:lnTo>
                  <a:cubicBezTo>
                    <a:pt x="0" y="19604"/>
                    <a:pt x="2811" y="12818"/>
                    <a:pt x="7814" y="7814"/>
                  </a:cubicBezTo>
                  <a:cubicBezTo>
                    <a:pt x="12818" y="2811"/>
                    <a:pt x="19604" y="0"/>
                    <a:pt x="26680" y="0"/>
                  </a:cubicBezTo>
                  <a:close/>
                </a:path>
              </a:pathLst>
            </a:custGeom>
            <a:solidFill>
              <a:srgbClr val="9CC147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966020" cy="272310"/>
            </a:xfrm>
            <a:prstGeom prst="rect">
              <a:avLst/>
            </a:prstGeom>
          </p:spPr>
          <p:txBody>
            <a:bodyPr anchor="ctr" rtlCol="false" tIns="48227" lIns="48227" bIns="48227" rIns="48227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sp>
        <p:nvSpPr>
          <p:cNvPr name="AutoShape 42" id="42"/>
          <p:cNvSpPr/>
          <p:nvPr/>
        </p:nvSpPr>
        <p:spPr>
          <a:xfrm flipV="true">
            <a:off x="4595652" y="4011703"/>
            <a:ext cx="323773" cy="0"/>
          </a:xfrm>
          <a:prstGeom prst="line">
            <a:avLst/>
          </a:prstGeom>
          <a:ln cap="rnd" w="38100">
            <a:solidFill>
              <a:srgbClr val="D6D6E1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43" id="43"/>
          <p:cNvSpPr/>
          <p:nvPr/>
        </p:nvSpPr>
        <p:spPr>
          <a:xfrm flipH="false" flipV="false" rot="0">
            <a:off x="3650996" y="4762502"/>
            <a:ext cx="944656" cy="809892"/>
          </a:xfrm>
          <a:custGeom>
            <a:avLst/>
            <a:gdLst/>
            <a:ahLst/>
            <a:cxnLst/>
            <a:rect r="r" b="b" t="t" l="l"/>
            <a:pathLst>
              <a:path h="809892" w="944656">
                <a:moveTo>
                  <a:pt x="0" y="0"/>
                </a:moveTo>
                <a:lnTo>
                  <a:pt x="944656" y="0"/>
                </a:lnTo>
                <a:lnTo>
                  <a:pt x="944656" y="809892"/>
                </a:lnTo>
                <a:lnTo>
                  <a:pt x="0" y="80989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-336861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5039972" y="4762502"/>
            <a:ext cx="3482089" cy="809892"/>
            <a:chOff x="0" y="0"/>
            <a:chExt cx="966020" cy="22468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66020" cy="224685"/>
            </a:xfrm>
            <a:custGeom>
              <a:avLst/>
              <a:gdLst/>
              <a:ahLst/>
              <a:cxnLst/>
              <a:rect r="r" b="b" t="t" l="l"/>
              <a:pathLst>
                <a:path h="224685" w="966020">
                  <a:moveTo>
                    <a:pt x="26680" y="0"/>
                  </a:moveTo>
                  <a:lnTo>
                    <a:pt x="939340" y="0"/>
                  </a:lnTo>
                  <a:cubicBezTo>
                    <a:pt x="946416" y="0"/>
                    <a:pt x="953202" y="2811"/>
                    <a:pt x="958206" y="7814"/>
                  </a:cubicBezTo>
                  <a:cubicBezTo>
                    <a:pt x="963209" y="12818"/>
                    <a:pt x="966020" y="19604"/>
                    <a:pt x="966020" y="26680"/>
                  </a:cubicBezTo>
                  <a:lnTo>
                    <a:pt x="966020" y="198004"/>
                  </a:lnTo>
                  <a:cubicBezTo>
                    <a:pt x="966020" y="205080"/>
                    <a:pt x="963209" y="211867"/>
                    <a:pt x="958206" y="216870"/>
                  </a:cubicBezTo>
                  <a:cubicBezTo>
                    <a:pt x="953202" y="221874"/>
                    <a:pt x="946416" y="224685"/>
                    <a:pt x="939340" y="224685"/>
                  </a:cubicBezTo>
                  <a:lnTo>
                    <a:pt x="26680" y="224685"/>
                  </a:lnTo>
                  <a:cubicBezTo>
                    <a:pt x="19604" y="224685"/>
                    <a:pt x="12818" y="221874"/>
                    <a:pt x="7814" y="216870"/>
                  </a:cubicBezTo>
                  <a:cubicBezTo>
                    <a:pt x="2811" y="211867"/>
                    <a:pt x="0" y="205080"/>
                    <a:pt x="0" y="198004"/>
                  </a:cubicBezTo>
                  <a:lnTo>
                    <a:pt x="0" y="26680"/>
                  </a:lnTo>
                  <a:cubicBezTo>
                    <a:pt x="0" y="19604"/>
                    <a:pt x="2811" y="12818"/>
                    <a:pt x="7814" y="7814"/>
                  </a:cubicBezTo>
                  <a:cubicBezTo>
                    <a:pt x="12818" y="2811"/>
                    <a:pt x="19604" y="0"/>
                    <a:pt x="26680" y="0"/>
                  </a:cubicBezTo>
                  <a:close/>
                </a:path>
              </a:pathLst>
            </a:custGeom>
            <a:solidFill>
              <a:srgbClr val="DA9E68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66020" cy="272310"/>
            </a:xfrm>
            <a:prstGeom prst="rect">
              <a:avLst/>
            </a:prstGeom>
          </p:spPr>
          <p:txBody>
            <a:bodyPr anchor="ctr" rtlCol="false" tIns="48227" lIns="48227" bIns="48227" rIns="48227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sp>
        <p:nvSpPr>
          <p:cNvPr name="AutoShape 47" id="47"/>
          <p:cNvSpPr/>
          <p:nvPr/>
        </p:nvSpPr>
        <p:spPr>
          <a:xfrm flipV="true">
            <a:off x="4595652" y="5185533"/>
            <a:ext cx="323773" cy="0"/>
          </a:xfrm>
          <a:prstGeom prst="line">
            <a:avLst/>
          </a:prstGeom>
          <a:ln cap="rnd" w="38100">
            <a:solidFill>
              <a:srgbClr val="D6D6E1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48" id="48"/>
          <p:cNvSpPr/>
          <p:nvPr/>
        </p:nvSpPr>
        <p:spPr>
          <a:xfrm flipH="false" flipV="false" rot="0">
            <a:off x="3650996" y="5936331"/>
            <a:ext cx="944656" cy="809892"/>
          </a:xfrm>
          <a:custGeom>
            <a:avLst/>
            <a:gdLst/>
            <a:ahLst/>
            <a:cxnLst/>
            <a:rect r="r" b="b" t="t" l="l"/>
            <a:pathLst>
              <a:path h="809892" w="944656">
                <a:moveTo>
                  <a:pt x="0" y="0"/>
                </a:moveTo>
                <a:lnTo>
                  <a:pt x="944656" y="0"/>
                </a:lnTo>
                <a:lnTo>
                  <a:pt x="944656" y="809892"/>
                </a:lnTo>
                <a:lnTo>
                  <a:pt x="0" y="80989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-336861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5039972" y="5936331"/>
            <a:ext cx="3482089" cy="809892"/>
            <a:chOff x="0" y="0"/>
            <a:chExt cx="966020" cy="22468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66020" cy="224685"/>
            </a:xfrm>
            <a:custGeom>
              <a:avLst/>
              <a:gdLst/>
              <a:ahLst/>
              <a:cxnLst/>
              <a:rect r="r" b="b" t="t" l="l"/>
              <a:pathLst>
                <a:path h="224685" w="966020">
                  <a:moveTo>
                    <a:pt x="26680" y="0"/>
                  </a:moveTo>
                  <a:lnTo>
                    <a:pt x="939340" y="0"/>
                  </a:lnTo>
                  <a:cubicBezTo>
                    <a:pt x="946416" y="0"/>
                    <a:pt x="953202" y="2811"/>
                    <a:pt x="958206" y="7814"/>
                  </a:cubicBezTo>
                  <a:cubicBezTo>
                    <a:pt x="963209" y="12818"/>
                    <a:pt x="966020" y="19604"/>
                    <a:pt x="966020" y="26680"/>
                  </a:cubicBezTo>
                  <a:lnTo>
                    <a:pt x="966020" y="198004"/>
                  </a:lnTo>
                  <a:cubicBezTo>
                    <a:pt x="966020" y="205080"/>
                    <a:pt x="963209" y="211867"/>
                    <a:pt x="958206" y="216870"/>
                  </a:cubicBezTo>
                  <a:cubicBezTo>
                    <a:pt x="953202" y="221874"/>
                    <a:pt x="946416" y="224685"/>
                    <a:pt x="939340" y="224685"/>
                  </a:cubicBezTo>
                  <a:lnTo>
                    <a:pt x="26680" y="224685"/>
                  </a:lnTo>
                  <a:cubicBezTo>
                    <a:pt x="19604" y="224685"/>
                    <a:pt x="12818" y="221874"/>
                    <a:pt x="7814" y="216870"/>
                  </a:cubicBezTo>
                  <a:cubicBezTo>
                    <a:pt x="2811" y="211867"/>
                    <a:pt x="0" y="205080"/>
                    <a:pt x="0" y="198004"/>
                  </a:cubicBezTo>
                  <a:lnTo>
                    <a:pt x="0" y="26680"/>
                  </a:lnTo>
                  <a:cubicBezTo>
                    <a:pt x="0" y="19604"/>
                    <a:pt x="2811" y="12818"/>
                    <a:pt x="7814" y="7814"/>
                  </a:cubicBezTo>
                  <a:cubicBezTo>
                    <a:pt x="12818" y="2811"/>
                    <a:pt x="19604" y="0"/>
                    <a:pt x="26680" y="0"/>
                  </a:cubicBezTo>
                  <a:close/>
                </a:path>
              </a:pathLst>
            </a:custGeom>
            <a:solidFill>
              <a:srgbClr val="CCC31B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966020" cy="272310"/>
            </a:xfrm>
            <a:prstGeom prst="rect">
              <a:avLst/>
            </a:prstGeom>
          </p:spPr>
          <p:txBody>
            <a:bodyPr anchor="ctr" rtlCol="false" tIns="48227" lIns="48227" bIns="48227" rIns="48227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sp>
        <p:nvSpPr>
          <p:cNvPr name="AutoShape 52" id="52"/>
          <p:cNvSpPr/>
          <p:nvPr/>
        </p:nvSpPr>
        <p:spPr>
          <a:xfrm flipV="true">
            <a:off x="4595652" y="6359362"/>
            <a:ext cx="323773" cy="0"/>
          </a:xfrm>
          <a:prstGeom prst="line">
            <a:avLst/>
          </a:prstGeom>
          <a:ln cap="rnd" w="38100">
            <a:solidFill>
              <a:srgbClr val="D6D6E1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3650996" y="7110161"/>
            <a:ext cx="944656" cy="809892"/>
          </a:xfrm>
          <a:custGeom>
            <a:avLst/>
            <a:gdLst/>
            <a:ahLst/>
            <a:cxnLst/>
            <a:rect r="r" b="b" t="t" l="l"/>
            <a:pathLst>
              <a:path h="809892" w="944656">
                <a:moveTo>
                  <a:pt x="0" y="0"/>
                </a:moveTo>
                <a:lnTo>
                  <a:pt x="944656" y="0"/>
                </a:lnTo>
                <a:lnTo>
                  <a:pt x="944656" y="809892"/>
                </a:lnTo>
                <a:lnTo>
                  <a:pt x="0" y="80989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-336861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5039972" y="7110161"/>
            <a:ext cx="3482089" cy="809892"/>
            <a:chOff x="0" y="0"/>
            <a:chExt cx="966020" cy="22468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66020" cy="224685"/>
            </a:xfrm>
            <a:custGeom>
              <a:avLst/>
              <a:gdLst/>
              <a:ahLst/>
              <a:cxnLst/>
              <a:rect r="r" b="b" t="t" l="l"/>
              <a:pathLst>
                <a:path h="224685" w="966020">
                  <a:moveTo>
                    <a:pt x="26680" y="0"/>
                  </a:moveTo>
                  <a:lnTo>
                    <a:pt x="939340" y="0"/>
                  </a:lnTo>
                  <a:cubicBezTo>
                    <a:pt x="946416" y="0"/>
                    <a:pt x="953202" y="2811"/>
                    <a:pt x="958206" y="7814"/>
                  </a:cubicBezTo>
                  <a:cubicBezTo>
                    <a:pt x="963209" y="12818"/>
                    <a:pt x="966020" y="19604"/>
                    <a:pt x="966020" y="26680"/>
                  </a:cubicBezTo>
                  <a:lnTo>
                    <a:pt x="966020" y="198004"/>
                  </a:lnTo>
                  <a:cubicBezTo>
                    <a:pt x="966020" y="205080"/>
                    <a:pt x="963209" y="211867"/>
                    <a:pt x="958206" y="216870"/>
                  </a:cubicBezTo>
                  <a:cubicBezTo>
                    <a:pt x="953202" y="221874"/>
                    <a:pt x="946416" y="224685"/>
                    <a:pt x="939340" y="224685"/>
                  </a:cubicBezTo>
                  <a:lnTo>
                    <a:pt x="26680" y="224685"/>
                  </a:lnTo>
                  <a:cubicBezTo>
                    <a:pt x="19604" y="224685"/>
                    <a:pt x="12818" y="221874"/>
                    <a:pt x="7814" y="216870"/>
                  </a:cubicBezTo>
                  <a:cubicBezTo>
                    <a:pt x="2811" y="211867"/>
                    <a:pt x="0" y="205080"/>
                    <a:pt x="0" y="198004"/>
                  </a:cubicBezTo>
                  <a:lnTo>
                    <a:pt x="0" y="26680"/>
                  </a:lnTo>
                  <a:cubicBezTo>
                    <a:pt x="0" y="19604"/>
                    <a:pt x="2811" y="12818"/>
                    <a:pt x="7814" y="7814"/>
                  </a:cubicBezTo>
                  <a:cubicBezTo>
                    <a:pt x="12818" y="2811"/>
                    <a:pt x="19604" y="0"/>
                    <a:pt x="26680" y="0"/>
                  </a:cubicBezTo>
                  <a:close/>
                </a:path>
              </a:pathLst>
            </a:custGeom>
            <a:solidFill>
              <a:srgbClr val="44A796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966020" cy="272310"/>
            </a:xfrm>
            <a:prstGeom prst="rect">
              <a:avLst/>
            </a:prstGeom>
          </p:spPr>
          <p:txBody>
            <a:bodyPr anchor="ctr" rtlCol="false" tIns="48227" lIns="48227" bIns="48227" rIns="48227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sp>
        <p:nvSpPr>
          <p:cNvPr name="AutoShape 57" id="57"/>
          <p:cNvSpPr/>
          <p:nvPr/>
        </p:nvSpPr>
        <p:spPr>
          <a:xfrm flipV="true">
            <a:off x="4595652" y="7533192"/>
            <a:ext cx="323773" cy="0"/>
          </a:xfrm>
          <a:prstGeom prst="line">
            <a:avLst/>
          </a:prstGeom>
          <a:ln cap="rnd" w="38100">
            <a:solidFill>
              <a:srgbClr val="D6D6E1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58" id="58"/>
          <p:cNvGrpSpPr/>
          <p:nvPr/>
        </p:nvGrpSpPr>
        <p:grpSpPr>
          <a:xfrm rot="0">
            <a:off x="2628822" y="2599428"/>
            <a:ext cx="440721" cy="440721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3F5"/>
            </a:solidFill>
            <a:ln w="19050" cap="sq">
              <a:solidFill>
                <a:srgbClr val="D6D6E1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8227" lIns="48227" bIns="48227" rIns="48227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743951" y="2714557"/>
            <a:ext cx="210463" cy="210463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5F98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8227" lIns="48227" bIns="48227" rIns="48227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628822" y="3773258"/>
            <a:ext cx="440721" cy="440721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3F5"/>
            </a:solidFill>
            <a:ln w="19050" cap="sq">
              <a:solidFill>
                <a:srgbClr val="D6D6E1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8227" lIns="48227" bIns="48227" rIns="48227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743951" y="3888387"/>
            <a:ext cx="210463" cy="210463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CC147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8227" lIns="48227" bIns="48227" rIns="48227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2628822" y="4947087"/>
            <a:ext cx="440721" cy="440721"/>
            <a:chOff x="0" y="0"/>
            <a:chExt cx="812800" cy="812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3F5"/>
            </a:solidFill>
            <a:ln w="19050" cap="sq">
              <a:solidFill>
                <a:srgbClr val="D6D6E1"/>
              </a:solidFill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8227" lIns="48227" bIns="48227" rIns="48227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2743951" y="5062216"/>
            <a:ext cx="210463" cy="210463"/>
            <a:chOff x="0" y="0"/>
            <a:chExt cx="812800" cy="812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9E68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8227" lIns="48227" bIns="48227" rIns="48227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2628822" y="6120917"/>
            <a:ext cx="440721" cy="440721"/>
            <a:chOff x="0" y="0"/>
            <a:chExt cx="812800" cy="8128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3F5"/>
            </a:solidFill>
            <a:ln w="19050" cap="sq">
              <a:solidFill>
                <a:srgbClr val="D6D6E1"/>
              </a:solidFill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8227" lIns="48227" bIns="48227" rIns="48227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2743951" y="6236046"/>
            <a:ext cx="210463" cy="210463"/>
            <a:chOff x="0" y="0"/>
            <a:chExt cx="812800" cy="812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C31B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8227" lIns="48227" bIns="48227" rIns="48227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2628822" y="7294746"/>
            <a:ext cx="440721" cy="440721"/>
            <a:chOff x="0" y="0"/>
            <a:chExt cx="812800" cy="8128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3F5"/>
            </a:solidFill>
            <a:ln w="19050" cap="sq">
              <a:solidFill>
                <a:srgbClr val="D6D6E1"/>
              </a:solidFill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8227" lIns="48227" bIns="48227" rIns="48227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2743951" y="7409875"/>
            <a:ext cx="210463" cy="210463"/>
            <a:chOff x="0" y="0"/>
            <a:chExt cx="812800" cy="8128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4A796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8227" lIns="48227" bIns="48227" rIns="48227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sp>
        <p:nvSpPr>
          <p:cNvPr name="Freeform 88" id="88"/>
          <p:cNvSpPr/>
          <p:nvPr/>
        </p:nvSpPr>
        <p:spPr>
          <a:xfrm flipH="false" flipV="false" rot="0">
            <a:off x="5335322" y="2614863"/>
            <a:ext cx="409851" cy="409851"/>
          </a:xfrm>
          <a:custGeom>
            <a:avLst/>
            <a:gdLst/>
            <a:ahLst/>
            <a:cxnLst/>
            <a:rect r="r" b="b" t="t" l="l"/>
            <a:pathLst>
              <a:path h="409851" w="409851">
                <a:moveTo>
                  <a:pt x="0" y="0"/>
                </a:moveTo>
                <a:lnTo>
                  <a:pt x="409851" y="0"/>
                </a:lnTo>
                <a:lnTo>
                  <a:pt x="409851" y="409851"/>
                </a:lnTo>
                <a:lnTo>
                  <a:pt x="0" y="40985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5330115" y="3784012"/>
            <a:ext cx="420264" cy="419213"/>
          </a:xfrm>
          <a:custGeom>
            <a:avLst/>
            <a:gdLst/>
            <a:ahLst/>
            <a:cxnLst/>
            <a:rect r="r" b="b" t="t" l="l"/>
            <a:pathLst>
              <a:path h="419213" w="420264">
                <a:moveTo>
                  <a:pt x="0" y="0"/>
                </a:moveTo>
                <a:lnTo>
                  <a:pt x="420264" y="0"/>
                </a:lnTo>
                <a:lnTo>
                  <a:pt x="420264" y="419213"/>
                </a:lnTo>
                <a:lnTo>
                  <a:pt x="0" y="41921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5314727" y="7289021"/>
            <a:ext cx="451040" cy="452171"/>
          </a:xfrm>
          <a:custGeom>
            <a:avLst/>
            <a:gdLst/>
            <a:ahLst/>
            <a:cxnLst/>
            <a:rect r="r" b="b" t="t" l="l"/>
            <a:pathLst>
              <a:path h="452171" w="451040">
                <a:moveTo>
                  <a:pt x="0" y="0"/>
                </a:moveTo>
                <a:lnTo>
                  <a:pt x="451040" y="0"/>
                </a:lnTo>
                <a:lnTo>
                  <a:pt x="451040" y="452171"/>
                </a:lnTo>
                <a:lnTo>
                  <a:pt x="0" y="452171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5330993" y="6123890"/>
            <a:ext cx="434774" cy="434774"/>
          </a:xfrm>
          <a:custGeom>
            <a:avLst/>
            <a:gdLst/>
            <a:ahLst/>
            <a:cxnLst/>
            <a:rect r="r" b="b" t="t" l="l"/>
            <a:pathLst>
              <a:path h="434774" w="434774">
                <a:moveTo>
                  <a:pt x="0" y="0"/>
                </a:moveTo>
                <a:lnTo>
                  <a:pt x="434774" y="0"/>
                </a:lnTo>
                <a:lnTo>
                  <a:pt x="434774" y="434774"/>
                </a:lnTo>
                <a:lnTo>
                  <a:pt x="0" y="434774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5324948" y="4972786"/>
            <a:ext cx="389324" cy="389324"/>
          </a:xfrm>
          <a:custGeom>
            <a:avLst/>
            <a:gdLst/>
            <a:ahLst/>
            <a:cxnLst/>
            <a:rect r="r" b="b" t="t" l="l"/>
            <a:pathLst>
              <a:path h="389324" w="389324">
                <a:moveTo>
                  <a:pt x="0" y="0"/>
                </a:moveTo>
                <a:lnTo>
                  <a:pt x="389323" y="0"/>
                </a:lnTo>
                <a:lnTo>
                  <a:pt x="389323" y="389324"/>
                </a:lnTo>
                <a:lnTo>
                  <a:pt x="0" y="389324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3" id="93"/>
          <p:cNvSpPr txBox="true"/>
          <p:nvPr/>
        </p:nvSpPr>
        <p:spPr>
          <a:xfrm rot="0">
            <a:off x="6119794" y="2663698"/>
            <a:ext cx="2402267" cy="28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2"/>
              </a:lnSpc>
            </a:pPr>
            <a:r>
              <a:rPr lang="en-US" b="true" sz="1708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Tot</a:t>
            </a:r>
            <a:r>
              <a:rPr lang="en-US" b="true" sz="1708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al Students</a:t>
            </a:r>
          </a:p>
        </p:txBody>
      </p:sp>
      <p:sp>
        <p:nvSpPr>
          <p:cNvPr name="Freeform 94" id="94"/>
          <p:cNvSpPr/>
          <p:nvPr/>
        </p:nvSpPr>
        <p:spPr>
          <a:xfrm flipH="false" flipV="false" rot="5400000">
            <a:off x="8834666" y="2688552"/>
            <a:ext cx="313976" cy="262474"/>
          </a:xfrm>
          <a:custGeom>
            <a:avLst/>
            <a:gdLst/>
            <a:ahLst/>
            <a:cxnLst/>
            <a:rect r="r" b="b" t="t" l="l"/>
            <a:pathLst>
              <a:path h="262474" w="313976">
                <a:moveTo>
                  <a:pt x="0" y="0"/>
                </a:moveTo>
                <a:lnTo>
                  <a:pt x="313975" y="0"/>
                </a:lnTo>
                <a:lnTo>
                  <a:pt x="313975" y="262474"/>
                </a:lnTo>
                <a:lnTo>
                  <a:pt x="0" y="26247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-43387" t="0" r="-45348" b="-125769"/>
            </a:stretch>
          </a:blipFill>
        </p:spPr>
      </p:sp>
      <p:sp>
        <p:nvSpPr>
          <p:cNvPr name="TextBox 95" id="95"/>
          <p:cNvSpPr txBox="true"/>
          <p:nvPr/>
        </p:nvSpPr>
        <p:spPr>
          <a:xfrm rot="0">
            <a:off x="9538849" y="2654173"/>
            <a:ext cx="6045354" cy="324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8">
                <a:solidFill>
                  <a:srgbClr val="231815"/>
                </a:solidFill>
                <a:latin typeface="Proxima Nova"/>
                <a:ea typeface="Proxima Nova"/>
                <a:cs typeface="Proxima Nova"/>
                <a:sym typeface="Proxima Nova"/>
              </a:rPr>
              <a:t>SUM('page1'[Total Enrollment])</a:t>
            </a:r>
          </a:p>
        </p:txBody>
      </p:sp>
      <p:sp>
        <p:nvSpPr>
          <p:cNvPr name="Freeform 96" id="96"/>
          <p:cNvSpPr/>
          <p:nvPr/>
        </p:nvSpPr>
        <p:spPr>
          <a:xfrm flipH="false" flipV="false" rot="5400000">
            <a:off x="8834666" y="3862381"/>
            <a:ext cx="313976" cy="262474"/>
          </a:xfrm>
          <a:custGeom>
            <a:avLst/>
            <a:gdLst/>
            <a:ahLst/>
            <a:cxnLst/>
            <a:rect r="r" b="b" t="t" l="l"/>
            <a:pathLst>
              <a:path h="262474" w="313976">
                <a:moveTo>
                  <a:pt x="0" y="0"/>
                </a:moveTo>
                <a:lnTo>
                  <a:pt x="313975" y="0"/>
                </a:lnTo>
                <a:lnTo>
                  <a:pt x="313975" y="262474"/>
                </a:lnTo>
                <a:lnTo>
                  <a:pt x="0" y="26247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-43387" t="0" r="-45348" b="-125769"/>
            </a:stretch>
          </a:blipFill>
        </p:spPr>
      </p:sp>
      <p:sp>
        <p:nvSpPr>
          <p:cNvPr name="TextBox 97" id="97"/>
          <p:cNvSpPr txBox="true"/>
          <p:nvPr/>
        </p:nvSpPr>
        <p:spPr>
          <a:xfrm rot="0">
            <a:off x="9565977" y="3839145"/>
            <a:ext cx="5985492" cy="324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SUM('page1'[Faculty Count])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6119794" y="3837527"/>
            <a:ext cx="2402267" cy="28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2"/>
              </a:lnSpc>
            </a:pPr>
            <a:r>
              <a:rPr lang="en-US" b="true" sz="1708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</a:t>
            </a:r>
            <a:r>
              <a:rPr lang="en-US" b="true" sz="1708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otal Faculty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6119794" y="5011357"/>
            <a:ext cx="2402267" cy="28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2"/>
              </a:lnSpc>
            </a:pPr>
            <a:r>
              <a:rPr lang="en-US" b="true" sz="1708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Total Institutions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3712800" y="2561306"/>
            <a:ext cx="665831" cy="45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</a:pPr>
            <a:r>
              <a:rPr lang="en-US" b="true" sz="2658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01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3712800" y="3735136"/>
            <a:ext cx="665831" cy="45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</a:pPr>
            <a:r>
              <a:rPr lang="en-US" b="true" sz="2658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3712800" y="4908965"/>
            <a:ext cx="665831" cy="45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</a:pPr>
            <a:r>
              <a:rPr lang="en-US" b="true" sz="2658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03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3712800" y="6082795"/>
            <a:ext cx="665831" cy="45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</a:pPr>
            <a:r>
              <a:rPr lang="en-US" b="true" sz="2658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04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3712800" y="7256624"/>
            <a:ext cx="665831" cy="45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</a:pPr>
            <a:r>
              <a:rPr lang="en-US" b="true" sz="2658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05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6161631" y="6185186"/>
            <a:ext cx="2402267" cy="28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2"/>
              </a:lnSpc>
            </a:pPr>
            <a:r>
              <a:rPr lang="en-US" b="true" sz="1708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Average STR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6119794" y="7359016"/>
            <a:ext cx="2402267" cy="28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2"/>
              </a:lnSpc>
            </a:pPr>
            <a:r>
              <a:rPr lang="en-US" b="true" sz="1708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Overall GPI</a:t>
            </a:r>
          </a:p>
        </p:txBody>
      </p:sp>
      <p:sp>
        <p:nvSpPr>
          <p:cNvPr name="Freeform 107" id="107"/>
          <p:cNvSpPr/>
          <p:nvPr/>
        </p:nvSpPr>
        <p:spPr>
          <a:xfrm flipH="false" flipV="false" rot="5400000">
            <a:off x="8834666" y="5036211"/>
            <a:ext cx="313976" cy="262474"/>
          </a:xfrm>
          <a:custGeom>
            <a:avLst/>
            <a:gdLst/>
            <a:ahLst/>
            <a:cxnLst/>
            <a:rect r="r" b="b" t="t" l="l"/>
            <a:pathLst>
              <a:path h="262474" w="313976">
                <a:moveTo>
                  <a:pt x="0" y="0"/>
                </a:moveTo>
                <a:lnTo>
                  <a:pt x="313975" y="0"/>
                </a:lnTo>
                <a:lnTo>
                  <a:pt x="313975" y="262474"/>
                </a:lnTo>
                <a:lnTo>
                  <a:pt x="0" y="26247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-43387" t="0" r="-45348" b="-125769"/>
            </a:stretch>
          </a:blipFill>
        </p:spPr>
      </p:sp>
      <p:sp>
        <p:nvSpPr>
          <p:cNvPr name="TextBox 108" id="108"/>
          <p:cNvSpPr txBox="true"/>
          <p:nvPr/>
        </p:nvSpPr>
        <p:spPr>
          <a:xfrm rot="0">
            <a:off x="9538849" y="5015074"/>
            <a:ext cx="5985492" cy="324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DISTINCTCOUNT('page1'[Institution Name])</a:t>
            </a:r>
          </a:p>
        </p:txBody>
      </p:sp>
      <p:sp>
        <p:nvSpPr>
          <p:cNvPr name="Freeform 109" id="109"/>
          <p:cNvSpPr/>
          <p:nvPr/>
        </p:nvSpPr>
        <p:spPr>
          <a:xfrm flipH="false" flipV="false" rot="5400000">
            <a:off x="8834666" y="6210040"/>
            <a:ext cx="313976" cy="262474"/>
          </a:xfrm>
          <a:custGeom>
            <a:avLst/>
            <a:gdLst/>
            <a:ahLst/>
            <a:cxnLst/>
            <a:rect r="r" b="b" t="t" l="l"/>
            <a:pathLst>
              <a:path h="262474" w="313976">
                <a:moveTo>
                  <a:pt x="0" y="0"/>
                </a:moveTo>
                <a:lnTo>
                  <a:pt x="313975" y="0"/>
                </a:lnTo>
                <a:lnTo>
                  <a:pt x="313975" y="262474"/>
                </a:lnTo>
                <a:lnTo>
                  <a:pt x="0" y="26247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-43387" t="0" r="-45348" b="-125769"/>
            </a:stretch>
          </a:blipFill>
        </p:spPr>
      </p:sp>
      <p:sp>
        <p:nvSpPr>
          <p:cNvPr name="TextBox 110" id="110"/>
          <p:cNvSpPr txBox="true"/>
          <p:nvPr/>
        </p:nvSpPr>
        <p:spPr>
          <a:xfrm rot="0">
            <a:off x="9598712" y="6144313"/>
            <a:ext cx="5985492" cy="324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DIVIDE([Total Students], [Total Faculty], BLANK())</a:t>
            </a:r>
          </a:p>
        </p:txBody>
      </p:sp>
      <p:sp>
        <p:nvSpPr>
          <p:cNvPr name="Freeform 111" id="111"/>
          <p:cNvSpPr/>
          <p:nvPr/>
        </p:nvSpPr>
        <p:spPr>
          <a:xfrm flipH="false" flipV="false" rot="5400000">
            <a:off x="8834666" y="7383870"/>
            <a:ext cx="313976" cy="262474"/>
          </a:xfrm>
          <a:custGeom>
            <a:avLst/>
            <a:gdLst/>
            <a:ahLst/>
            <a:cxnLst/>
            <a:rect r="r" b="b" t="t" l="l"/>
            <a:pathLst>
              <a:path h="262474" w="313976">
                <a:moveTo>
                  <a:pt x="0" y="0"/>
                </a:moveTo>
                <a:lnTo>
                  <a:pt x="313975" y="0"/>
                </a:lnTo>
                <a:lnTo>
                  <a:pt x="313975" y="262474"/>
                </a:lnTo>
                <a:lnTo>
                  <a:pt x="0" y="26247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-43387" t="0" r="-45348" b="-125769"/>
            </a:stretch>
          </a:blipFill>
        </p:spPr>
      </p:sp>
      <p:sp>
        <p:nvSpPr>
          <p:cNvPr name="TextBox 112" id="112"/>
          <p:cNvSpPr txBox="true"/>
          <p:nvPr/>
        </p:nvSpPr>
        <p:spPr>
          <a:xfrm rot="0">
            <a:off x="9538849" y="7234047"/>
            <a:ext cx="6217444" cy="324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DIVIDE(SUM('page1'[Female]), SUM('page1'[Male]), BLANK())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3470675"/>
            <a:ext cx="13333954" cy="4016580"/>
            <a:chOff x="0" y="0"/>
            <a:chExt cx="3511823" cy="1057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11823" cy="1057865"/>
            </a:xfrm>
            <a:custGeom>
              <a:avLst/>
              <a:gdLst/>
              <a:ahLst/>
              <a:cxnLst/>
              <a:rect r="r" b="b" t="t" l="l"/>
              <a:pathLst>
                <a:path h="1057865" w="3511823">
                  <a:moveTo>
                    <a:pt x="22644" y="0"/>
                  </a:moveTo>
                  <a:lnTo>
                    <a:pt x="3489179" y="0"/>
                  </a:lnTo>
                  <a:cubicBezTo>
                    <a:pt x="3501685" y="0"/>
                    <a:pt x="3511823" y="10138"/>
                    <a:pt x="3511823" y="22644"/>
                  </a:cubicBezTo>
                  <a:lnTo>
                    <a:pt x="3511823" y="1035221"/>
                  </a:lnTo>
                  <a:cubicBezTo>
                    <a:pt x="3511823" y="1047727"/>
                    <a:pt x="3501685" y="1057865"/>
                    <a:pt x="3489179" y="1057865"/>
                  </a:cubicBezTo>
                  <a:lnTo>
                    <a:pt x="22644" y="1057865"/>
                  </a:lnTo>
                  <a:cubicBezTo>
                    <a:pt x="10138" y="1057865"/>
                    <a:pt x="0" y="1047727"/>
                    <a:pt x="0" y="1035221"/>
                  </a:cubicBezTo>
                  <a:lnTo>
                    <a:pt x="0" y="22644"/>
                  </a:lnTo>
                  <a:cubicBezTo>
                    <a:pt x="0" y="10138"/>
                    <a:pt x="10138" y="0"/>
                    <a:pt x="22644" y="0"/>
                  </a:cubicBezTo>
                  <a:close/>
                </a:path>
              </a:pathLst>
            </a:custGeom>
            <a:solidFill>
              <a:srgbClr val="4ADA85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511823" cy="1095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4244934"/>
            <a:ext cx="13333954" cy="4016580"/>
            <a:chOff x="0" y="0"/>
            <a:chExt cx="3511823" cy="10578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11823" cy="1057865"/>
            </a:xfrm>
            <a:custGeom>
              <a:avLst/>
              <a:gdLst/>
              <a:ahLst/>
              <a:cxnLst/>
              <a:rect r="r" b="b" t="t" l="l"/>
              <a:pathLst>
                <a:path h="1057865" w="3511823">
                  <a:moveTo>
                    <a:pt x="22644" y="0"/>
                  </a:moveTo>
                  <a:lnTo>
                    <a:pt x="3489179" y="0"/>
                  </a:lnTo>
                  <a:cubicBezTo>
                    <a:pt x="3501685" y="0"/>
                    <a:pt x="3511823" y="10138"/>
                    <a:pt x="3511823" y="22644"/>
                  </a:cubicBezTo>
                  <a:lnTo>
                    <a:pt x="3511823" y="1035221"/>
                  </a:lnTo>
                  <a:cubicBezTo>
                    <a:pt x="3511823" y="1047727"/>
                    <a:pt x="3501685" y="1057865"/>
                    <a:pt x="3489179" y="1057865"/>
                  </a:cubicBezTo>
                  <a:lnTo>
                    <a:pt x="22644" y="1057865"/>
                  </a:lnTo>
                  <a:cubicBezTo>
                    <a:pt x="10138" y="1057865"/>
                    <a:pt x="0" y="1047727"/>
                    <a:pt x="0" y="1035221"/>
                  </a:cubicBezTo>
                  <a:lnTo>
                    <a:pt x="0" y="22644"/>
                  </a:lnTo>
                  <a:cubicBezTo>
                    <a:pt x="0" y="10138"/>
                    <a:pt x="10138" y="0"/>
                    <a:pt x="2264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511823" cy="1095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7" id="27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8" id="28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4" id="34"/>
          <p:cNvSpPr txBox="true"/>
          <p:nvPr/>
        </p:nvSpPr>
        <p:spPr>
          <a:xfrm rot="0">
            <a:off x="3797174" y="5707565"/>
            <a:ext cx="10592545" cy="176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37"/>
              </a:lnSpc>
            </a:pPr>
            <a:r>
              <a:rPr lang="en-US" sz="13137">
                <a:solidFill>
                  <a:srgbClr val="000000"/>
                </a:solidFill>
                <a:latin typeface="Bernoru Condensed"/>
                <a:ea typeface="Bernoru Condensed"/>
                <a:cs typeface="Bernoru Condensed"/>
                <a:sym typeface="Bernoru Condensed"/>
              </a:rPr>
              <a:t> BUILD VISUALS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280958" y="2073382"/>
            <a:ext cx="3628968" cy="3628968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7B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778703" y="2571126"/>
            <a:ext cx="2633479" cy="2633479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8312710" y="3023606"/>
            <a:ext cx="1665972" cy="1721935"/>
          </a:xfrm>
          <a:custGeom>
            <a:avLst/>
            <a:gdLst/>
            <a:ahLst/>
            <a:cxnLst/>
            <a:rect r="r" b="b" t="t" l="l"/>
            <a:pathLst>
              <a:path h="1721935" w="1665972">
                <a:moveTo>
                  <a:pt x="0" y="0"/>
                </a:moveTo>
                <a:lnTo>
                  <a:pt x="1665971" y="0"/>
                </a:lnTo>
                <a:lnTo>
                  <a:pt x="1665971" y="1721934"/>
                </a:lnTo>
                <a:lnTo>
                  <a:pt x="0" y="17219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Data Analytics ..............................................................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8119415" y="2012822"/>
            <a:ext cx="7693257" cy="6402206"/>
            <a:chOff x="0" y="0"/>
            <a:chExt cx="2026208" cy="1686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1686178"/>
            </a:xfrm>
            <a:custGeom>
              <a:avLst/>
              <a:gdLst/>
              <a:ahLst/>
              <a:cxnLst/>
              <a:rect r="r" b="b" t="t" l="l"/>
              <a:pathLst>
                <a:path h="1686178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646931"/>
                  </a:lnTo>
                  <a:cubicBezTo>
                    <a:pt x="2026208" y="1668606"/>
                    <a:pt x="2008636" y="1686178"/>
                    <a:pt x="1986961" y="1686178"/>
                  </a:cubicBezTo>
                  <a:lnTo>
                    <a:pt x="39247" y="1686178"/>
                  </a:lnTo>
                  <a:cubicBezTo>
                    <a:pt x="17571" y="1686178"/>
                    <a:pt x="0" y="1668606"/>
                    <a:pt x="0" y="1646931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172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2478719" y="2667387"/>
            <a:ext cx="5195909" cy="5176424"/>
          </a:xfrm>
          <a:custGeom>
            <a:avLst/>
            <a:gdLst/>
            <a:ahLst/>
            <a:cxnLst/>
            <a:rect r="r" b="b" t="t" l="l"/>
            <a:pathLst>
              <a:path h="5176424" w="5195909">
                <a:moveTo>
                  <a:pt x="0" y="0"/>
                </a:moveTo>
                <a:lnTo>
                  <a:pt x="5195908" y="0"/>
                </a:lnTo>
                <a:lnTo>
                  <a:pt x="5195908" y="5176424"/>
                </a:lnTo>
                <a:lnTo>
                  <a:pt x="0" y="51764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32" id="32"/>
          <p:cNvGraphicFramePr/>
          <p:nvPr/>
        </p:nvGraphicFramePr>
        <p:xfrm>
          <a:off x="8672420" y="3115801"/>
          <a:ext cx="3771900" cy="2514600"/>
        </p:xfrm>
        <a:graphic>
          <a:graphicData uri="http://schemas.openxmlformats.org/presentationml/2006/ole">
            <p:oleObj imgW="4521200" imgH="3263900" r:id="rId1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3" id="33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1.KPI CARDS ..............................................................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43811" y="2278131"/>
            <a:ext cx="769325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 Display main totals.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387344" y="6478126"/>
            <a:ext cx="7157399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💅 Format →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Background: #F5E6A8 Font: 28–36 pt Color: Navy #002855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📈 Insight: Gives overview of Goa’s higher education scale.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8119415" y="2012822"/>
            <a:ext cx="7693257" cy="6402206"/>
            <a:chOff x="0" y="0"/>
            <a:chExt cx="2026208" cy="1686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1686178"/>
            </a:xfrm>
            <a:custGeom>
              <a:avLst/>
              <a:gdLst/>
              <a:ahLst/>
              <a:cxnLst/>
              <a:rect r="r" b="b" t="t" l="l"/>
              <a:pathLst>
                <a:path h="1686178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646931"/>
                  </a:lnTo>
                  <a:cubicBezTo>
                    <a:pt x="2026208" y="1668606"/>
                    <a:pt x="2008636" y="1686178"/>
                    <a:pt x="1986961" y="1686178"/>
                  </a:cubicBezTo>
                  <a:lnTo>
                    <a:pt x="39247" y="1686178"/>
                  </a:lnTo>
                  <a:cubicBezTo>
                    <a:pt x="17571" y="1686178"/>
                    <a:pt x="0" y="1668606"/>
                    <a:pt x="0" y="1646931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172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1" id="31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2.CLUSTERED BAR CHART ..............................................................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51470" y="2140138"/>
            <a:ext cx="6186164" cy="6326994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8385623" y="3456101"/>
            <a:ext cx="6889700" cy="365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Y-axis: District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X-axis: Male, Female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🎨 Colors: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Male → Blue #2E86C1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Female → Gold #F4D03F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📈 Insight: Compare gender balance in North vs South Goa.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9868690" y="2457419"/>
            <a:ext cx="349554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Gender-wise Enrollment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8119415" y="2012822"/>
            <a:ext cx="7693257" cy="6402206"/>
            <a:chOff x="0" y="0"/>
            <a:chExt cx="2026208" cy="1686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1686178"/>
            </a:xfrm>
            <a:custGeom>
              <a:avLst/>
              <a:gdLst/>
              <a:ahLst/>
              <a:cxnLst/>
              <a:rect r="r" b="b" t="t" l="l"/>
              <a:pathLst>
                <a:path h="1686178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646931"/>
                  </a:lnTo>
                  <a:cubicBezTo>
                    <a:pt x="2026208" y="1668606"/>
                    <a:pt x="2008636" y="1686178"/>
                    <a:pt x="1986961" y="1686178"/>
                  </a:cubicBezTo>
                  <a:lnTo>
                    <a:pt x="39247" y="1686178"/>
                  </a:lnTo>
                  <a:cubicBezTo>
                    <a:pt x="17571" y="1686178"/>
                    <a:pt x="0" y="1668606"/>
                    <a:pt x="0" y="1646931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172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1" id="31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3.PIE CHART..............................................................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385623" y="3456101"/>
            <a:ext cx="7427049" cy="365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Legend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Institution Type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Values: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Total Enrollment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Labels: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Percent of total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📈 Insight: See which institution type has largest enrollment  share.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9868690" y="2447894"/>
            <a:ext cx="3654697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Enrollment by Institution Type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68159" y="2369029"/>
            <a:ext cx="6126721" cy="55968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8119415" y="2012822"/>
            <a:ext cx="7693257" cy="6402206"/>
            <a:chOff x="0" y="0"/>
            <a:chExt cx="2026208" cy="1686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1686178"/>
            </a:xfrm>
            <a:custGeom>
              <a:avLst/>
              <a:gdLst/>
              <a:ahLst/>
              <a:cxnLst/>
              <a:rect r="r" b="b" t="t" l="l"/>
              <a:pathLst>
                <a:path h="1686178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646931"/>
                  </a:lnTo>
                  <a:cubicBezTo>
                    <a:pt x="2026208" y="1668606"/>
                    <a:pt x="2008636" y="1686178"/>
                    <a:pt x="1986961" y="1686178"/>
                  </a:cubicBezTo>
                  <a:lnTo>
                    <a:pt x="39247" y="1686178"/>
                  </a:lnTo>
                  <a:cubicBezTo>
                    <a:pt x="17571" y="1686178"/>
                    <a:pt x="0" y="1668606"/>
                    <a:pt x="0" y="1646931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172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name="Table 31" id="31"/>
          <p:cNvGraphicFramePr>
            <a:graphicFrameLocks noGrp="true"/>
          </p:cNvGraphicFramePr>
          <p:nvPr/>
        </p:nvGraphicFramePr>
        <p:xfrm>
          <a:off x="2458864" y="3305517"/>
          <a:ext cx="5381650" cy="3555883"/>
        </p:xfrm>
        <a:graphic>
          <a:graphicData uri="http://schemas.openxmlformats.org/drawingml/2006/table">
            <a:tbl>
              <a:tblPr/>
              <a:tblGrid>
                <a:gridCol w="1793883"/>
                <a:gridCol w="2021478"/>
                <a:gridCol w="1566289"/>
              </a:tblGrid>
              <a:tr h="8889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7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7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7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</a:tr>
              <a:tr h="8889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7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7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7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</a:tr>
              <a:tr h="8889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7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7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7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</a:tr>
              <a:tr h="8889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7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7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7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</a:tr>
            </a:tbl>
          </a:graphicData>
        </a:graphic>
      </p:graphicFrame>
      <p:sp>
        <p:nvSpPr>
          <p:cNvPr name="TextBox 32" id="32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4.TABLE ..............................................................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85623" y="3456101"/>
            <a:ext cx="7427049" cy="365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Fields</a:t>
            </a: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Institution Name, District, Faculty Count, Total Enrollment, Student–Teacher Ratio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Format: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Alternating rows ON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🪄 Filter →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Top N → 5 → By Total Enrollment → Apply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📈 Insight:Top 5 institutions by student count; compare teaching quality.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9868690" y="2447894"/>
            <a:ext cx="365469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Institution-wise STR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8119415" y="2012822"/>
            <a:ext cx="7693257" cy="6402206"/>
            <a:chOff x="0" y="0"/>
            <a:chExt cx="2026208" cy="1686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1686178"/>
            </a:xfrm>
            <a:custGeom>
              <a:avLst/>
              <a:gdLst/>
              <a:ahLst/>
              <a:cxnLst/>
              <a:rect r="r" b="b" t="t" l="l"/>
              <a:pathLst>
                <a:path h="1686178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646931"/>
                  </a:lnTo>
                  <a:cubicBezTo>
                    <a:pt x="2026208" y="1668606"/>
                    <a:pt x="2008636" y="1686178"/>
                    <a:pt x="1986961" y="1686178"/>
                  </a:cubicBezTo>
                  <a:lnTo>
                    <a:pt x="39247" y="1686178"/>
                  </a:lnTo>
                  <a:cubicBezTo>
                    <a:pt x="17571" y="1686178"/>
                    <a:pt x="0" y="1668606"/>
                    <a:pt x="0" y="1646931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172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1" id="31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5.TREE MAP ..............................................................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385623" y="3456101"/>
            <a:ext cx="7427049" cy="232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Category</a:t>
            </a: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Institution Type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</a:t>
            </a: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alues: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Total Enrollment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📈 Insight:Area of each block shows proportion of total students in that type.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68690" y="2447894"/>
            <a:ext cx="3654697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Enrollment by </a:t>
            </a: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Institution Type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379846" y="2374820"/>
            <a:ext cx="5678212" cy="56782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8119415" y="2012822"/>
            <a:ext cx="7693257" cy="6402206"/>
            <a:chOff x="0" y="0"/>
            <a:chExt cx="2026208" cy="1686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1686178"/>
            </a:xfrm>
            <a:custGeom>
              <a:avLst/>
              <a:gdLst/>
              <a:ahLst/>
              <a:cxnLst/>
              <a:rect r="r" b="b" t="t" l="l"/>
              <a:pathLst>
                <a:path h="1686178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646931"/>
                  </a:lnTo>
                  <a:cubicBezTo>
                    <a:pt x="2026208" y="1668606"/>
                    <a:pt x="2008636" y="1686178"/>
                    <a:pt x="1986961" y="1686178"/>
                  </a:cubicBezTo>
                  <a:lnTo>
                    <a:pt x="39247" y="1686178"/>
                  </a:lnTo>
                  <a:cubicBezTo>
                    <a:pt x="17571" y="1686178"/>
                    <a:pt x="0" y="1668606"/>
                    <a:pt x="0" y="1646931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172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1" id="31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6.GAUGE ..............................................................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385623" y="3456101"/>
            <a:ext cx="7427049" cy="332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Value</a:t>
            </a: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Overall GPI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arget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1 </a:t>
            </a: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0 </a:t>
            </a: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Max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1.2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Colors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Teal fill, Red target line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📈 Insight:Needle near 1 → equal gender ratio.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Below 1 → more male; Above 1 → more female.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9868690" y="2447894"/>
            <a:ext cx="3654697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Overall Gender Parity </a:t>
            </a: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Index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132852" y="3283234"/>
            <a:ext cx="61722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8119415" y="2012822"/>
            <a:ext cx="7693257" cy="6402206"/>
            <a:chOff x="0" y="0"/>
            <a:chExt cx="2026208" cy="1686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1686178"/>
            </a:xfrm>
            <a:custGeom>
              <a:avLst/>
              <a:gdLst/>
              <a:ahLst/>
              <a:cxnLst/>
              <a:rect r="r" b="b" t="t" l="l"/>
              <a:pathLst>
                <a:path h="1686178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646931"/>
                  </a:lnTo>
                  <a:cubicBezTo>
                    <a:pt x="2026208" y="1668606"/>
                    <a:pt x="2008636" y="1686178"/>
                    <a:pt x="1986961" y="1686178"/>
                  </a:cubicBezTo>
                  <a:lnTo>
                    <a:pt x="39247" y="1686178"/>
                  </a:lnTo>
                  <a:cubicBezTo>
                    <a:pt x="17571" y="1686178"/>
                    <a:pt x="0" y="1668606"/>
                    <a:pt x="0" y="1646931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172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198895" y="2287141"/>
            <a:ext cx="6040114" cy="5760613"/>
          </a:xfrm>
          <a:prstGeom prst="rect">
            <a:avLst/>
          </a:prstGeom>
        </p:spPr>
      </p:pic>
      <p:graphicFrame>
        <p:nvGraphicFramePr>
          <p:cNvPr name="Object 32" id="32"/>
          <p:cNvGraphicFramePr/>
          <p:nvPr/>
        </p:nvGraphicFramePr>
        <p:xfrm>
          <a:off x="8459197" y="3340880"/>
          <a:ext cx="4186238" cy="3143250"/>
        </p:xfrm>
        <a:graphic>
          <a:graphicData uri="http://schemas.openxmlformats.org/presentationml/2006/ole">
            <p:oleObj imgW="5016500" imgH="3975100" r:id="rId1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3" id="33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 7.SCATTER CHART ..............................................................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459197" y="6445097"/>
            <a:ext cx="6986763" cy="2431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</a:p>
          <a:p>
            <a:pPr algn="l">
              <a:lnSpc>
                <a:spcPts val="2441"/>
              </a:lnSpc>
            </a:pPr>
            <a:r>
              <a:rPr lang="en-US" sz="17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🎨 Colors:</a:t>
            </a:r>
          </a:p>
          <a:p>
            <a:pPr algn="l">
              <a:lnSpc>
                <a:spcPts val="2441"/>
              </a:lnSpc>
              <a:spcBef>
                <a:spcPct val="0"/>
              </a:spcBef>
            </a:pPr>
            <a:r>
              <a:rPr lang="en-US" sz="17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A+ → Gold A → Blue B++ → Green B+ → Purple Not Accredited → Gray</a:t>
            </a:r>
          </a:p>
          <a:p>
            <a:pPr algn="l">
              <a:lnSpc>
                <a:spcPts val="2441"/>
              </a:lnSpc>
              <a:spcBef>
                <a:spcPct val="0"/>
              </a:spcBef>
            </a:pPr>
            <a:r>
              <a:rPr lang="en-US" sz="17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📈 Insight:Higher NAAC grades often cluster at lower STR (better quality) and moderate enrollment.</a:t>
            </a:r>
          </a:p>
          <a:p>
            <a:pPr algn="l">
              <a:lnSpc>
                <a:spcPts val="2441"/>
              </a:lnSpc>
              <a:spcBef>
                <a:spcPct val="0"/>
              </a:spcBef>
            </a:pPr>
          </a:p>
          <a:p>
            <a:pPr algn="l">
              <a:lnSpc>
                <a:spcPts val="2441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9868690" y="2447894"/>
            <a:ext cx="3654697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Overall Gender Parity </a:t>
            </a: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Index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1" id="21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8" id="28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 SLICERS..............................................................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3461074" y="3049503"/>
            <a:ext cx="3925034" cy="5027230"/>
            <a:chOff x="0" y="0"/>
            <a:chExt cx="812800" cy="10410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1041044"/>
            </a:xfrm>
            <a:custGeom>
              <a:avLst/>
              <a:gdLst/>
              <a:ahLst/>
              <a:cxnLst/>
              <a:rect r="r" b="b" t="t" l="l"/>
              <a:pathLst>
                <a:path h="1041044" w="812800">
                  <a:moveTo>
                    <a:pt x="59173" y="0"/>
                  </a:moveTo>
                  <a:lnTo>
                    <a:pt x="753627" y="0"/>
                  </a:lnTo>
                  <a:cubicBezTo>
                    <a:pt x="769320" y="0"/>
                    <a:pt x="784371" y="6234"/>
                    <a:pt x="795468" y="17331"/>
                  </a:cubicBezTo>
                  <a:cubicBezTo>
                    <a:pt x="806566" y="28429"/>
                    <a:pt x="812800" y="43480"/>
                    <a:pt x="812800" y="59173"/>
                  </a:cubicBezTo>
                  <a:lnTo>
                    <a:pt x="812800" y="981871"/>
                  </a:lnTo>
                  <a:cubicBezTo>
                    <a:pt x="812800" y="1014551"/>
                    <a:pt x="786307" y="1041044"/>
                    <a:pt x="753627" y="1041044"/>
                  </a:cubicBezTo>
                  <a:lnTo>
                    <a:pt x="59173" y="1041044"/>
                  </a:lnTo>
                  <a:cubicBezTo>
                    <a:pt x="43480" y="1041044"/>
                    <a:pt x="28429" y="1034810"/>
                    <a:pt x="17331" y="1023713"/>
                  </a:cubicBezTo>
                  <a:cubicBezTo>
                    <a:pt x="6234" y="1012615"/>
                    <a:pt x="0" y="997564"/>
                    <a:pt x="0" y="981871"/>
                  </a:cubicBezTo>
                  <a:lnTo>
                    <a:pt x="0" y="59173"/>
                  </a:lnTo>
                  <a:cubicBezTo>
                    <a:pt x="0" y="43480"/>
                    <a:pt x="6234" y="28429"/>
                    <a:pt x="17331" y="17331"/>
                  </a:cubicBezTo>
                  <a:cubicBezTo>
                    <a:pt x="28429" y="6234"/>
                    <a:pt x="43480" y="0"/>
                    <a:pt x="59173" y="0"/>
                  </a:cubicBezTo>
                  <a:close/>
                </a:path>
              </a:pathLst>
            </a:custGeom>
            <a:solidFill>
              <a:srgbClr val="FDFDFD"/>
            </a:solidFill>
            <a:ln w="9525" cap="rnd">
              <a:solidFill>
                <a:srgbClr val="DFE0DF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12800" cy="1079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32" id="32"/>
          <p:cNvSpPr/>
          <p:nvPr/>
        </p:nvSpPr>
        <p:spPr>
          <a:xfrm>
            <a:off x="4015587" y="5783582"/>
            <a:ext cx="2813238" cy="0"/>
          </a:xfrm>
          <a:prstGeom prst="line">
            <a:avLst/>
          </a:prstGeom>
          <a:ln cap="flat" w="9525">
            <a:solidFill>
              <a:srgbClr val="DFE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4015587" y="6275952"/>
            <a:ext cx="2813238" cy="0"/>
          </a:xfrm>
          <a:prstGeom prst="line">
            <a:avLst/>
          </a:prstGeom>
          <a:ln cap="flat" w="9525">
            <a:solidFill>
              <a:srgbClr val="DFE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4015587" y="6767606"/>
            <a:ext cx="2813238" cy="0"/>
          </a:xfrm>
          <a:prstGeom prst="line">
            <a:avLst/>
          </a:prstGeom>
          <a:ln cap="flat" w="9525">
            <a:solidFill>
              <a:srgbClr val="DFE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4824882" y="2325922"/>
            <a:ext cx="8419934" cy="0"/>
          </a:xfrm>
          <a:prstGeom prst="line">
            <a:avLst/>
          </a:prstGeom>
          <a:ln cap="flat" w="38100">
            <a:solidFill>
              <a:srgbClr val="3C5679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3737129" y="1782045"/>
            <a:ext cx="1087753" cy="1087753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244817" y="1782045"/>
            <a:ext cx="1087753" cy="1087753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4044096" y="2066744"/>
            <a:ext cx="473819" cy="47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3"/>
              </a:lnSpc>
              <a:spcBef>
                <a:spcPct val="0"/>
              </a:spcBef>
            </a:pPr>
            <a:r>
              <a:rPr lang="en-US" b="true" sz="2816" spc="140">
                <a:solidFill>
                  <a:srgbClr val="3C567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01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401718" y="3109649"/>
            <a:ext cx="3925034" cy="5077216"/>
            <a:chOff x="0" y="0"/>
            <a:chExt cx="812800" cy="105139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1051395"/>
            </a:xfrm>
            <a:custGeom>
              <a:avLst/>
              <a:gdLst/>
              <a:ahLst/>
              <a:cxnLst/>
              <a:rect r="r" b="b" t="t" l="l"/>
              <a:pathLst>
                <a:path h="1051395" w="812800">
                  <a:moveTo>
                    <a:pt x="59173" y="0"/>
                  </a:moveTo>
                  <a:lnTo>
                    <a:pt x="753627" y="0"/>
                  </a:lnTo>
                  <a:cubicBezTo>
                    <a:pt x="769320" y="0"/>
                    <a:pt x="784371" y="6234"/>
                    <a:pt x="795468" y="17331"/>
                  </a:cubicBezTo>
                  <a:cubicBezTo>
                    <a:pt x="806566" y="28429"/>
                    <a:pt x="812800" y="43480"/>
                    <a:pt x="812800" y="59173"/>
                  </a:cubicBezTo>
                  <a:lnTo>
                    <a:pt x="812800" y="992222"/>
                  </a:lnTo>
                  <a:cubicBezTo>
                    <a:pt x="812800" y="1024902"/>
                    <a:pt x="786307" y="1051395"/>
                    <a:pt x="753627" y="1051395"/>
                  </a:cubicBezTo>
                  <a:lnTo>
                    <a:pt x="59173" y="1051395"/>
                  </a:lnTo>
                  <a:cubicBezTo>
                    <a:pt x="43480" y="1051395"/>
                    <a:pt x="28429" y="1045161"/>
                    <a:pt x="17331" y="1034064"/>
                  </a:cubicBezTo>
                  <a:cubicBezTo>
                    <a:pt x="6234" y="1022966"/>
                    <a:pt x="0" y="1007915"/>
                    <a:pt x="0" y="992222"/>
                  </a:cubicBezTo>
                  <a:lnTo>
                    <a:pt x="0" y="59173"/>
                  </a:lnTo>
                  <a:cubicBezTo>
                    <a:pt x="0" y="43480"/>
                    <a:pt x="6234" y="28429"/>
                    <a:pt x="17331" y="17331"/>
                  </a:cubicBezTo>
                  <a:cubicBezTo>
                    <a:pt x="28429" y="6234"/>
                    <a:pt x="43480" y="0"/>
                    <a:pt x="59173" y="0"/>
                  </a:cubicBezTo>
                  <a:close/>
                </a:path>
              </a:pathLst>
            </a:custGeom>
            <a:solidFill>
              <a:srgbClr val="FDFDFD"/>
            </a:solidFill>
            <a:ln w="9525" cap="rnd">
              <a:solidFill>
                <a:srgbClr val="DFE0DF"/>
              </a:solidFill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812800" cy="1089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3546347" y="2066744"/>
            <a:ext cx="484692" cy="47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3"/>
              </a:lnSpc>
              <a:spcBef>
                <a:spcPct val="0"/>
              </a:spcBef>
            </a:pPr>
            <a:r>
              <a:rPr lang="en-US" b="true" sz="2816" spc="140">
                <a:solidFill>
                  <a:srgbClr val="3C567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208920" y="3260877"/>
            <a:ext cx="2428947" cy="35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7"/>
              </a:lnSpc>
              <a:spcBef>
                <a:spcPct val="0"/>
              </a:spcBef>
            </a:pPr>
            <a:r>
              <a:rPr lang="en-US" sz="2112" spc="67">
                <a:solidFill>
                  <a:srgbClr val="3C5679"/>
                </a:solidFill>
                <a:latin typeface="Canva Sans"/>
                <a:ea typeface="Canva Sans"/>
                <a:cs typeface="Canva Sans"/>
                <a:sym typeface="Canva Sans"/>
              </a:rPr>
              <a:t>District</a:t>
            </a:r>
          </a:p>
        </p:txBody>
      </p:sp>
      <p:sp>
        <p:nvSpPr>
          <p:cNvPr name="AutoShape 48" id="48"/>
          <p:cNvSpPr/>
          <p:nvPr/>
        </p:nvSpPr>
        <p:spPr>
          <a:xfrm>
            <a:off x="11956232" y="6381913"/>
            <a:ext cx="2813238" cy="0"/>
          </a:xfrm>
          <a:prstGeom prst="line">
            <a:avLst/>
          </a:prstGeom>
          <a:ln cap="flat" w="9525">
            <a:solidFill>
              <a:srgbClr val="DFE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>
            <a:off x="11956232" y="6873566"/>
            <a:ext cx="2813238" cy="0"/>
          </a:xfrm>
          <a:prstGeom prst="line">
            <a:avLst/>
          </a:prstGeom>
          <a:ln cap="flat" w="9525">
            <a:solidFill>
              <a:srgbClr val="DFE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0" id="50"/>
          <p:cNvSpPr txBox="true"/>
          <p:nvPr/>
        </p:nvSpPr>
        <p:spPr>
          <a:xfrm rot="0">
            <a:off x="12149564" y="3366838"/>
            <a:ext cx="2428947" cy="35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7"/>
              </a:lnSpc>
              <a:spcBef>
                <a:spcPct val="0"/>
              </a:spcBef>
            </a:pPr>
            <a:r>
              <a:rPr lang="en-US" sz="2112" spc="67">
                <a:solidFill>
                  <a:srgbClr val="3C5679"/>
                </a:solidFill>
                <a:latin typeface="Canva Sans"/>
                <a:ea typeface="Canva Sans"/>
                <a:cs typeface="Canva Sans"/>
                <a:sym typeface="Canva Sans"/>
              </a:rPr>
              <a:t>Institution Type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644493" y="3673317"/>
            <a:ext cx="3558195" cy="204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1065" indent="-180532" lvl="1">
              <a:lnSpc>
                <a:spcPts val="2341"/>
              </a:lnSpc>
              <a:buFont typeface="Arial"/>
              <a:buChar char="•"/>
            </a:pPr>
            <a:r>
              <a:rPr lang="en-US" sz="16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Insert a Slicer visual</a:t>
            </a:r>
          </a:p>
          <a:p>
            <a:pPr algn="l">
              <a:lnSpc>
                <a:spcPts val="2341"/>
              </a:lnSpc>
            </a:pPr>
          </a:p>
          <a:p>
            <a:pPr algn="l" marL="361065" indent="-180532" lvl="1">
              <a:lnSpc>
                <a:spcPts val="2341"/>
              </a:lnSpc>
              <a:buFont typeface="Arial"/>
              <a:buChar char="•"/>
            </a:pPr>
            <a:r>
              <a:rPr lang="en-US" sz="16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Fields pane, drag District into the slicer’s Field well.</a:t>
            </a:r>
          </a:p>
          <a:p>
            <a:pPr algn="l">
              <a:lnSpc>
                <a:spcPts val="2341"/>
              </a:lnSpc>
            </a:pPr>
          </a:p>
          <a:p>
            <a:pPr algn="l" marL="361065" indent="-180532" lvl="1">
              <a:lnSpc>
                <a:spcPts val="2341"/>
              </a:lnSpc>
              <a:buFont typeface="Arial"/>
              <a:buChar char="•"/>
            </a:pPr>
            <a:r>
              <a:rPr lang="en-US" sz="16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will show both “North Goa” and “South Goa”.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747274" y="5859806"/>
            <a:ext cx="3455414" cy="234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7"/>
              </a:lnSpc>
              <a:spcBef>
                <a:spcPct val="0"/>
              </a:spcBef>
            </a:pPr>
            <a:r>
              <a:rPr lang="en-US" sz="13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🧩 Tip:</a:t>
            </a:r>
          </a:p>
          <a:p>
            <a:pPr algn="l">
              <a:lnSpc>
                <a:spcPts val="1877"/>
              </a:lnSpc>
              <a:spcBef>
                <a:spcPct val="0"/>
              </a:spcBef>
            </a:pPr>
            <a:r>
              <a:rPr lang="en-US" sz="13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You can change the layout:</a:t>
            </a:r>
          </a:p>
          <a:p>
            <a:pPr algn="l">
              <a:lnSpc>
                <a:spcPts val="1877"/>
              </a:lnSpc>
              <a:spcBef>
                <a:spcPct val="0"/>
              </a:spcBef>
            </a:pPr>
            <a:r>
              <a:rPr lang="en-US" sz="13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Click ⚙️ (settings) → Slicer settings → Style → switch between List and Dropdown.</a:t>
            </a:r>
          </a:p>
          <a:p>
            <a:pPr algn="l">
              <a:lnSpc>
                <a:spcPts val="1877"/>
              </a:lnSpc>
              <a:spcBef>
                <a:spcPct val="0"/>
              </a:spcBef>
            </a:pPr>
            <a:r>
              <a:rPr lang="en-US" sz="13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📈 Use:</a:t>
            </a:r>
          </a:p>
          <a:p>
            <a:pPr algn="l">
              <a:lnSpc>
                <a:spcPts val="1877"/>
              </a:lnSpc>
              <a:spcBef>
                <a:spcPct val="0"/>
              </a:spcBef>
            </a:pPr>
            <a:r>
              <a:rPr lang="en-US" sz="13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Select “South Goa” to see only that district’s institutions reflected across all visuals.</a:t>
            </a:r>
          </a:p>
          <a:p>
            <a:pPr algn="l">
              <a:lnSpc>
                <a:spcPts val="1877"/>
              </a:lnSpc>
              <a:spcBef>
                <a:spcPct val="0"/>
              </a:spcBef>
            </a:pPr>
          </a:p>
        </p:txBody>
      </p:sp>
      <p:sp>
        <p:nvSpPr>
          <p:cNvPr name="TextBox 53" id="53"/>
          <p:cNvSpPr txBox="true"/>
          <p:nvPr/>
        </p:nvSpPr>
        <p:spPr>
          <a:xfrm rot="0">
            <a:off x="11659566" y="6158508"/>
            <a:ext cx="3558195" cy="168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  <a:spcBef>
                <a:spcPct val="0"/>
              </a:spcBef>
            </a:pPr>
            <a:r>
              <a:rPr lang="en-US" sz="1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Insight</a:t>
            </a:r>
            <a:r>
              <a:rPr lang="en-US" sz="1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Example:</a:t>
            </a:r>
          </a:p>
          <a:p>
            <a:pPr algn="l">
              <a:lnSpc>
                <a:spcPts val="1932"/>
              </a:lnSpc>
              <a:spcBef>
                <a:spcPct val="0"/>
              </a:spcBef>
            </a:pPr>
            <a:r>
              <a:rPr lang="en-US" sz="1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Helps analyze how student–teacher ratios vary between government and private colleges.</a:t>
            </a:r>
          </a:p>
          <a:p>
            <a:pPr algn="l">
              <a:lnSpc>
                <a:spcPts val="1932"/>
              </a:lnSpc>
              <a:spcBef>
                <a:spcPct val="0"/>
              </a:spcBef>
            </a:pPr>
            <a:r>
              <a:rPr lang="en-US" sz="1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You can observe STR and GPI changes instantly when toggling filters.</a:t>
            </a:r>
          </a:p>
          <a:p>
            <a:pPr algn="l">
              <a:lnSpc>
                <a:spcPts val="1932"/>
              </a:lnSpc>
              <a:spcBef>
                <a:spcPct val="0"/>
              </a:spcBef>
            </a:pPr>
          </a:p>
        </p:txBody>
      </p:sp>
      <p:sp>
        <p:nvSpPr>
          <p:cNvPr name="TextBox 54" id="54"/>
          <p:cNvSpPr txBox="true"/>
          <p:nvPr/>
        </p:nvSpPr>
        <p:spPr>
          <a:xfrm rot="0">
            <a:off x="11659566" y="3829262"/>
            <a:ext cx="3558195" cy="17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1065" indent="-180532" lvl="1">
              <a:lnSpc>
                <a:spcPts val="2341"/>
              </a:lnSpc>
              <a:buFont typeface="Arial"/>
              <a:buChar char="•"/>
            </a:pPr>
            <a:r>
              <a:rPr lang="en-US" sz="16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</a:t>
            </a:r>
            <a:r>
              <a:rPr lang="en-US" sz="16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nother Slicer visual.</a:t>
            </a:r>
          </a:p>
          <a:p>
            <a:pPr algn="l">
              <a:lnSpc>
                <a:spcPts val="2341"/>
              </a:lnSpc>
            </a:pPr>
          </a:p>
          <a:p>
            <a:pPr algn="l" marL="361065" indent="-180532" lvl="1">
              <a:lnSpc>
                <a:spcPts val="2341"/>
              </a:lnSpc>
              <a:buFont typeface="Arial"/>
              <a:buChar char="•"/>
            </a:pPr>
            <a:r>
              <a:rPr lang="en-US" sz="16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Drag Institution Type to its Field well.</a:t>
            </a:r>
          </a:p>
          <a:p>
            <a:pPr algn="l">
              <a:lnSpc>
                <a:spcPts val="2341"/>
              </a:lnSpc>
            </a:pPr>
          </a:p>
          <a:p>
            <a:pPr algn="l" marL="361065" indent="-180532" lvl="1">
              <a:lnSpc>
                <a:spcPts val="2341"/>
              </a:lnSpc>
              <a:buFont typeface="Arial"/>
              <a:buChar char="•"/>
            </a:pPr>
            <a:r>
              <a:rPr lang="en-US" sz="16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Resize</a:t>
            </a:r>
            <a:r>
              <a:rPr lang="en-US" sz="16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beside the first slicer.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1" id="21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name="Object 28" id="28"/>
          <p:cNvGraphicFramePr/>
          <p:nvPr/>
        </p:nvGraphicFramePr>
        <p:xfrm>
          <a:off x="3094753" y="2253390"/>
          <a:ext cx="8701088" cy="4295537"/>
        </p:xfrm>
        <a:graphic>
          <a:graphicData uri="http://schemas.openxmlformats.org/presentationml/2006/ole">
            <p:oleObj imgW="10439400" imgH="6032500" r:id="rId1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9" id="29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 INSIGHTS TO DISCUSS.............................................................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DAG3PfQa5Cc</dc:identifier>
  <dcterms:modified xsi:type="dcterms:W3CDTF">2011-08-01T06:04:30Z</dcterms:modified>
  <cp:revision>1</cp:revision>
  <dc:title>DATASET DESCRIPTION</dc:title>
</cp:coreProperties>
</file>