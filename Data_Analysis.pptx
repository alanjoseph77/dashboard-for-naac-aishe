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DM Sans" pitchFamily="2" charset="0"/>
      <p:regular r:id="rId11"/>
    </p:embeddedFont>
    <p:embeddedFont>
      <p:font typeface="Lato" panose="020F0502020204030203" pitchFamily="34" charset="0"/>
      <p:regular r:id="rId12"/>
    </p:embeddedFont>
    <p:embeddedFont>
      <p:font typeface="Lato Bold" panose="020B0604020202020204" charset="0"/>
      <p:regular r:id="rId13"/>
    </p:embeddedFont>
    <p:embeddedFont>
      <p:font typeface="Montserrat Bold" panose="020B0604020202020204" charset="0"/>
      <p:regular r:id="rId14"/>
    </p:embeddedFont>
    <p:embeddedFont>
      <p:font typeface="Poppins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8" y="1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svg"/><Relationship Id="rId7" Type="http://schemas.openxmlformats.org/officeDocument/2006/relationships/image" Target="../media/image10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12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5" Type="http://schemas.openxmlformats.org/officeDocument/2006/relationships/image" Target="../media/image16.sv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svg"/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12" Type="http://schemas.openxmlformats.org/officeDocument/2006/relationships/image" Target="../media/image3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11" Type="http://schemas.openxmlformats.org/officeDocument/2006/relationships/image" Target="../media/image32.svg"/><Relationship Id="rId5" Type="http://schemas.openxmlformats.org/officeDocument/2006/relationships/image" Target="../media/image26.sv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svg"/><Relationship Id="rId3" Type="http://schemas.openxmlformats.org/officeDocument/2006/relationships/image" Target="../media/image36.svg"/><Relationship Id="rId7" Type="http://schemas.openxmlformats.org/officeDocument/2006/relationships/image" Target="../media/image40.svg"/><Relationship Id="rId12" Type="http://schemas.openxmlformats.org/officeDocument/2006/relationships/image" Target="../media/image4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9.png"/><Relationship Id="rId11" Type="http://schemas.openxmlformats.org/officeDocument/2006/relationships/image" Target="../media/image44.svg"/><Relationship Id="rId5" Type="http://schemas.openxmlformats.org/officeDocument/2006/relationships/image" Target="../media/image38.svg"/><Relationship Id="rId15" Type="http://schemas.openxmlformats.org/officeDocument/2006/relationships/image" Target="../media/image48.sv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svg"/><Relationship Id="rId14" Type="http://schemas.openxmlformats.org/officeDocument/2006/relationships/image" Target="../media/image4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13" Type="http://schemas.openxmlformats.org/officeDocument/2006/relationships/image" Target="../media/image60.svg"/><Relationship Id="rId18" Type="http://schemas.openxmlformats.org/officeDocument/2006/relationships/image" Target="../media/image65.png"/><Relationship Id="rId3" Type="http://schemas.openxmlformats.org/officeDocument/2006/relationships/image" Target="../media/image50.svg"/><Relationship Id="rId21" Type="http://schemas.openxmlformats.org/officeDocument/2006/relationships/image" Target="../media/image68.svg"/><Relationship Id="rId7" Type="http://schemas.openxmlformats.org/officeDocument/2006/relationships/image" Target="../media/image54.svg"/><Relationship Id="rId12" Type="http://schemas.openxmlformats.org/officeDocument/2006/relationships/image" Target="../media/image59.png"/><Relationship Id="rId17" Type="http://schemas.openxmlformats.org/officeDocument/2006/relationships/image" Target="../media/image64.svg"/><Relationship Id="rId2" Type="http://schemas.openxmlformats.org/officeDocument/2006/relationships/image" Target="../media/image49.png"/><Relationship Id="rId16" Type="http://schemas.openxmlformats.org/officeDocument/2006/relationships/image" Target="../media/image63.png"/><Relationship Id="rId20" Type="http://schemas.openxmlformats.org/officeDocument/2006/relationships/image" Target="../media/image6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3.png"/><Relationship Id="rId11" Type="http://schemas.openxmlformats.org/officeDocument/2006/relationships/image" Target="../media/image58.svg"/><Relationship Id="rId5" Type="http://schemas.openxmlformats.org/officeDocument/2006/relationships/image" Target="../media/image52.svg"/><Relationship Id="rId15" Type="http://schemas.openxmlformats.org/officeDocument/2006/relationships/image" Target="../media/image62.svg"/><Relationship Id="rId10" Type="http://schemas.openxmlformats.org/officeDocument/2006/relationships/image" Target="../media/image57.png"/><Relationship Id="rId19" Type="http://schemas.openxmlformats.org/officeDocument/2006/relationships/image" Target="../media/image66.svg"/><Relationship Id="rId4" Type="http://schemas.openxmlformats.org/officeDocument/2006/relationships/image" Target="../media/image51.png"/><Relationship Id="rId9" Type="http://schemas.openxmlformats.org/officeDocument/2006/relationships/image" Target="../media/image56.svg"/><Relationship Id="rId14" Type="http://schemas.openxmlformats.org/officeDocument/2006/relationships/image" Target="../media/image6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5.png"/><Relationship Id="rId3" Type="http://schemas.openxmlformats.org/officeDocument/2006/relationships/image" Target="../media/image70.svg"/><Relationship Id="rId7" Type="http://schemas.openxmlformats.org/officeDocument/2006/relationships/image" Target="../media/image74.sv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3.png"/><Relationship Id="rId5" Type="http://schemas.openxmlformats.org/officeDocument/2006/relationships/image" Target="../media/image72.svg"/><Relationship Id="rId4" Type="http://schemas.openxmlformats.org/officeDocument/2006/relationships/image" Target="../media/image71.png"/><Relationship Id="rId9" Type="http://schemas.openxmlformats.org/officeDocument/2006/relationships/image" Target="../media/image76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svg"/><Relationship Id="rId3" Type="http://schemas.openxmlformats.org/officeDocument/2006/relationships/image" Target="../media/image78.svg"/><Relationship Id="rId7" Type="http://schemas.openxmlformats.org/officeDocument/2006/relationships/image" Target="../media/image82.svg"/><Relationship Id="rId12" Type="http://schemas.openxmlformats.org/officeDocument/2006/relationships/image" Target="../media/image87.png"/><Relationship Id="rId17" Type="http://schemas.openxmlformats.org/officeDocument/2006/relationships/image" Target="../media/image92.svg"/><Relationship Id="rId2" Type="http://schemas.openxmlformats.org/officeDocument/2006/relationships/image" Target="../media/image77.png"/><Relationship Id="rId16" Type="http://schemas.openxmlformats.org/officeDocument/2006/relationships/image" Target="../media/image9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1.png"/><Relationship Id="rId11" Type="http://schemas.openxmlformats.org/officeDocument/2006/relationships/image" Target="../media/image86.svg"/><Relationship Id="rId5" Type="http://schemas.openxmlformats.org/officeDocument/2006/relationships/image" Target="../media/image80.svg"/><Relationship Id="rId15" Type="http://schemas.openxmlformats.org/officeDocument/2006/relationships/image" Target="../media/image90.sv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svg"/><Relationship Id="rId14" Type="http://schemas.openxmlformats.org/officeDocument/2006/relationships/image" Target="../media/image8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0432300" y="2229802"/>
            <a:ext cx="5798040" cy="6564972"/>
          </a:xfrm>
          <a:custGeom>
            <a:avLst/>
            <a:gdLst/>
            <a:ahLst/>
            <a:cxnLst/>
            <a:rect l="l" t="t" r="r" b="b"/>
            <a:pathLst>
              <a:path w="6145740" h="7461716">
                <a:moveTo>
                  <a:pt x="0" y="0"/>
                </a:moveTo>
                <a:lnTo>
                  <a:pt x="6145740" y="0"/>
                </a:lnTo>
                <a:lnTo>
                  <a:pt x="6145740" y="7461716"/>
                </a:lnTo>
                <a:lnTo>
                  <a:pt x="0" y="74617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2286000" y="2781191"/>
            <a:ext cx="8763000" cy="348056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6719"/>
              </a:lnSpc>
              <a:spcBef>
                <a:spcPct val="0"/>
              </a:spcBef>
            </a:pPr>
            <a:r>
              <a:rPr lang="en-US" sz="7200" b="1" u="none" strike="noStrike" dirty="0">
                <a:solidFill>
                  <a:srgbClr val="3C3C50"/>
                </a:solidFill>
                <a:latin typeface="Poppins Bold"/>
                <a:ea typeface="Poppins Bold"/>
                <a:cs typeface="Poppins Bold"/>
                <a:sym typeface="Poppins Bold"/>
              </a:rPr>
              <a:t>DATA ANALYTICS AND</a:t>
            </a:r>
          </a:p>
          <a:p>
            <a:pPr marL="0" lvl="0" indent="0" algn="ctr">
              <a:lnSpc>
                <a:spcPts val="6719"/>
              </a:lnSpc>
              <a:spcBef>
                <a:spcPct val="0"/>
              </a:spcBef>
            </a:pPr>
            <a:r>
              <a:rPr lang="en-US" sz="7200" b="1" u="none" strike="noStrike" dirty="0">
                <a:solidFill>
                  <a:srgbClr val="3C3C50"/>
                </a:solidFill>
                <a:latin typeface="Poppins Bold"/>
                <a:ea typeface="Poppins Bold"/>
                <a:cs typeface="Poppins Bold"/>
                <a:sym typeface="Poppins Bold"/>
              </a:rPr>
              <a:t> DECISION </a:t>
            </a:r>
          </a:p>
          <a:p>
            <a:pPr marL="0" lvl="0" indent="0" algn="ctr">
              <a:lnSpc>
                <a:spcPts val="6719"/>
              </a:lnSpc>
              <a:spcBef>
                <a:spcPct val="0"/>
              </a:spcBef>
            </a:pPr>
            <a:r>
              <a:rPr lang="en-US" sz="7200" b="1" u="none" strike="noStrike" dirty="0">
                <a:solidFill>
                  <a:srgbClr val="3C3C50"/>
                </a:solidFill>
                <a:latin typeface="Poppins Bold"/>
                <a:ea typeface="Poppins Bold"/>
                <a:cs typeface="Poppins Bold"/>
                <a:sym typeface="Poppins Bold"/>
              </a:rPr>
              <a:t>MAKING TOOLS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459985" y="7505809"/>
            <a:ext cx="8319790" cy="471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1" dirty="0">
                <a:solidFill>
                  <a:srgbClr val="4B7229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Power BI | Tableau | Google Data Studio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676400" y="876300"/>
            <a:ext cx="8319790" cy="4030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359"/>
              </a:lnSpc>
            </a:pPr>
            <a:r>
              <a:rPr lang="en-US" sz="2400" b="1" dirty="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Workshop on Data Analysis Tools</a:t>
            </a:r>
          </a:p>
        </p:txBody>
      </p:sp>
      <p:sp>
        <p:nvSpPr>
          <p:cNvPr id="11" name="Freeform 3">
            <a:extLst>
              <a:ext uri="{FF2B5EF4-FFF2-40B4-BE49-F238E27FC236}">
                <a16:creationId xmlns:a16="http://schemas.microsoft.com/office/drawing/2014/main" id="{7958F4B3-FF62-5CC3-384B-5AD50D6F11AD}"/>
              </a:ext>
            </a:extLst>
          </p:cNvPr>
          <p:cNvSpPr/>
          <p:nvPr/>
        </p:nvSpPr>
        <p:spPr>
          <a:xfrm>
            <a:off x="609860" y="457200"/>
            <a:ext cx="800100" cy="838200"/>
          </a:xfrm>
          <a:custGeom>
            <a:avLst/>
            <a:gdLst/>
            <a:ahLst/>
            <a:cxnLst/>
            <a:rect l="l" t="t" r="r" b="b"/>
            <a:pathLst>
              <a:path w="7548480" h="7013224">
                <a:moveTo>
                  <a:pt x="0" y="0"/>
                </a:moveTo>
                <a:lnTo>
                  <a:pt x="7548480" y="0"/>
                </a:lnTo>
                <a:lnTo>
                  <a:pt x="7548480" y="7013224"/>
                </a:lnTo>
                <a:lnTo>
                  <a:pt x="0" y="70132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>
            <a:off x="1028700" y="2245076"/>
            <a:ext cx="7548480" cy="7013224"/>
          </a:xfrm>
          <a:custGeom>
            <a:avLst/>
            <a:gdLst/>
            <a:ahLst/>
            <a:cxnLst/>
            <a:rect l="l" t="t" r="r" b="b"/>
            <a:pathLst>
              <a:path w="7548480" h="7013224">
                <a:moveTo>
                  <a:pt x="0" y="0"/>
                </a:moveTo>
                <a:lnTo>
                  <a:pt x="7548480" y="0"/>
                </a:lnTo>
                <a:lnTo>
                  <a:pt x="7548480" y="7013224"/>
                </a:lnTo>
                <a:lnTo>
                  <a:pt x="0" y="70132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52294" y="2321665"/>
            <a:ext cx="6234058" cy="1716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19"/>
              </a:lnSpc>
              <a:spcBef>
                <a:spcPct val="0"/>
              </a:spcBef>
            </a:pPr>
            <a:r>
              <a:rPr lang="en-US" sz="4799" b="1" u="none" strike="noStrike" dirty="0">
                <a:solidFill>
                  <a:srgbClr val="3C3C50"/>
                </a:solidFill>
                <a:latin typeface="Poppins Bold"/>
                <a:ea typeface="Poppins Bold"/>
                <a:cs typeface="Poppins Bold"/>
                <a:sym typeface="Poppins Bold"/>
              </a:rPr>
              <a:t>WHAT IS A DATA ANALYSIS ?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52294" y="4469203"/>
            <a:ext cx="7007006" cy="3077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/>
            <a:r>
              <a:rPr lang="en-US" sz="2500" dirty="0"/>
              <a:t>Data Analysis is the process of collecting, cleaning, and studying data to find useful information and make better decisions.</a:t>
            </a:r>
          </a:p>
          <a:p>
            <a:pPr algn="just"/>
            <a:endParaRPr lang="en-US" sz="2500" dirty="0"/>
          </a:p>
          <a:p>
            <a:pPr algn="just"/>
            <a:r>
              <a:rPr lang="en-US" sz="2500" dirty="0"/>
              <a:t>It answers questions like:</a:t>
            </a:r>
          </a:p>
          <a:p>
            <a:pPr algn="just"/>
            <a:r>
              <a:rPr lang="en-US" sz="2500" dirty="0"/>
              <a:t>• What happened?</a:t>
            </a:r>
          </a:p>
          <a:p>
            <a:pPr algn="just"/>
            <a:r>
              <a:rPr lang="en-US" sz="2500" dirty="0"/>
              <a:t>• Why did it happen?</a:t>
            </a:r>
          </a:p>
          <a:p>
            <a:pPr algn="just"/>
            <a:r>
              <a:rPr lang="en-US" sz="2500" dirty="0"/>
              <a:t>• What will happen next?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Box 41"/>
          <p:cNvSpPr txBox="1"/>
          <p:nvPr/>
        </p:nvSpPr>
        <p:spPr>
          <a:xfrm>
            <a:off x="3704406" y="885825"/>
            <a:ext cx="10879187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799" b="1" dirty="0">
                <a:solidFill>
                  <a:srgbClr val="3C3C50"/>
                </a:solidFill>
                <a:latin typeface="Poppins Bold"/>
                <a:ea typeface="Poppins Bold"/>
                <a:cs typeface="Poppins Bold"/>
                <a:sym typeface="Poppins Bold"/>
              </a:rPr>
              <a:t>WHY DATA ANALYSIS IS IMPORTANT</a:t>
            </a: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90E95BE9-84B7-C424-540F-F5790E7CB14B}"/>
              </a:ext>
            </a:extLst>
          </p:cNvPr>
          <p:cNvGrpSpPr/>
          <p:nvPr/>
        </p:nvGrpSpPr>
        <p:grpSpPr>
          <a:xfrm>
            <a:off x="2735070" y="3014686"/>
            <a:ext cx="7231735" cy="2637078"/>
            <a:chOff x="2735070" y="3014686"/>
            <a:chExt cx="7231735" cy="2637078"/>
          </a:xfrm>
        </p:grpSpPr>
        <p:grpSp>
          <p:nvGrpSpPr>
            <p:cNvPr id="2" name="Group 2"/>
            <p:cNvGrpSpPr/>
            <p:nvPr/>
          </p:nvGrpSpPr>
          <p:grpSpPr>
            <a:xfrm>
              <a:off x="3389493" y="3014686"/>
              <a:ext cx="5310521" cy="2474413"/>
              <a:chOff x="0" y="0"/>
              <a:chExt cx="872205" cy="406400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0" y="0"/>
                <a:ext cx="86759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67590" h="406400">
                    <a:moveTo>
                      <a:pt x="654427" y="0"/>
                    </a:moveTo>
                    <a:lnTo>
                      <a:pt x="14578" y="0"/>
                    </a:lnTo>
                    <a:cubicBezTo>
                      <a:pt x="10712" y="0"/>
                      <a:pt x="7004" y="1536"/>
                      <a:pt x="4270" y="4270"/>
                    </a:cubicBezTo>
                    <a:cubicBezTo>
                      <a:pt x="1536" y="7004"/>
                      <a:pt x="0" y="10712"/>
                      <a:pt x="0" y="14578"/>
                    </a:cubicBezTo>
                    <a:lnTo>
                      <a:pt x="0" y="391822"/>
                    </a:lnTo>
                    <a:cubicBezTo>
                      <a:pt x="0" y="395688"/>
                      <a:pt x="1536" y="399396"/>
                      <a:pt x="4270" y="402130"/>
                    </a:cubicBezTo>
                    <a:cubicBezTo>
                      <a:pt x="7004" y="404864"/>
                      <a:pt x="10712" y="406400"/>
                      <a:pt x="14578" y="406400"/>
                    </a:cubicBezTo>
                    <a:lnTo>
                      <a:pt x="654427" y="406400"/>
                    </a:lnTo>
                    <a:cubicBezTo>
                      <a:pt x="663761" y="406400"/>
                      <a:pt x="672713" y="402692"/>
                      <a:pt x="679314" y="396091"/>
                    </a:cubicBezTo>
                    <a:lnTo>
                      <a:pt x="861897" y="213509"/>
                    </a:lnTo>
                    <a:cubicBezTo>
                      <a:pt x="867590" y="207815"/>
                      <a:pt x="867590" y="198585"/>
                      <a:pt x="861897" y="192891"/>
                    </a:cubicBezTo>
                    <a:lnTo>
                      <a:pt x="679314" y="10309"/>
                    </a:lnTo>
                    <a:cubicBezTo>
                      <a:pt x="672713" y="3708"/>
                      <a:pt x="663761" y="0"/>
                      <a:pt x="654427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4" name="TextBox 4"/>
              <p:cNvSpPr txBox="1"/>
              <p:nvPr/>
            </p:nvSpPr>
            <p:spPr>
              <a:xfrm>
                <a:off x="0" y="-57150"/>
                <a:ext cx="757905" cy="463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 rot="8100000">
              <a:off x="6944937" y="4271795"/>
              <a:ext cx="3021868" cy="1379969"/>
              <a:chOff x="0" y="0"/>
              <a:chExt cx="812800" cy="37117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53532" y="26973"/>
                <a:ext cx="705735" cy="344201"/>
              </a:xfrm>
              <a:custGeom>
                <a:avLst/>
                <a:gdLst/>
                <a:ahLst/>
                <a:cxnLst/>
                <a:rect l="l" t="t" r="r" b="b"/>
                <a:pathLst>
                  <a:path w="705735" h="344201">
                    <a:moveTo>
                      <a:pt x="420970" y="35226"/>
                    </a:moveTo>
                    <a:lnTo>
                      <a:pt x="691166" y="282002"/>
                    </a:lnTo>
                    <a:cubicBezTo>
                      <a:pt x="702070" y="291961"/>
                      <a:pt x="705736" y="307595"/>
                      <a:pt x="700395" y="321362"/>
                    </a:cubicBezTo>
                    <a:cubicBezTo>
                      <a:pt x="695054" y="335129"/>
                      <a:pt x="681804" y="344201"/>
                      <a:pt x="667037" y="344201"/>
                    </a:cubicBezTo>
                    <a:lnTo>
                      <a:pt x="38699" y="344201"/>
                    </a:lnTo>
                    <a:cubicBezTo>
                      <a:pt x="23932" y="344201"/>
                      <a:pt x="10682" y="335129"/>
                      <a:pt x="5341" y="321362"/>
                    </a:cubicBezTo>
                    <a:cubicBezTo>
                      <a:pt x="0" y="307595"/>
                      <a:pt x="3666" y="291961"/>
                      <a:pt x="14570" y="282002"/>
                    </a:cubicBezTo>
                    <a:lnTo>
                      <a:pt x="284766" y="35226"/>
                    </a:lnTo>
                    <a:cubicBezTo>
                      <a:pt x="323335" y="0"/>
                      <a:pt x="382401" y="0"/>
                      <a:pt x="420970" y="35226"/>
                    </a:cubicBezTo>
                    <a:close/>
                  </a:path>
                </a:pathLst>
              </a:custGeom>
              <a:solidFill>
                <a:srgbClr val="717092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27000" y="115181"/>
                <a:ext cx="558800" cy="22948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2735070" y="3014686"/>
              <a:ext cx="402822" cy="2474413"/>
              <a:chOff x="0" y="0"/>
              <a:chExt cx="106093" cy="651697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106093" cy="651697"/>
              </a:xfrm>
              <a:custGeom>
                <a:avLst/>
                <a:gdLst/>
                <a:ahLst/>
                <a:cxnLst/>
                <a:rect l="l" t="t" r="r" b="b"/>
                <a:pathLst>
                  <a:path w="106093" h="651697">
                    <a:moveTo>
                      <a:pt x="53047" y="0"/>
                    </a:moveTo>
                    <a:lnTo>
                      <a:pt x="53047" y="0"/>
                    </a:lnTo>
                    <a:cubicBezTo>
                      <a:pt x="67115" y="0"/>
                      <a:pt x="80608" y="5589"/>
                      <a:pt x="90556" y="15537"/>
                    </a:cubicBezTo>
                    <a:cubicBezTo>
                      <a:pt x="100504" y="25485"/>
                      <a:pt x="106093" y="38978"/>
                      <a:pt x="106093" y="53047"/>
                    </a:cubicBezTo>
                    <a:lnTo>
                      <a:pt x="106093" y="598651"/>
                    </a:lnTo>
                    <a:cubicBezTo>
                      <a:pt x="106093" y="627948"/>
                      <a:pt x="82343" y="651697"/>
                      <a:pt x="53047" y="651697"/>
                    </a:cubicBezTo>
                    <a:lnTo>
                      <a:pt x="53047" y="651697"/>
                    </a:lnTo>
                    <a:cubicBezTo>
                      <a:pt x="23750" y="651697"/>
                      <a:pt x="0" y="627948"/>
                      <a:pt x="0" y="598651"/>
                    </a:cubicBezTo>
                    <a:lnTo>
                      <a:pt x="0" y="53047"/>
                    </a:lnTo>
                    <a:cubicBezTo>
                      <a:pt x="0" y="23750"/>
                      <a:pt x="23750" y="0"/>
                      <a:pt x="53047" y="0"/>
                    </a:cubicBezTo>
                    <a:close/>
                  </a:path>
                </a:pathLst>
              </a:custGeom>
              <a:solidFill>
                <a:srgbClr val="717092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57150"/>
                <a:ext cx="106093" cy="7088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8" name="Freeform 38"/>
            <p:cNvSpPr/>
            <p:nvPr/>
          </p:nvSpPr>
          <p:spPr>
            <a:xfrm>
              <a:off x="8006244" y="4535565"/>
              <a:ext cx="660399" cy="660399"/>
            </a:xfrm>
            <a:custGeom>
              <a:avLst/>
              <a:gdLst/>
              <a:ahLst/>
              <a:cxnLst/>
              <a:rect l="l" t="t" r="r" b="b"/>
              <a:pathLst>
                <a:path w="660399" h="660399">
                  <a:moveTo>
                    <a:pt x="0" y="0"/>
                  </a:moveTo>
                  <a:lnTo>
                    <a:pt x="660399" y="0"/>
                  </a:lnTo>
                  <a:lnTo>
                    <a:pt x="660399" y="660399"/>
                  </a:lnTo>
                  <a:lnTo>
                    <a:pt x="0" y="660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3993912" y="3549466"/>
              <a:ext cx="2572348" cy="119128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19"/>
                </a:lnSpc>
              </a:pPr>
              <a:r>
                <a:rPr lang="en-US" sz="2299" b="1" dirty="0">
                  <a:solidFill>
                    <a:srgbClr val="3C3C50"/>
                  </a:solidFill>
                  <a:latin typeface="Lato Bold"/>
                  <a:ea typeface="Lato Bold"/>
                  <a:cs typeface="Lato Bold"/>
                  <a:sym typeface="Lato Bold"/>
                </a:rPr>
                <a:t>Helps to make decisions based on facts</a:t>
              </a:r>
            </a:p>
          </p:txBody>
        </p:sp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B299B67F-A95C-2F76-CD0B-623D92D50C14}"/>
              </a:ext>
            </a:extLst>
          </p:cNvPr>
          <p:cNvGrpSpPr/>
          <p:nvPr/>
        </p:nvGrpSpPr>
        <p:grpSpPr>
          <a:xfrm>
            <a:off x="2735070" y="4830743"/>
            <a:ext cx="6410785" cy="3399469"/>
            <a:chOff x="2735070" y="4830743"/>
            <a:chExt cx="6410785" cy="3399469"/>
          </a:xfrm>
        </p:grpSpPr>
        <p:grpSp>
          <p:nvGrpSpPr>
            <p:cNvPr id="5" name="Group 5"/>
            <p:cNvGrpSpPr/>
            <p:nvPr/>
          </p:nvGrpSpPr>
          <p:grpSpPr>
            <a:xfrm>
              <a:off x="3389493" y="5755799"/>
              <a:ext cx="5310521" cy="2474413"/>
              <a:chOff x="0" y="0"/>
              <a:chExt cx="872205" cy="406400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86759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67590" h="406400">
                    <a:moveTo>
                      <a:pt x="654427" y="0"/>
                    </a:moveTo>
                    <a:lnTo>
                      <a:pt x="14578" y="0"/>
                    </a:lnTo>
                    <a:cubicBezTo>
                      <a:pt x="10712" y="0"/>
                      <a:pt x="7004" y="1536"/>
                      <a:pt x="4270" y="4270"/>
                    </a:cubicBezTo>
                    <a:cubicBezTo>
                      <a:pt x="1536" y="7004"/>
                      <a:pt x="0" y="10712"/>
                      <a:pt x="0" y="14578"/>
                    </a:cubicBezTo>
                    <a:lnTo>
                      <a:pt x="0" y="391822"/>
                    </a:lnTo>
                    <a:cubicBezTo>
                      <a:pt x="0" y="395688"/>
                      <a:pt x="1536" y="399396"/>
                      <a:pt x="4270" y="402130"/>
                    </a:cubicBezTo>
                    <a:cubicBezTo>
                      <a:pt x="7004" y="404864"/>
                      <a:pt x="10712" y="406400"/>
                      <a:pt x="14578" y="406400"/>
                    </a:cubicBezTo>
                    <a:lnTo>
                      <a:pt x="654427" y="406400"/>
                    </a:lnTo>
                    <a:cubicBezTo>
                      <a:pt x="663761" y="406400"/>
                      <a:pt x="672713" y="402692"/>
                      <a:pt x="679314" y="396091"/>
                    </a:cubicBezTo>
                    <a:lnTo>
                      <a:pt x="861897" y="213509"/>
                    </a:lnTo>
                    <a:cubicBezTo>
                      <a:pt x="867590" y="207815"/>
                      <a:pt x="867590" y="198585"/>
                      <a:pt x="861897" y="192891"/>
                    </a:cubicBezTo>
                    <a:lnTo>
                      <a:pt x="679314" y="10309"/>
                    </a:lnTo>
                    <a:cubicBezTo>
                      <a:pt x="672713" y="3708"/>
                      <a:pt x="663761" y="0"/>
                      <a:pt x="654427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57150"/>
                <a:ext cx="757905" cy="463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 rot="2700000">
              <a:off x="6944937" y="5651692"/>
              <a:ext cx="3021868" cy="1379969"/>
              <a:chOff x="0" y="0"/>
              <a:chExt cx="812800" cy="371174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53532" y="26973"/>
                <a:ext cx="705735" cy="344201"/>
              </a:xfrm>
              <a:custGeom>
                <a:avLst/>
                <a:gdLst/>
                <a:ahLst/>
                <a:cxnLst/>
                <a:rect l="l" t="t" r="r" b="b"/>
                <a:pathLst>
                  <a:path w="705735" h="344201">
                    <a:moveTo>
                      <a:pt x="420970" y="35226"/>
                    </a:moveTo>
                    <a:lnTo>
                      <a:pt x="691166" y="282002"/>
                    </a:lnTo>
                    <a:cubicBezTo>
                      <a:pt x="702070" y="291961"/>
                      <a:pt x="705736" y="307595"/>
                      <a:pt x="700395" y="321362"/>
                    </a:cubicBezTo>
                    <a:cubicBezTo>
                      <a:pt x="695054" y="335129"/>
                      <a:pt x="681804" y="344201"/>
                      <a:pt x="667037" y="344201"/>
                    </a:cubicBezTo>
                    <a:lnTo>
                      <a:pt x="38699" y="344201"/>
                    </a:lnTo>
                    <a:cubicBezTo>
                      <a:pt x="23932" y="344201"/>
                      <a:pt x="10682" y="335129"/>
                      <a:pt x="5341" y="321362"/>
                    </a:cubicBezTo>
                    <a:cubicBezTo>
                      <a:pt x="0" y="307595"/>
                      <a:pt x="3666" y="291961"/>
                      <a:pt x="14570" y="282002"/>
                    </a:cubicBezTo>
                    <a:lnTo>
                      <a:pt x="284766" y="35226"/>
                    </a:lnTo>
                    <a:cubicBezTo>
                      <a:pt x="323335" y="0"/>
                      <a:pt x="382401" y="0"/>
                      <a:pt x="420970" y="35226"/>
                    </a:cubicBezTo>
                    <a:close/>
                  </a:path>
                </a:pathLst>
              </a:custGeom>
              <a:solidFill>
                <a:srgbClr val="A1B4A2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27000" y="115181"/>
                <a:ext cx="558800" cy="22948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2735070" y="5755799"/>
              <a:ext cx="402822" cy="2474413"/>
              <a:chOff x="0" y="0"/>
              <a:chExt cx="106093" cy="651697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106093" cy="651697"/>
              </a:xfrm>
              <a:custGeom>
                <a:avLst/>
                <a:gdLst/>
                <a:ahLst/>
                <a:cxnLst/>
                <a:rect l="l" t="t" r="r" b="b"/>
                <a:pathLst>
                  <a:path w="106093" h="651697">
                    <a:moveTo>
                      <a:pt x="53047" y="0"/>
                    </a:moveTo>
                    <a:lnTo>
                      <a:pt x="53047" y="0"/>
                    </a:lnTo>
                    <a:cubicBezTo>
                      <a:pt x="67115" y="0"/>
                      <a:pt x="80608" y="5589"/>
                      <a:pt x="90556" y="15537"/>
                    </a:cubicBezTo>
                    <a:cubicBezTo>
                      <a:pt x="100504" y="25485"/>
                      <a:pt x="106093" y="38978"/>
                      <a:pt x="106093" y="53047"/>
                    </a:cubicBezTo>
                    <a:lnTo>
                      <a:pt x="106093" y="598651"/>
                    </a:lnTo>
                    <a:cubicBezTo>
                      <a:pt x="106093" y="627948"/>
                      <a:pt x="82343" y="651697"/>
                      <a:pt x="53047" y="651697"/>
                    </a:cubicBezTo>
                    <a:lnTo>
                      <a:pt x="53047" y="651697"/>
                    </a:lnTo>
                    <a:cubicBezTo>
                      <a:pt x="23750" y="651697"/>
                      <a:pt x="0" y="627948"/>
                      <a:pt x="0" y="598651"/>
                    </a:cubicBezTo>
                    <a:lnTo>
                      <a:pt x="0" y="53047"/>
                    </a:lnTo>
                    <a:cubicBezTo>
                      <a:pt x="0" y="23750"/>
                      <a:pt x="23750" y="0"/>
                      <a:pt x="53047" y="0"/>
                    </a:cubicBezTo>
                    <a:close/>
                  </a:path>
                </a:pathLst>
              </a:custGeom>
              <a:solidFill>
                <a:srgbClr val="A1B4A2"/>
              </a:solidFill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0" y="-57150"/>
                <a:ext cx="106093" cy="7088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0" name="Freeform 40"/>
            <p:cNvSpPr/>
            <p:nvPr/>
          </p:nvSpPr>
          <p:spPr>
            <a:xfrm>
              <a:off x="8006244" y="6078288"/>
              <a:ext cx="660399" cy="660399"/>
            </a:xfrm>
            <a:custGeom>
              <a:avLst/>
              <a:gdLst/>
              <a:ahLst/>
              <a:cxnLst/>
              <a:rect l="l" t="t" r="r" b="b"/>
              <a:pathLst>
                <a:path w="660399" h="660399">
                  <a:moveTo>
                    <a:pt x="0" y="0"/>
                  </a:moveTo>
                  <a:lnTo>
                    <a:pt x="660399" y="0"/>
                  </a:lnTo>
                  <a:lnTo>
                    <a:pt x="660399" y="660399"/>
                  </a:lnTo>
                  <a:lnTo>
                    <a:pt x="0" y="66039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993912" y="6408487"/>
              <a:ext cx="2572348" cy="780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219"/>
                </a:lnSpc>
              </a:pPr>
              <a:r>
                <a:rPr lang="en-US" sz="2299" b="1" dirty="0">
                  <a:solidFill>
                    <a:srgbClr val="3C3C50"/>
                  </a:solidFill>
                  <a:latin typeface="Lato Bold"/>
                  <a:ea typeface="Lato Bold"/>
                  <a:cs typeface="Lato Bold"/>
                  <a:sym typeface="Lato Bold"/>
                </a:rPr>
                <a:t>Predicts future outcomes</a:t>
              </a:r>
            </a:p>
          </p:txBody>
        </p: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EBBF026F-204B-2294-E540-FF27B9EC58D4}"/>
              </a:ext>
            </a:extLst>
          </p:cNvPr>
          <p:cNvGrpSpPr/>
          <p:nvPr/>
        </p:nvGrpSpPr>
        <p:grpSpPr>
          <a:xfrm>
            <a:off x="8559312" y="5737290"/>
            <a:ext cx="6993618" cy="2492922"/>
            <a:chOff x="8559312" y="5737290"/>
            <a:chExt cx="6993618" cy="2492922"/>
          </a:xfrm>
        </p:grpSpPr>
        <p:grpSp>
          <p:nvGrpSpPr>
            <p:cNvPr id="11" name="Group 11"/>
            <p:cNvGrpSpPr/>
            <p:nvPr/>
          </p:nvGrpSpPr>
          <p:grpSpPr>
            <a:xfrm rot="10800000">
              <a:off x="9591937" y="5755799"/>
              <a:ext cx="5310521" cy="2474413"/>
              <a:chOff x="0" y="0"/>
              <a:chExt cx="872205" cy="4064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6759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67590" h="406400">
                    <a:moveTo>
                      <a:pt x="654427" y="0"/>
                    </a:moveTo>
                    <a:lnTo>
                      <a:pt x="14578" y="0"/>
                    </a:lnTo>
                    <a:cubicBezTo>
                      <a:pt x="10712" y="0"/>
                      <a:pt x="7004" y="1536"/>
                      <a:pt x="4270" y="4270"/>
                    </a:cubicBezTo>
                    <a:cubicBezTo>
                      <a:pt x="1536" y="7004"/>
                      <a:pt x="0" y="10712"/>
                      <a:pt x="0" y="14578"/>
                    </a:cubicBezTo>
                    <a:lnTo>
                      <a:pt x="0" y="391822"/>
                    </a:lnTo>
                    <a:cubicBezTo>
                      <a:pt x="0" y="395688"/>
                      <a:pt x="1536" y="399396"/>
                      <a:pt x="4270" y="402130"/>
                    </a:cubicBezTo>
                    <a:cubicBezTo>
                      <a:pt x="7004" y="404864"/>
                      <a:pt x="10712" y="406400"/>
                      <a:pt x="14578" y="406400"/>
                    </a:cubicBezTo>
                    <a:lnTo>
                      <a:pt x="654427" y="406400"/>
                    </a:lnTo>
                    <a:cubicBezTo>
                      <a:pt x="663761" y="406400"/>
                      <a:pt x="672713" y="402692"/>
                      <a:pt x="679314" y="396091"/>
                    </a:cubicBezTo>
                    <a:lnTo>
                      <a:pt x="861897" y="213509"/>
                    </a:lnTo>
                    <a:cubicBezTo>
                      <a:pt x="867590" y="207815"/>
                      <a:pt x="867590" y="198585"/>
                      <a:pt x="861897" y="192891"/>
                    </a:cubicBezTo>
                    <a:lnTo>
                      <a:pt x="679314" y="10309"/>
                    </a:lnTo>
                    <a:cubicBezTo>
                      <a:pt x="672713" y="3708"/>
                      <a:pt x="663761" y="0"/>
                      <a:pt x="654427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57150"/>
                <a:ext cx="757905" cy="463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 rot="18900000">
              <a:off x="8559312" y="5737290"/>
              <a:ext cx="2623816" cy="1279687"/>
              <a:chOff x="53532" y="26973"/>
              <a:chExt cx="705735" cy="344201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53532" y="26973"/>
                <a:ext cx="705735" cy="344201"/>
              </a:xfrm>
              <a:custGeom>
                <a:avLst/>
                <a:gdLst/>
                <a:ahLst/>
                <a:cxnLst/>
                <a:rect l="l" t="t" r="r" b="b"/>
                <a:pathLst>
                  <a:path w="705735" h="344201">
                    <a:moveTo>
                      <a:pt x="420970" y="35226"/>
                    </a:moveTo>
                    <a:lnTo>
                      <a:pt x="691166" y="282002"/>
                    </a:lnTo>
                    <a:cubicBezTo>
                      <a:pt x="702070" y="291961"/>
                      <a:pt x="705736" y="307595"/>
                      <a:pt x="700395" y="321362"/>
                    </a:cubicBezTo>
                    <a:cubicBezTo>
                      <a:pt x="695054" y="335129"/>
                      <a:pt x="681804" y="344201"/>
                      <a:pt x="667037" y="344201"/>
                    </a:cubicBezTo>
                    <a:lnTo>
                      <a:pt x="38699" y="344201"/>
                    </a:lnTo>
                    <a:cubicBezTo>
                      <a:pt x="23932" y="344201"/>
                      <a:pt x="10682" y="335129"/>
                      <a:pt x="5341" y="321362"/>
                    </a:cubicBezTo>
                    <a:cubicBezTo>
                      <a:pt x="0" y="307595"/>
                      <a:pt x="3666" y="291961"/>
                      <a:pt x="14570" y="282002"/>
                    </a:cubicBezTo>
                    <a:lnTo>
                      <a:pt x="284766" y="35226"/>
                    </a:lnTo>
                    <a:cubicBezTo>
                      <a:pt x="323335" y="0"/>
                      <a:pt x="382401" y="0"/>
                      <a:pt x="420970" y="35226"/>
                    </a:cubicBezTo>
                    <a:close/>
                  </a:path>
                </a:pathLst>
              </a:custGeom>
              <a:solidFill>
                <a:srgbClr val="7DA2A9"/>
              </a:solidFill>
            </p:spPr>
            <p:txBody>
              <a:bodyPr/>
              <a:lstStyle/>
              <a:p>
                <a:endParaRPr lang="en-IN" dirty="0"/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27000" y="115181"/>
                <a:ext cx="558800" cy="22948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dirty="0"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15150108" y="5755799"/>
              <a:ext cx="402822" cy="2474413"/>
              <a:chOff x="0" y="0"/>
              <a:chExt cx="106093" cy="651697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106093" cy="651697"/>
              </a:xfrm>
              <a:custGeom>
                <a:avLst/>
                <a:gdLst/>
                <a:ahLst/>
                <a:cxnLst/>
                <a:rect l="l" t="t" r="r" b="b"/>
                <a:pathLst>
                  <a:path w="106093" h="651697">
                    <a:moveTo>
                      <a:pt x="53047" y="0"/>
                    </a:moveTo>
                    <a:lnTo>
                      <a:pt x="53047" y="0"/>
                    </a:lnTo>
                    <a:cubicBezTo>
                      <a:pt x="67115" y="0"/>
                      <a:pt x="80608" y="5589"/>
                      <a:pt x="90556" y="15537"/>
                    </a:cubicBezTo>
                    <a:cubicBezTo>
                      <a:pt x="100504" y="25485"/>
                      <a:pt x="106093" y="38978"/>
                      <a:pt x="106093" y="53047"/>
                    </a:cubicBezTo>
                    <a:lnTo>
                      <a:pt x="106093" y="598651"/>
                    </a:lnTo>
                    <a:cubicBezTo>
                      <a:pt x="106093" y="627948"/>
                      <a:pt x="82343" y="651697"/>
                      <a:pt x="53047" y="651697"/>
                    </a:cubicBezTo>
                    <a:lnTo>
                      <a:pt x="53047" y="651697"/>
                    </a:lnTo>
                    <a:cubicBezTo>
                      <a:pt x="23750" y="651697"/>
                      <a:pt x="0" y="627948"/>
                      <a:pt x="0" y="598651"/>
                    </a:cubicBezTo>
                    <a:lnTo>
                      <a:pt x="0" y="53047"/>
                    </a:lnTo>
                    <a:cubicBezTo>
                      <a:pt x="0" y="23750"/>
                      <a:pt x="23750" y="0"/>
                      <a:pt x="53047" y="0"/>
                    </a:cubicBezTo>
                    <a:close/>
                  </a:path>
                </a:pathLst>
              </a:custGeom>
              <a:solidFill>
                <a:srgbClr val="7DA2A9"/>
              </a:solidFill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0" y="-57150"/>
                <a:ext cx="106093" cy="7088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5" name="TextBox 45"/>
            <p:cNvSpPr txBox="1"/>
            <p:nvPr/>
          </p:nvSpPr>
          <p:spPr>
            <a:xfrm>
              <a:off x="11654911" y="6220335"/>
              <a:ext cx="2928682" cy="1191288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219"/>
                </a:lnSpc>
              </a:pPr>
              <a:r>
                <a:rPr lang="en-US" sz="2299" b="1" dirty="0">
                  <a:solidFill>
                    <a:srgbClr val="3C3C50"/>
                  </a:solidFill>
                  <a:latin typeface="Lato Bold"/>
                  <a:ea typeface="Lato Bold"/>
                  <a:cs typeface="Lato Bold"/>
                  <a:sym typeface="Lato Bold"/>
                </a:rPr>
                <a:t>Used in all field:</a:t>
              </a:r>
            </a:p>
            <a:p>
              <a:pPr>
                <a:lnSpc>
                  <a:spcPts val="3219"/>
                </a:lnSpc>
              </a:pPr>
              <a:r>
                <a:rPr lang="en-US" sz="2299" b="1" dirty="0" err="1">
                  <a:solidFill>
                    <a:srgbClr val="3C3C50"/>
                  </a:solidFill>
                  <a:latin typeface="Lato Bold"/>
                  <a:ea typeface="Lato Bold"/>
                  <a:cs typeface="Lato Bold"/>
                  <a:sym typeface="Lato Bold"/>
                </a:rPr>
                <a:t>Business,Health</a:t>
              </a:r>
              <a:r>
                <a:rPr lang="en-US" sz="2299" b="1" dirty="0">
                  <a:solidFill>
                    <a:srgbClr val="3C3C50"/>
                  </a:solidFill>
                  <a:latin typeface="Lato Bold"/>
                  <a:ea typeface="Lato Bold"/>
                  <a:cs typeface="Lato Bold"/>
                  <a:sym typeface="Lato Bold"/>
                </a:rPr>
                <a:t>,</a:t>
              </a:r>
            </a:p>
            <a:p>
              <a:pPr>
                <a:lnSpc>
                  <a:spcPts val="3219"/>
                </a:lnSpc>
              </a:pPr>
              <a:r>
                <a:rPr lang="en-US" sz="2299" b="1" dirty="0" err="1">
                  <a:solidFill>
                    <a:srgbClr val="3C3C50"/>
                  </a:solidFill>
                  <a:latin typeface="Lato Bold"/>
                  <a:ea typeface="Lato Bold"/>
                  <a:cs typeface="Lato Bold"/>
                  <a:sym typeface="Lato Bold"/>
                </a:rPr>
                <a:t>Education,Engineering</a:t>
              </a:r>
              <a:endParaRPr lang="en-US" sz="2299" b="1" dirty="0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endParaRPr>
            </a:p>
          </p:txBody>
        </p:sp>
        <p:sp>
          <p:nvSpPr>
            <p:cNvPr id="50" name="Freeform 50"/>
            <p:cNvSpPr/>
            <p:nvPr/>
          </p:nvSpPr>
          <p:spPr>
            <a:xfrm>
              <a:off x="9520994" y="6034915"/>
              <a:ext cx="722154" cy="703772"/>
            </a:xfrm>
            <a:custGeom>
              <a:avLst/>
              <a:gdLst/>
              <a:ahLst/>
              <a:cxnLst/>
              <a:rect l="l" t="t" r="r" b="b"/>
              <a:pathLst>
                <a:path w="722154" h="703772">
                  <a:moveTo>
                    <a:pt x="0" y="0"/>
                  </a:moveTo>
                  <a:lnTo>
                    <a:pt x="722155" y="0"/>
                  </a:lnTo>
                  <a:lnTo>
                    <a:pt x="722155" y="703772"/>
                  </a:lnTo>
                  <a:lnTo>
                    <a:pt x="0" y="7037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869E93BD-DC80-C1DA-2EF4-C6AC3FAD5A4C}"/>
              </a:ext>
            </a:extLst>
          </p:cNvPr>
          <p:cNvGrpSpPr/>
          <p:nvPr/>
        </p:nvGrpSpPr>
        <p:grpSpPr>
          <a:xfrm>
            <a:off x="9235516" y="2947790"/>
            <a:ext cx="6407148" cy="3458028"/>
            <a:chOff x="10082773" y="2468392"/>
            <a:chExt cx="6407148" cy="3458028"/>
          </a:xfrm>
        </p:grpSpPr>
        <p:grpSp>
          <p:nvGrpSpPr>
            <p:cNvPr id="8" name="Group 8"/>
            <p:cNvGrpSpPr/>
            <p:nvPr/>
          </p:nvGrpSpPr>
          <p:grpSpPr>
            <a:xfrm rot="10800000">
              <a:off x="10528928" y="2468392"/>
              <a:ext cx="5310521" cy="2474413"/>
              <a:chOff x="0" y="0"/>
              <a:chExt cx="872205" cy="4064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67590" cy="406400"/>
              </a:xfrm>
              <a:custGeom>
                <a:avLst/>
                <a:gdLst/>
                <a:ahLst/>
                <a:cxnLst/>
                <a:rect l="l" t="t" r="r" b="b"/>
                <a:pathLst>
                  <a:path w="867590" h="406400">
                    <a:moveTo>
                      <a:pt x="654427" y="0"/>
                    </a:moveTo>
                    <a:lnTo>
                      <a:pt x="14578" y="0"/>
                    </a:lnTo>
                    <a:cubicBezTo>
                      <a:pt x="10712" y="0"/>
                      <a:pt x="7004" y="1536"/>
                      <a:pt x="4270" y="4270"/>
                    </a:cubicBezTo>
                    <a:cubicBezTo>
                      <a:pt x="1536" y="7004"/>
                      <a:pt x="0" y="10712"/>
                      <a:pt x="0" y="14578"/>
                    </a:cubicBezTo>
                    <a:lnTo>
                      <a:pt x="0" y="391822"/>
                    </a:lnTo>
                    <a:cubicBezTo>
                      <a:pt x="0" y="395688"/>
                      <a:pt x="1536" y="399396"/>
                      <a:pt x="4270" y="402130"/>
                    </a:cubicBezTo>
                    <a:cubicBezTo>
                      <a:pt x="7004" y="404864"/>
                      <a:pt x="10712" y="406400"/>
                      <a:pt x="14578" y="406400"/>
                    </a:cubicBezTo>
                    <a:lnTo>
                      <a:pt x="654427" y="406400"/>
                    </a:lnTo>
                    <a:cubicBezTo>
                      <a:pt x="663761" y="406400"/>
                      <a:pt x="672713" y="402692"/>
                      <a:pt x="679314" y="396091"/>
                    </a:cubicBezTo>
                    <a:lnTo>
                      <a:pt x="861897" y="213509"/>
                    </a:lnTo>
                    <a:cubicBezTo>
                      <a:pt x="867590" y="207815"/>
                      <a:pt x="867590" y="198585"/>
                      <a:pt x="861897" y="192891"/>
                    </a:cubicBezTo>
                    <a:lnTo>
                      <a:pt x="679314" y="10309"/>
                    </a:lnTo>
                    <a:cubicBezTo>
                      <a:pt x="672713" y="3708"/>
                      <a:pt x="663761" y="0"/>
                      <a:pt x="654427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57150"/>
                <a:ext cx="757905" cy="463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16087099" y="2468392"/>
              <a:ext cx="402822" cy="2474413"/>
              <a:chOff x="0" y="0"/>
              <a:chExt cx="106093" cy="651697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106093" cy="651697"/>
              </a:xfrm>
              <a:custGeom>
                <a:avLst/>
                <a:gdLst/>
                <a:ahLst/>
                <a:cxnLst/>
                <a:rect l="l" t="t" r="r" b="b"/>
                <a:pathLst>
                  <a:path w="106093" h="651697">
                    <a:moveTo>
                      <a:pt x="53047" y="0"/>
                    </a:moveTo>
                    <a:lnTo>
                      <a:pt x="53047" y="0"/>
                    </a:lnTo>
                    <a:cubicBezTo>
                      <a:pt x="67115" y="0"/>
                      <a:pt x="80608" y="5589"/>
                      <a:pt x="90556" y="15537"/>
                    </a:cubicBezTo>
                    <a:cubicBezTo>
                      <a:pt x="100504" y="25485"/>
                      <a:pt x="106093" y="38978"/>
                      <a:pt x="106093" y="53047"/>
                    </a:cubicBezTo>
                    <a:lnTo>
                      <a:pt x="106093" y="598651"/>
                    </a:lnTo>
                    <a:cubicBezTo>
                      <a:pt x="106093" y="627948"/>
                      <a:pt x="82343" y="651697"/>
                      <a:pt x="53047" y="651697"/>
                    </a:cubicBezTo>
                    <a:lnTo>
                      <a:pt x="53047" y="651697"/>
                    </a:lnTo>
                    <a:cubicBezTo>
                      <a:pt x="23750" y="651697"/>
                      <a:pt x="0" y="627948"/>
                      <a:pt x="0" y="598651"/>
                    </a:cubicBezTo>
                    <a:lnTo>
                      <a:pt x="0" y="53047"/>
                    </a:lnTo>
                    <a:cubicBezTo>
                      <a:pt x="0" y="23750"/>
                      <a:pt x="23750" y="0"/>
                      <a:pt x="53047" y="0"/>
                    </a:cubicBezTo>
                    <a:close/>
                  </a:path>
                </a:pathLst>
              </a:custGeom>
              <a:solidFill>
                <a:srgbClr val="D9B98B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0" y="-57150"/>
                <a:ext cx="106093" cy="70884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4" name="TextBox 44"/>
            <p:cNvSpPr txBox="1"/>
            <p:nvPr/>
          </p:nvSpPr>
          <p:spPr>
            <a:xfrm>
              <a:off x="12634668" y="3141156"/>
              <a:ext cx="2572348" cy="7809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219"/>
                </a:lnSpc>
              </a:pPr>
              <a:r>
                <a:rPr lang="en-US" sz="2299" b="1" dirty="0">
                  <a:solidFill>
                    <a:srgbClr val="3C3C50"/>
                  </a:solidFill>
                  <a:latin typeface="Lato Bold"/>
                  <a:ea typeface="Lato Bold"/>
                  <a:cs typeface="Lato Bold"/>
                  <a:sym typeface="Lato Bold"/>
                </a:rPr>
                <a:t>Finds patterns and trends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 rot="13500000">
              <a:off x="9261824" y="3725501"/>
              <a:ext cx="3021868" cy="1379969"/>
              <a:chOff x="0" y="0"/>
              <a:chExt cx="812800" cy="371174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53532" y="26973"/>
                <a:ext cx="705735" cy="344201"/>
              </a:xfrm>
              <a:custGeom>
                <a:avLst/>
                <a:gdLst/>
                <a:ahLst/>
                <a:cxnLst/>
                <a:rect l="l" t="t" r="r" b="b"/>
                <a:pathLst>
                  <a:path w="705735" h="344201">
                    <a:moveTo>
                      <a:pt x="420970" y="35226"/>
                    </a:moveTo>
                    <a:lnTo>
                      <a:pt x="691166" y="282002"/>
                    </a:lnTo>
                    <a:cubicBezTo>
                      <a:pt x="702070" y="291961"/>
                      <a:pt x="705736" y="307595"/>
                      <a:pt x="700395" y="321362"/>
                    </a:cubicBezTo>
                    <a:cubicBezTo>
                      <a:pt x="695054" y="335129"/>
                      <a:pt x="681804" y="344201"/>
                      <a:pt x="667037" y="344201"/>
                    </a:cubicBezTo>
                    <a:lnTo>
                      <a:pt x="38699" y="344201"/>
                    </a:lnTo>
                    <a:cubicBezTo>
                      <a:pt x="23932" y="344201"/>
                      <a:pt x="10682" y="335129"/>
                      <a:pt x="5341" y="321362"/>
                    </a:cubicBezTo>
                    <a:cubicBezTo>
                      <a:pt x="0" y="307595"/>
                      <a:pt x="3666" y="291961"/>
                      <a:pt x="14570" y="282002"/>
                    </a:cubicBezTo>
                    <a:lnTo>
                      <a:pt x="284766" y="35226"/>
                    </a:lnTo>
                    <a:cubicBezTo>
                      <a:pt x="323335" y="0"/>
                      <a:pt x="382401" y="0"/>
                      <a:pt x="420970" y="35226"/>
                    </a:cubicBezTo>
                    <a:close/>
                  </a:path>
                </a:pathLst>
              </a:custGeom>
              <a:solidFill>
                <a:srgbClr val="D9B98B"/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127000" y="115181"/>
                <a:ext cx="558800" cy="22948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 dirty="0"/>
              </a:p>
            </p:txBody>
          </p:sp>
        </p:grpSp>
        <p:sp>
          <p:nvSpPr>
            <p:cNvPr id="39" name="Freeform 39"/>
            <p:cNvSpPr/>
            <p:nvPr/>
          </p:nvSpPr>
          <p:spPr>
            <a:xfrm>
              <a:off x="10568389" y="3857317"/>
              <a:ext cx="645106" cy="706789"/>
            </a:xfrm>
            <a:custGeom>
              <a:avLst/>
              <a:gdLst/>
              <a:ahLst/>
              <a:cxnLst/>
              <a:rect l="l" t="t" r="r" b="b"/>
              <a:pathLst>
                <a:path w="645106" h="706789">
                  <a:moveTo>
                    <a:pt x="0" y="0"/>
                  </a:moveTo>
                  <a:lnTo>
                    <a:pt x="645105" y="0"/>
                  </a:lnTo>
                  <a:lnTo>
                    <a:pt x="645105" y="706789"/>
                  </a:lnTo>
                  <a:lnTo>
                    <a:pt x="0" y="7067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extBox 37"/>
          <p:cNvSpPr txBox="1"/>
          <p:nvPr/>
        </p:nvSpPr>
        <p:spPr>
          <a:xfrm>
            <a:off x="4835351" y="885825"/>
            <a:ext cx="9223800" cy="8166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799" b="1" dirty="0">
                <a:solidFill>
                  <a:srgbClr val="3C3C50"/>
                </a:solidFill>
                <a:latin typeface="Poppins Bold"/>
                <a:ea typeface="Poppins Bold"/>
                <a:cs typeface="Poppins Bold"/>
                <a:sym typeface="Poppins Bold"/>
              </a:rPr>
              <a:t>DATA ANALYTICS LIFE CYCLE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311272F-F022-F0E7-D868-641C2F283C1E}"/>
              </a:ext>
            </a:extLst>
          </p:cNvPr>
          <p:cNvGrpSpPr/>
          <p:nvPr/>
        </p:nvGrpSpPr>
        <p:grpSpPr>
          <a:xfrm>
            <a:off x="533400" y="4404423"/>
            <a:ext cx="3363884" cy="3813898"/>
            <a:chOff x="1028700" y="5380811"/>
            <a:chExt cx="3784392" cy="3312427"/>
          </a:xfrm>
        </p:grpSpPr>
        <p:grpSp>
          <p:nvGrpSpPr>
            <p:cNvPr id="2" name="Group 2"/>
            <p:cNvGrpSpPr/>
            <p:nvPr/>
          </p:nvGrpSpPr>
          <p:grpSpPr>
            <a:xfrm>
              <a:off x="1028700" y="5380811"/>
              <a:ext cx="3784392" cy="2645357"/>
              <a:chOff x="0" y="0"/>
              <a:chExt cx="1151686" cy="805049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0" y="0"/>
                <a:ext cx="1151686" cy="805049"/>
              </a:xfrm>
              <a:custGeom>
                <a:avLst/>
                <a:gdLst/>
                <a:ahLst/>
                <a:cxnLst/>
                <a:rect l="l" t="t" r="r" b="b"/>
                <a:pathLst>
                  <a:path w="1151686" h="805049">
                    <a:moveTo>
                      <a:pt x="0" y="0"/>
                    </a:moveTo>
                    <a:lnTo>
                      <a:pt x="948486" y="0"/>
                    </a:lnTo>
                    <a:lnTo>
                      <a:pt x="1151686" y="402524"/>
                    </a:lnTo>
                    <a:lnTo>
                      <a:pt x="948486" y="805049"/>
                    </a:lnTo>
                    <a:lnTo>
                      <a:pt x="0" y="805049"/>
                    </a:lnTo>
                    <a:lnTo>
                      <a:pt x="203200" y="4025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1709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4" name="TextBox 4"/>
              <p:cNvSpPr txBox="1"/>
              <p:nvPr/>
            </p:nvSpPr>
            <p:spPr>
              <a:xfrm>
                <a:off x="177800" y="-57150"/>
                <a:ext cx="897686" cy="8621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2187405" y="7359098"/>
              <a:ext cx="1334140" cy="1334140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17092"/>
              </a:solidFill>
              <a:ln w="95250" cap="sq">
                <a:solidFill>
                  <a:srgbClr val="FCF7F6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2" name="Freeform 32"/>
            <p:cNvSpPr/>
            <p:nvPr/>
          </p:nvSpPr>
          <p:spPr>
            <a:xfrm>
              <a:off x="2545210" y="7691334"/>
              <a:ext cx="618531" cy="669669"/>
            </a:xfrm>
            <a:custGeom>
              <a:avLst/>
              <a:gdLst/>
              <a:ahLst/>
              <a:cxnLst/>
              <a:rect l="l" t="t" r="r" b="b"/>
              <a:pathLst>
                <a:path w="618531" h="669669">
                  <a:moveTo>
                    <a:pt x="0" y="0"/>
                  </a:moveTo>
                  <a:lnTo>
                    <a:pt x="618531" y="0"/>
                  </a:lnTo>
                  <a:lnTo>
                    <a:pt x="618531" y="669669"/>
                  </a:lnTo>
                  <a:lnTo>
                    <a:pt x="0" y="66966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187405" y="6442791"/>
              <a:ext cx="1951567" cy="33497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IN" sz="2400" b="1" dirty="0">
                  <a:solidFill>
                    <a:schemeClr val="bg1"/>
                  </a:solidFill>
                </a:rPr>
                <a:t>Discovery</a:t>
              </a:r>
              <a:endParaRPr lang="en-US" sz="2300" b="1" dirty="0">
                <a:solidFill>
                  <a:schemeClr val="bg1"/>
                </a:solidFill>
                <a:latin typeface="Lato Bold"/>
                <a:ea typeface="Lato Bold"/>
                <a:cs typeface="Lato Bold"/>
                <a:sym typeface="Lato Bold"/>
              </a:endParaRPr>
            </a:p>
          </p:txBody>
        </p:sp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79D84106-EAEB-441B-2C8E-0717BA994EB2}"/>
              </a:ext>
            </a:extLst>
          </p:cNvPr>
          <p:cNvGrpSpPr/>
          <p:nvPr/>
        </p:nvGrpSpPr>
        <p:grpSpPr>
          <a:xfrm>
            <a:off x="14253672" y="3636365"/>
            <a:ext cx="3363884" cy="3813898"/>
            <a:chOff x="14253672" y="3636365"/>
            <a:chExt cx="3363884" cy="3813898"/>
          </a:xfrm>
        </p:grpSpPr>
        <p:grpSp>
          <p:nvGrpSpPr>
            <p:cNvPr id="5" name="Group 5"/>
            <p:cNvGrpSpPr/>
            <p:nvPr/>
          </p:nvGrpSpPr>
          <p:grpSpPr>
            <a:xfrm>
              <a:off x="14253672" y="4404423"/>
              <a:ext cx="3363884" cy="3045840"/>
              <a:chOff x="0" y="0"/>
              <a:chExt cx="1151686" cy="805049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151686" cy="805049"/>
              </a:xfrm>
              <a:custGeom>
                <a:avLst/>
                <a:gdLst/>
                <a:ahLst/>
                <a:cxnLst/>
                <a:rect l="l" t="t" r="r" b="b"/>
                <a:pathLst>
                  <a:path w="1151686" h="805049">
                    <a:moveTo>
                      <a:pt x="0" y="0"/>
                    </a:moveTo>
                    <a:lnTo>
                      <a:pt x="948486" y="0"/>
                    </a:lnTo>
                    <a:lnTo>
                      <a:pt x="1151686" y="402524"/>
                    </a:lnTo>
                    <a:lnTo>
                      <a:pt x="948486" y="805049"/>
                    </a:lnTo>
                    <a:lnTo>
                      <a:pt x="0" y="805049"/>
                    </a:lnTo>
                    <a:lnTo>
                      <a:pt x="203200" y="4025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9B98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177800" y="-57150"/>
                <a:ext cx="897686" cy="8621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15141709" y="3636365"/>
              <a:ext cx="1185895" cy="1536117"/>
              <a:chOff x="0" y="0"/>
              <a:chExt cx="812800" cy="8128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9B98B"/>
              </a:solidFill>
              <a:ln w="952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0" name="TextBox 40"/>
            <p:cNvSpPr txBox="1"/>
            <p:nvPr/>
          </p:nvSpPr>
          <p:spPr>
            <a:xfrm>
              <a:off x="15166840" y="5656383"/>
              <a:ext cx="2111362" cy="38568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IN" sz="2400" b="1" dirty="0">
                  <a:solidFill>
                    <a:schemeClr val="bg1"/>
                  </a:solidFill>
                </a:rPr>
                <a:t>Decision Making</a:t>
              </a:r>
              <a:endParaRPr lang="en-US" sz="2300" b="1" dirty="0">
                <a:solidFill>
                  <a:schemeClr val="bg1"/>
                </a:solidFill>
                <a:latin typeface="Lato Bold"/>
                <a:ea typeface="Lato Bold"/>
                <a:cs typeface="Lato Bold"/>
                <a:sym typeface="Lato Bold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4BC734B-46C8-4CA6-B30E-D91C46A24D3A}"/>
              </a:ext>
            </a:extLst>
          </p:cNvPr>
          <p:cNvGrpSpPr/>
          <p:nvPr/>
        </p:nvGrpSpPr>
        <p:grpSpPr>
          <a:xfrm>
            <a:off x="6018294" y="4042959"/>
            <a:ext cx="10001046" cy="4156052"/>
            <a:chOff x="7249245" y="5083643"/>
            <a:chExt cx="11251244" cy="3609592"/>
          </a:xfrm>
        </p:grpSpPr>
        <p:grpSp>
          <p:nvGrpSpPr>
            <p:cNvPr id="8" name="Group 8"/>
            <p:cNvGrpSpPr/>
            <p:nvPr/>
          </p:nvGrpSpPr>
          <p:grpSpPr>
            <a:xfrm>
              <a:off x="7249245" y="5380811"/>
              <a:ext cx="3784392" cy="2645357"/>
              <a:chOff x="0" y="0"/>
              <a:chExt cx="1151686" cy="805049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1151686" cy="805049"/>
              </a:xfrm>
              <a:custGeom>
                <a:avLst/>
                <a:gdLst/>
                <a:ahLst/>
                <a:cxnLst/>
                <a:rect l="l" t="t" r="r" b="b"/>
                <a:pathLst>
                  <a:path w="1151686" h="805049">
                    <a:moveTo>
                      <a:pt x="0" y="0"/>
                    </a:moveTo>
                    <a:lnTo>
                      <a:pt x="948486" y="0"/>
                    </a:lnTo>
                    <a:lnTo>
                      <a:pt x="1151686" y="402524"/>
                    </a:lnTo>
                    <a:lnTo>
                      <a:pt x="948486" y="805049"/>
                    </a:lnTo>
                    <a:lnTo>
                      <a:pt x="0" y="805049"/>
                    </a:lnTo>
                    <a:lnTo>
                      <a:pt x="203200" y="4025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DA2A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77800" y="-57150"/>
                <a:ext cx="897686" cy="8621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8249007" y="7359095"/>
              <a:ext cx="1334140" cy="1334140"/>
              <a:chOff x="0" y="-2"/>
              <a:chExt cx="812800" cy="812800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-2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7DA2A9"/>
              </a:solidFill>
              <a:ln w="95250" cap="sq">
                <a:solidFill>
                  <a:srgbClr val="FFFFFF"/>
                </a:solidFill>
                <a:prstDash val="solid"/>
                <a:miter/>
              </a:ln>
            </p:spPr>
            <p:txBody>
              <a:bodyPr/>
              <a:lstStyle/>
              <a:p>
                <a:endParaRPr lang="en-IN"/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4" name="Freeform 34"/>
            <p:cNvSpPr/>
            <p:nvPr/>
          </p:nvSpPr>
          <p:spPr>
            <a:xfrm>
              <a:off x="8595805" y="7674452"/>
              <a:ext cx="640544" cy="618417"/>
            </a:xfrm>
            <a:custGeom>
              <a:avLst/>
              <a:gdLst/>
              <a:ahLst/>
              <a:cxnLst/>
              <a:rect l="l" t="t" r="r" b="b"/>
              <a:pathLst>
                <a:path w="640544" h="618417">
                  <a:moveTo>
                    <a:pt x="0" y="0"/>
                  </a:moveTo>
                  <a:lnTo>
                    <a:pt x="640544" y="0"/>
                  </a:lnTo>
                  <a:lnTo>
                    <a:pt x="640544" y="618416"/>
                  </a:lnTo>
                  <a:lnTo>
                    <a:pt x="0" y="618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210838" y="6496232"/>
              <a:ext cx="2494915" cy="3349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IN" sz="2400" b="1" dirty="0">
                  <a:solidFill>
                    <a:schemeClr val="bg1"/>
                  </a:solidFill>
                </a:rPr>
                <a:t>Data Preparation</a:t>
              </a:r>
              <a:endParaRPr lang="en-US" sz="2300" b="1" dirty="0">
                <a:solidFill>
                  <a:schemeClr val="bg1"/>
                </a:solidFill>
                <a:latin typeface="Lato Bold"/>
                <a:ea typeface="Lato Bold"/>
                <a:cs typeface="Lato Bold"/>
                <a:sym typeface="Lato Bold"/>
              </a:endParaRPr>
            </a:p>
          </p:txBody>
        </p:sp>
        <p:sp>
          <p:nvSpPr>
            <p:cNvPr id="84" name="Freeform 34">
              <a:extLst>
                <a:ext uri="{FF2B5EF4-FFF2-40B4-BE49-F238E27FC236}">
                  <a16:creationId xmlns:a16="http://schemas.microsoft.com/office/drawing/2014/main" id="{502FF7E7-D54D-169E-2B1F-C8FEEBE5369B}"/>
                </a:ext>
              </a:extLst>
            </p:cNvPr>
            <p:cNvSpPr/>
            <p:nvPr/>
          </p:nvSpPr>
          <p:spPr>
            <a:xfrm>
              <a:off x="17859945" y="5083643"/>
              <a:ext cx="640544" cy="618417"/>
            </a:xfrm>
            <a:custGeom>
              <a:avLst/>
              <a:gdLst/>
              <a:ahLst/>
              <a:cxnLst/>
              <a:rect l="l" t="t" r="r" b="b"/>
              <a:pathLst>
                <a:path w="640544" h="618417">
                  <a:moveTo>
                    <a:pt x="0" y="0"/>
                  </a:moveTo>
                  <a:lnTo>
                    <a:pt x="640544" y="0"/>
                  </a:lnTo>
                  <a:lnTo>
                    <a:pt x="640544" y="618416"/>
                  </a:lnTo>
                  <a:lnTo>
                    <a:pt x="0" y="61841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F548059D-35D5-91B9-572E-A800DCADDF0E}"/>
              </a:ext>
            </a:extLst>
          </p:cNvPr>
          <p:cNvGrpSpPr/>
          <p:nvPr/>
        </p:nvGrpSpPr>
        <p:grpSpPr>
          <a:xfrm>
            <a:off x="8762393" y="3630921"/>
            <a:ext cx="3363884" cy="3813898"/>
            <a:chOff x="10364636" y="4713741"/>
            <a:chExt cx="3784392" cy="3312427"/>
          </a:xfrm>
        </p:grpSpPr>
        <p:grpSp>
          <p:nvGrpSpPr>
            <p:cNvPr id="11" name="Group 11"/>
            <p:cNvGrpSpPr/>
            <p:nvPr/>
          </p:nvGrpSpPr>
          <p:grpSpPr>
            <a:xfrm>
              <a:off x="10364636" y="5380811"/>
              <a:ext cx="3784392" cy="2645357"/>
              <a:chOff x="0" y="0"/>
              <a:chExt cx="1151686" cy="805049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1151686" cy="805049"/>
              </a:xfrm>
              <a:custGeom>
                <a:avLst/>
                <a:gdLst/>
                <a:ahLst/>
                <a:cxnLst/>
                <a:rect l="l" t="t" r="r" b="b"/>
                <a:pathLst>
                  <a:path w="1151686" h="805049">
                    <a:moveTo>
                      <a:pt x="0" y="0"/>
                    </a:moveTo>
                    <a:lnTo>
                      <a:pt x="948486" y="0"/>
                    </a:lnTo>
                    <a:lnTo>
                      <a:pt x="1151686" y="402524"/>
                    </a:lnTo>
                    <a:lnTo>
                      <a:pt x="948486" y="805049"/>
                    </a:lnTo>
                    <a:lnTo>
                      <a:pt x="0" y="805049"/>
                    </a:lnTo>
                    <a:lnTo>
                      <a:pt x="203200" y="4025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1B4A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177800" y="-57150"/>
                <a:ext cx="897686" cy="8621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11342020" y="4713741"/>
              <a:ext cx="1334140" cy="1334140"/>
              <a:chOff x="0" y="0"/>
              <a:chExt cx="812800" cy="81280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A1B4A2"/>
              </a:solidFill>
              <a:ln w="952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6" name="Freeform 36"/>
            <p:cNvSpPr/>
            <p:nvPr/>
          </p:nvSpPr>
          <p:spPr>
            <a:xfrm>
              <a:off x="11742873" y="5048040"/>
              <a:ext cx="532434" cy="665543"/>
            </a:xfrm>
            <a:custGeom>
              <a:avLst/>
              <a:gdLst/>
              <a:ahLst/>
              <a:cxnLst/>
              <a:rect l="l" t="t" r="r" b="b"/>
              <a:pathLst>
                <a:path w="532434" h="665543">
                  <a:moveTo>
                    <a:pt x="0" y="0"/>
                  </a:moveTo>
                  <a:lnTo>
                    <a:pt x="532434" y="0"/>
                  </a:lnTo>
                  <a:lnTo>
                    <a:pt x="532434" y="665543"/>
                  </a:lnTo>
                  <a:lnTo>
                    <a:pt x="0" y="6655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1270045" y="6479423"/>
              <a:ext cx="2376292" cy="33497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IN" sz="2400" b="1" dirty="0">
                  <a:solidFill>
                    <a:schemeClr val="bg1"/>
                  </a:solidFill>
                </a:rPr>
                <a:t>Data </a:t>
              </a:r>
              <a:r>
                <a:rPr lang="en-IN" sz="2400" b="1" dirty="0" err="1">
                  <a:solidFill>
                    <a:schemeClr val="bg1"/>
                  </a:solidFill>
                </a:rPr>
                <a:t>Modeling</a:t>
              </a:r>
              <a:endParaRPr lang="en-US" sz="2300" b="1" dirty="0">
                <a:solidFill>
                  <a:schemeClr val="bg1"/>
                </a:solidFill>
                <a:latin typeface="Lato Bold"/>
                <a:ea typeface="Lato Bold"/>
                <a:cs typeface="Lato Bold"/>
                <a:sym typeface="Lato Bold"/>
              </a:endParaRP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0DAF69CC-CF41-7B67-223B-BF127CD9A734}"/>
              </a:ext>
            </a:extLst>
          </p:cNvPr>
          <p:cNvGrpSpPr/>
          <p:nvPr/>
        </p:nvGrpSpPr>
        <p:grpSpPr>
          <a:xfrm>
            <a:off x="11506200" y="4404423"/>
            <a:ext cx="3363884" cy="3813898"/>
            <a:chOff x="13474908" y="5380811"/>
            <a:chExt cx="3784392" cy="3312427"/>
          </a:xfrm>
        </p:grpSpPr>
        <p:grpSp>
          <p:nvGrpSpPr>
            <p:cNvPr id="14" name="Group 14"/>
            <p:cNvGrpSpPr/>
            <p:nvPr/>
          </p:nvGrpSpPr>
          <p:grpSpPr>
            <a:xfrm>
              <a:off x="13474908" y="5380811"/>
              <a:ext cx="3784392" cy="2645357"/>
              <a:chOff x="0" y="0"/>
              <a:chExt cx="1151686" cy="805049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1151686" cy="805049"/>
              </a:xfrm>
              <a:custGeom>
                <a:avLst/>
                <a:gdLst/>
                <a:ahLst/>
                <a:cxnLst/>
                <a:rect l="l" t="t" r="r" b="b"/>
                <a:pathLst>
                  <a:path w="1151686" h="805049">
                    <a:moveTo>
                      <a:pt x="0" y="0"/>
                    </a:moveTo>
                    <a:lnTo>
                      <a:pt x="948486" y="0"/>
                    </a:lnTo>
                    <a:lnTo>
                      <a:pt x="1151686" y="402524"/>
                    </a:lnTo>
                    <a:lnTo>
                      <a:pt x="948486" y="805049"/>
                    </a:lnTo>
                    <a:lnTo>
                      <a:pt x="0" y="805049"/>
                    </a:lnTo>
                    <a:lnTo>
                      <a:pt x="203200" y="4025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E8C9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77800" y="-57150"/>
                <a:ext cx="897686" cy="8621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14453006" y="7359098"/>
              <a:ext cx="1334140" cy="1334140"/>
              <a:chOff x="0" y="0"/>
              <a:chExt cx="812800" cy="8128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9E8C95"/>
              </a:solidFill>
              <a:ln w="952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5" name="Freeform 35"/>
            <p:cNvSpPr/>
            <p:nvPr/>
          </p:nvSpPr>
          <p:spPr>
            <a:xfrm>
              <a:off x="14825303" y="7674452"/>
              <a:ext cx="673693" cy="673693"/>
            </a:xfrm>
            <a:custGeom>
              <a:avLst/>
              <a:gdLst/>
              <a:ahLst/>
              <a:cxnLst/>
              <a:rect l="l" t="t" r="r" b="b"/>
              <a:pathLst>
                <a:path w="673693" h="673693">
                  <a:moveTo>
                    <a:pt x="0" y="0"/>
                  </a:moveTo>
                  <a:lnTo>
                    <a:pt x="673692" y="0"/>
                  </a:lnTo>
                  <a:lnTo>
                    <a:pt x="673692" y="673692"/>
                  </a:lnTo>
                  <a:lnTo>
                    <a:pt x="0" y="6736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4630892" y="6494733"/>
              <a:ext cx="1951567" cy="32077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r>
                <a:rPr lang="en-IN" sz="2400" b="1" dirty="0">
                  <a:solidFill>
                    <a:schemeClr val="bg1"/>
                  </a:solidFill>
                </a:rPr>
                <a:t>Visualization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D6F3FB0B-54BD-510B-5133-7F180ECBAA71}"/>
              </a:ext>
            </a:extLst>
          </p:cNvPr>
          <p:cNvGrpSpPr/>
          <p:nvPr/>
        </p:nvGrpSpPr>
        <p:grpSpPr>
          <a:xfrm>
            <a:off x="3289975" y="3619500"/>
            <a:ext cx="3363884" cy="3813898"/>
            <a:chOff x="4138972" y="4713741"/>
            <a:chExt cx="3784392" cy="3312427"/>
          </a:xfrm>
        </p:grpSpPr>
        <p:grpSp>
          <p:nvGrpSpPr>
            <p:cNvPr id="74" name="Group 5">
              <a:extLst>
                <a:ext uri="{FF2B5EF4-FFF2-40B4-BE49-F238E27FC236}">
                  <a16:creationId xmlns:a16="http://schemas.microsoft.com/office/drawing/2014/main" id="{DE57D2A1-CDE0-2FDB-421A-F0D1EC1C40AB}"/>
                </a:ext>
              </a:extLst>
            </p:cNvPr>
            <p:cNvGrpSpPr/>
            <p:nvPr/>
          </p:nvGrpSpPr>
          <p:grpSpPr>
            <a:xfrm>
              <a:off x="4138972" y="5380811"/>
              <a:ext cx="3784392" cy="2645357"/>
              <a:chOff x="0" y="0"/>
              <a:chExt cx="1151686" cy="805049"/>
            </a:xfrm>
          </p:grpSpPr>
          <p:sp>
            <p:nvSpPr>
              <p:cNvPr id="80" name="Freeform 6">
                <a:extLst>
                  <a:ext uri="{FF2B5EF4-FFF2-40B4-BE49-F238E27FC236}">
                    <a16:creationId xmlns:a16="http://schemas.microsoft.com/office/drawing/2014/main" id="{43526C8B-F821-52A1-0BD9-98B11DD11351}"/>
                  </a:ext>
                </a:extLst>
              </p:cNvPr>
              <p:cNvSpPr/>
              <p:nvPr/>
            </p:nvSpPr>
            <p:spPr>
              <a:xfrm>
                <a:off x="0" y="0"/>
                <a:ext cx="1151686" cy="805049"/>
              </a:xfrm>
              <a:custGeom>
                <a:avLst/>
                <a:gdLst/>
                <a:ahLst/>
                <a:cxnLst/>
                <a:rect l="l" t="t" r="r" b="b"/>
                <a:pathLst>
                  <a:path w="1151686" h="805049">
                    <a:moveTo>
                      <a:pt x="0" y="0"/>
                    </a:moveTo>
                    <a:lnTo>
                      <a:pt x="948486" y="0"/>
                    </a:lnTo>
                    <a:lnTo>
                      <a:pt x="1151686" y="402524"/>
                    </a:lnTo>
                    <a:lnTo>
                      <a:pt x="948486" y="805049"/>
                    </a:lnTo>
                    <a:lnTo>
                      <a:pt x="0" y="805049"/>
                    </a:lnTo>
                    <a:lnTo>
                      <a:pt x="203200" y="4025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9B98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id="81" name="TextBox 7">
                <a:extLst>
                  <a:ext uri="{FF2B5EF4-FFF2-40B4-BE49-F238E27FC236}">
                    <a16:creationId xmlns:a16="http://schemas.microsoft.com/office/drawing/2014/main" id="{9AE7B16F-16CF-A73D-7BA9-A6D74BBCBC61}"/>
                  </a:ext>
                </a:extLst>
              </p:cNvPr>
              <p:cNvSpPr txBox="1"/>
              <p:nvPr/>
            </p:nvSpPr>
            <p:spPr>
              <a:xfrm>
                <a:off x="177800" y="-57150"/>
                <a:ext cx="897686" cy="86219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marL="0" lvl="0" indent="0"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grpSp>
          <p:nvGrpSpPr>
            <p:cNvPr id="75" name="Group 23">
              <a:extLst>
                <a:ext uri="{FF2B5EF4-FFF2-40B4-BE49-F238E27FC236}">
                  <a16:creationId xmlns:a16="http://schemas.microsoft.com/office/drawing/2014/main" id="{62CB485E-7884-8F3F-30C0-7FE1B23D290E}"/>
                </a:ext>
              </a:extLst>
            </p:cNvPr>
            <p:cNvGrpSpPr/>
            <p:nvPr/>
          </p:nvGrpSpPr>
          <p:grpSpPr>
            <a:xfrm>
              <a:off x="5138020" y="4713741"/>
              <a:ext cx="1334140" cy="1334140"/>
              <a:chOff x="0" y="0"/>
              <a:chExt cx="812800" cy="812800"/>
            </a:xfrm>
          </p:grpSpPr>
          <p:sp>
            <p:nvSpPr>
              <p:cNvPr id="78" name="Freeform 24">
                <a:extLst>
                  <a:ext uri="{FF2B5EF4-FFF2-40B4-BE49-F238E27FC236}">
                    <a16:creationId xmlns:a16="http://schemas.microsoft.com/office/drawing/2014/main" id="{E3F37074-FF8D-45A7-E543-45A5CBF72603}"/>
                  </a:ext>
                </a:extLst>
              </p:cNvPr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D9B98B"/>
              </a:solidFill>
              <a:ln w="95250" cap="sq">
                <a:solidFill>
                  <a:srgbClr val="FFFFFF"/>
                </a:solidFill>
                <a:prstDash val="solid"/>
                <a:miter/>
              </a:ln>
            </p:spPr>
          </p:sp>
          <p:sp>
            <p:nvSpPr>
              <p:cNvPr id="79" name="TextBox 25">
                <a:extLst>
                  <a:ext uri="{FF2B5EF4-FFF2-40B4-BE49-F238E27FC236}">
                    <a16:creationId xmlns:a16="http://schemas.microsoft.com/office/drawing/2014/main" id="{3010DBBE-DF9F-29BD-234A-26A589954894}"/>
                  </a:ext>
                </a:extLst>
              </p:cNvPr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76" name="Freeform 33">
              <a:extLst>
                <a:ext uri="{FF2B5EF4-FFF2-40B4-BE49-F238E27FC236}">
                  <a16:creationId xmlns:a16="http://schemas.microsoft.com/office/drawing/2014/main" id="{E904D3E8-0ABD-1247-C7A5-172771B5F083}"/>
                </a:ext>
              </a:extLst>
            </p:cNvPr>
            <p:cNvSpPr/>
            <p:nvPr/>
          </p:nvSpPr>
          <p:spPr>
            <a:xfrm>
              <a:off x="5431546" y="5037829"/>
              <a:ext cx="747090" cy="685964"/>
            </a:xfrm>
            <a:custGeom>
              <a:avLst/>
              <a:gdLst/>
              <a:ahLst/>
              <a:cxnLst/>
              <a:rect l="l" t="t" r="r" b="b"/>
              <a:pathLst>
                <a:path w="747090" h="685964">
                  <a:moveTo>
                    <a:pt x="0" y="0"/>
                  </a:moveTo>
                  <a:lnTo>
                    <a:pt x="747089" y="0"/>
                  </a:lnTo>
                  <a:lnTo>
                    <a:pt x="747089" y="685964"/>
                  </a:lnTo>
                  <a:lnTo>
                    <a:pt x="0" y="68596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77" name="TextBox 40">
              <a:extLst>
                <a:ext uri="{FF2B5EF4-FFF2-40B4-BE49-F238E27FC236}">
                  <a16:creationId xmlns:a16="http://schemas.microsoft.com/office/drawing/2014/main" id="{F22FAEA6-5335-B5C8-A6FE-495E4EBE159A}"/>
                </a:ext>
              </a:extLst>
            </p:cNvPr>
            <p:cNvSpPr txBox="1"/>
            <p:nvPr/>
          </p:nvSpPr>
          <p:spPr>
            <a:xfrm>
              <a:off x="5282277" y="6479673"/>
              <a:ext cx="2375296" cy="32077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IN" sz="2400" b="1" dirty="0">
                  <a:solidFill>
                    <a:schemeClr val="bg1"/>
                  </a:solidFill>
                </a:rPr>
                <a:t>Data Collection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TextBox 44"/>
          <p:cNvSpPr txBox="1"/>
          <p:nvPr/>
        </p:nvSpPr>
        <p:spPr>
          <a:xfrm>
            <a:off x="5944046" y="885825"/>
            <a:ext cx="7162354" cy="8166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IN" sz="4799" b="1" dirty="0">
                <a:solidFill>
                  <a:srgbClr val="3C3C50"/>
                </a:solidFill>
                <a:latin typeface="Poppins Bold"/>
                <a:cs typeface="Poppins Bold"/>
              </a:rPr>
              <a:t>DETAILED STEPS</a:t>
            </a:r>
            <a:endParaRPr lang="en-US" sz="4799" b="1" dirty="0">
              <a:solidFill>
                <a:srgbClr val="3C3C5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46" name="TextBox 46"/>
          <p:cNvSpPr txBox="1"/>
          <p:nvPr/>
        </p:nvSpPr>
        <p:spPr>
          <a:xfrm>
            <a:off x="1194098" y="5924790"/>
            <a:ext cx="1952516" cy="370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1" dirty="0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Discovery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946770" y="5924790"/>
            <a:ext cx="2180522" cy="370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1" dirty="0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Data Collection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56232" y="6528446"/>
            <a:ext cx="2408529" cy="1938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Understand the problem or question.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Define goals and data needs.</a:t>
            </a:r>
          </a:p>
          <a:p>
            <a:endParaRPr lang="en-US" dirty="0"/>
          </a:p>
          <a:p>
            <a:r>
              <a:rPr lang="en-US" dirty="0"/>
              <a:t>Example: Why are sales decreasing this quarter?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3945761" y="6544640"/>
            <a:ext cx="2218030" cy="16619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Gather data from databases, Excel, sensors, or websites.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 can be structured or unstructured.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6544142" y="5924790"/>
            <a:ext cx="2409179" cy="370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1" dirty="0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Data Preparation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6722356" y="6544639"/>
            <a:ext cx="2408529" cy="1938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dirty="0"/>
              <a:t>Clean the data:</a:t>
            </a:r>
          </a:p>
          <a:p>
            <a:r>
              <a:rPr lang="en-US" dirty="0"/>
              <a:t>• Remove duplicates</a:t>
            </a:r>
          </a:p>
          <a:p>
            <a:r>
              <a:rPr lang="en-US" dirty="0"/>
              <a:t>• Handle missing values</a:t>
            </a:r>
          </a:p>
          <a:p>
            <a:r>
              <a:rPr lang="en-US" dirty="0"/>
              <a:t>• Fix wrong entries</a:t>
            </a:r>
          </a:p>
          <a:p>
            <a:endParaRPr lang="en-US" dirty="0"/>
          </a:p>
          <a:p>
            <a:r>
              <a:rPr lang="en-US" dirty="0"/>
              <a:t>Clean data = accurate results.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9435389" y="5924790"/>
            <a:ext cx="2079454" cy="78091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1" dirty="0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Data Analysis/ Modeling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9410816" y="6733082"/>
            <a:ext cx="2408529" cy="19389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dirty="0"/>
              <a:t>Use tools or algorithms to find insights.</a:t>
            </a:r>
          </a:p>
          <a:p>
            <a:r>
              <a:rPr lang="en-US" dirty="0"/>
              <a:t>Techniques:</a:t>
            </a:r>
          </a:p>
          <a:p>
            <a:r>
              <a:rPr lang="en-US" dirty="0"/>
              <a:t>• Statistical analysis</a:t>
            </a:r>
          </a:p>
          <a:p>
            <a:r>
              <a:rPr lang="en-US" dirty="0"/>
              <a:t>• Regression</a:t>
            </a:r>
          </a:p>
          <a:p>
            <a:r>
              <a:rPr lang="en-US" dirty="0"/>
              <a:t>• Clustering</a:t>
            </a:r>
          </a:p>
          <a:p>
            <a:r>
              <a:rPr lang="en-US" dirty="0"/>
              <a:t>• Correlation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2137793" y="5933966"/>
            <a:ext cx="2394586" cy="370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1" dirty="0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Data Visualization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2123849" y="6528446"/>
            <a:ext cx="2408529" cy="1661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Show data through charts, graphs, and dashboards.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Tools: Power BI, Tableau, Google Data Studio.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5007979" y="5948700"/>
            <a:ext cx="2219327" cy="37055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1" dirty="0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Decision Making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4913377" y="6528446"/>
            <a:ext cx="2408529" cy="1661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insights to make real decisions.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Example: Increase marketing budget in top-performing cities.</a:t>
            </a:r>
          </a:p>
        </p:txBody>
      </p:sp>
      <p:grpSp>
        <p:nvGrpSpPr>
          <p:cNvPr id="64" name="Group 63">
            <a:extLst>
              <a:ext uri="{FF2B5EF4-FFF2-40B4-BE49-F238E27FC236}">
                <a16:creationId xmlns:a16="http://schemas.microsoft.com/office/drawing/2014/main" id="{ACB3ADA4-5088-623C-8186-FF2C2127926D}"/>
              </a:ext>
            </a:extLst>
          </p:cNvPr>
          <p:cNvGrpSpPr/>
          <p:nvPr/>
        </p:nvGrpSpPr>
        <p:grpSpPr>
          <a:xfrm>
            <a:off x="966091" y="3314700"/>
            <a:ext cx="2408529" cy="2360792"/>
            <a:chOff x="966091" y="3314700"/>
            <a:chExt cx="2408529" cy="2360792"/>
          </a:xfrm>
        </p:grpSpPr>
        <p:grpSp>
          <p:nvGrpSpPr>
            <p:cNvPr id="2" name="Group 2"/>
            <p:cNvGrpSpPr/>
            <p:nvPr/>
          </p:nvGrpSpPr>
          <p:grpSpPr>
            <a:xfrm>
              <a:off x="966091" y="5250600"/>
              <a:ext cx="2408529" cy="424892"/>
              <a:chOff x="0" y="0"/>
              <a:chExt cx="634345" cy="111906"/>
            </a:xfrm>
          </p:grpSpPr>
          <p:sp>
            <p:nvSpPr>
              <p:cNvPr id="3" name="Freeform 3"/>
              <p:cNvSpPr/>
              <p:nvPr/>
            </p:nvSpPr>
            <p:spPr>
              <a:xfrm>
                <a:off x="0" y="0"/>
                <a:ext cx="634345" cy="111906"/>
              </a:xfrm>
              <a:custGeom>
                <a:avLst/>
                <a:gdLst/>
                <a:ahLst/>
                <a:cxnLst/>
                <a:rect l="l" t="t" r="r" b="b"/>
                <a:pathLst>
                  <a:path w="634345" h="111906">
                    <a:moveTo>
                      <a:pt x="55953" y="0"/>
                    </a:moveTo>
                    <a:lnTo>
                      <a:pt x="578392" y="0"/>
                    </a:lnTo>
                    <a:cubicBezTo>
                      <a:pt x="609294" y="0"/>
                      <a:pt x="634345" y="25051"/>
                      <a:pt x="634345" y="55953"/>
                    </a:cubicBezTo>
                    <a:lnTo>
                      <a:pt x="634345" y="55953"/>
                    </a:lnTo>
                    <a:cubicBezTo>
                      <a:pt x="634345" y="86855"/>
                      <a:pt x="609294" y="111906"/>
                      <a:pt x="578392" y="111906"/>
                    </a:cubicBezTo>
                    <a:lnTo>
                      <a:pt x="55953" y="111906"/>
                    </a:lnTo>
                    <a:cubicBezTo>
                      <a:pt x="25051" y="111906"/>
                      <a:pt x="0" y="86855"/>
                      <a:pt x="0" y="55953"/>
                    </a:cubicBezTo>
                    <a:lnTo>
                      <a:pt x="0" y="55953"/>
                    </a:lnTo>
                    <a:cubicBezTo>
                      <a:pt x="0" y="25051"/>
                      <a:pt x="25051" y="0"/>
                      <a:pt x="55953" y="0"/>
                    </a:cubicBezTo>
                    <a:close/>
                  </a:path>
                </a:pathLst>
              </a:custGeom>
              <a:solidFill>
                <a:srgbClr val="717092"/>
              </a:solidFill>
            </p:spPr>
          </p:sp>
          <p:sp>
            <p:nvSpPr>
              <p:cNvPr id="4" name="TextBox 4"/>
              <p:cNvSpPr txBox="1"/>
              <p:nvPr/>
            </p:nvSpPr>
            <p:spPr>
              <a:xfrm>
                <a:off x="0" y="-57150"/>
                <a:ext cx="634345" cy="16905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>
              <a:off x="1297656" y="3314700"/>
              <a:ext cx="1745401" cy="1745401"/>
              <a:chOff x="0" y="0"/>
              <a:chExt cx="812800" cy="8128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71450" cap="sq">
                <a:solidFill>
                  <a:srgbClr val="717092"/>
                </a:solidFill>
                <a:prstDash val="solid"/>
                <a:miter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8" name="Freeform 38"/>
            <p:cNvSpPr/>
            <p:nvPr/>
          </p:nvSpPr>
          <p:spPr>
            <a:xfrm>
              <a:off x="1761804" y="3779653"/>
              <a:ext cx="817105" cy="815494"/>
            </a:xfrm>
            <a:custGeom>
              <a:avLst/>
              <a:gdLst/>
              <a:ahLst/>
              <a:cxnLst/>
              <a:rect l="l" t="t" r="r" b="b"/>
              <a:pathLst>
                <a:path w="817105" h="815494">
                  <a:moveTo>
                    <a:pt x="0" y="0"/>
                  </a:moveTo>
                  <a:lnTo>
                    <a:pt x="817104" y="0"/>
                  </a:lnTo>
                  <a:lnTo>
                    <a:pt x="817104" y="815494"/>
                  </a:lnTo>
                  <a:lnTo>
                    <a:pt x="0" y="8154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58" name="TextBox 58"/>
            <p:cNvSpPr txBox="1"/>
            <p:nvPr/>
          </p:nvSpPr>
          <p:spPr>
            <a:xfrm>
              <a:off x="1650953" y="5307154"/>
              <a:ext cx="1038806" cy="2736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 b="1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STEP 1</a:t>
              </a:r>
            </a:p>
          </p:txBody>
        </p: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FE820913-FA39-21A0-D929-9AC942624C10}"/>
              </a:ext>
            </a:extLst>
          </p:cNvPr>
          <p:cNvGrpSpPr/>
          <p:nvPr/>
        </p:nvGrpSpPr>
        <p:grpSpPr>
          <a:xfrm>
            <a:off x="3755262" y="3314700"/>
            <a:ext cx="2408529" cy="2360792"/>
            <a:chOff x="3755262" y="3314700"/>
            <a:chExt cx="2408529" cy="2360792"/>
          </a:xfrm>
        </p:grpSpPr>
        <p:grpSp>
          <p:nvGrpSpPr>
            <p:cNvPr id="5" name="Group 5"/>
            <p:cNvGrpSpPr/>
            <p:nvPr/>
          </p:nvGrpSpPr>
          <p:grpSpPr>
            <a:xfrm>
              <a:off x="3755262" y="5250600"/>
              <a:ext cx="2408529" cy="424892"/>
              <a:chOff x="0" y="0"/>
              <a:chExt cx="634345" cy="111906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634345" cy="111906"/>
              </a:xfrm>
              <a:custGeom>
                <a:avLst/>
                <a:gdLst/>
                <a:ahLst/>
                <a:cxnLst/>
                <a:rect l="l" t="t" r="r" b="b"/>
                <a:pathLst>
                  <a:path w="634345" h="111906">
                    <a:moveTo>
                      <a:pt x="55953" y="0"/>
                    </a:moveTo>
                    <a:lnTo>
                      <a:pt x="578392" y="0"/>
                    </a:lnTo>
                    <a:cubicBezTo>
                      <a:pt x="609294" y="0"/>
                      <a:pt x="634345" y="25051"/>
                      <a:pt x="634345" y="55953"/>
                    </a:cubicBezTo>
                    <a:lnTo>
                      <a:pt x="634345" y="55953"/>
                    </a:lnTo>
                    <a:cubicBezTo>
                      <a:pt x="634345" y="86855"/>
                      <a:pt x="609294" y="111906"/>
                      <a:pt x="578392" y="111906"/>
                    </a:cubicBezTo>
                    <a:lnTo>
                      <a:pt x="55953" y="111906"/>
                    </a:lnTo>
                    <a:cubicBezTo>
                      <a:pt x="25051" y="111906"/>
                      <a:pt x="0" y="86855"/>
                      <a:pt x="0" y="55953"/>
                    </a:cubicBezTo>
                    <a:lnTo>
                      <a:pt x="0" y="55953"/>
                    </a:lnTo>
                    <a:cubicBezTo>
                      <a:pt x="0" y="25051"/>
                      <a:pt x="25051" y="0"/>
                      <a:pt x="55953" y="0"/>
                    </a:cubicBezTo>
                    <a:close/>
                  </a:path>
                </a:pathLst>
              </a:custGeom>
              <a:solidFill>
                <a:srgbClr val="D9B98B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57150"/>
                <a:ext cx="634345" cy="16905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4086827" y="3314700"/>
              <a:ext cx="1745401" cy="1745401"/>
              <a:chOff x="0" y="0"/>
              <a:chExt cx="812800" cy="812800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71450" cap="sq">
                <a:solidFill>
                  <a:srgbClr val="D9B98B"/>
                </a:solidFill>
                <a:prstDash val="solid"/>
                <a:miter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39" name="Freeform 39"/>
            <p:cNvSpPr/>
            <p:nvPr/>
          </p:nvSpPr>
          <p:spPr>
            <a:xfrm>
              <a:off x="4536854" y="3849262"/>
              <a:ext cx="845346" cy="676277"/>
            </a:xfrm>
            <a:custGeom>
              <a:avLst/>
              <a:gdLst/>
              <a:ahLst/>
              <a:cxnLst/>
              <a:rect l="l" t="t" r="r" b="b"/>
              <a:pathLst>
                <a:path w="845346" h="676277">
                  <a:moveTo>
                    <a:pt x="0" y="0"/>
                  </a:moveTo>
                  <a:lnTo>
                    <a:pt x="845346" y="0"/>
                  </a:lnTo>
                  <a:lnTo>
                    <a:pt x="845346" y="676276"/>
                  </a:lnTo>
                  <a:lnTo>
                    <a:pt x="0" y="6762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440124" y="5307154"/>
              <a:ext cx="1038806" cy="2736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 b="1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STEP 2</a:t>
              </a:r>
            </a:p>
          </p:txBody>
        </p:sp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695E902E-F305-C570-0986-A4DF9A22FC23}"/>
              </a:ext>
            </a:extLst>
          </p:cNvPr>
          <p:cNvGrpSpPr/>
          <p:nvPr/>
        </p:nvGrpSpPr>
        <p:grpSpPr>
          <a:xfrm>
            <a:off x="6544792" y="3314700"/>
            <a:ext cx="2408529" cy="2360792"/>
            <a:chOff x="6544792" y="3314700"/>
            <a:chExt cx="2408529" cy="2360792"/>
          </a:xfrm>
        </p:grpSpPr>
        <p:grpSp>
          <p:nvGrpSpPr>
            <p:cNvPr id="14" name="Group 14"/>
            <p:cNvGrpSpPr/>
            <p:nvPr/>
          </p:nvGrpSpPr>
          <p:grpSpPr>
            <a:xfrm>
              <a:off x="6544792" y="5250600"/>
              <a:ext cx="2408529" cy="424892"/>
              <a:chOff x="0" y="0"/>
              <a:chExt cx="634345" cy="111906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0" y="0"/>
                <a:ext cx="634345" cy="111906"/>
              </a:xfrm>
              <a:custGeom>
                <a:avLst/>
                <a:gdLst/>
                <a:ahLst/>
                <a:cxnLst/>
                <a:rect l="l" t="t" r="r" b="b"/>
                <a:pathLst>
                  <a:path w="634345" h="111906">
                    <a:moveTo>
                      <a:pt x="55953" y="0"/>
                    </a:moveTo>
                    <a:lnTo>
                      <a:pt x="578392" y="0"/>
                    </a:lnTo>
                    <a:cubicBezTo>
                      <a:pt x="609294" y="0"/>
                      <a:pt x="634345" y="25051"/>
                      <a:pt x="634345" y="55953"/>
                    </a:cubicBezTo>
                    <a:lnTo>
                      <a:pt x="634345" y="55953"/>
                    </a:lnTo>
                    <a:cubicBezTo>
                      <a:pt x="634345" y="86855"/>
                      <a:pt x="609294" y="111906"/>
                      <a:pt x="578392" y="111906"/>
                    </a:cubicBezTo>
                    <a:lnTo>
                      <a:pt x="55953" y="111906"/>
                    </a:lnTo>
                    <a:cubicBezTo>
                      <a:pt x="25051" y="111906"/>
                      <a:pt x="0" y="86855"/>
                      <a:pt x="0" y="55953"/>
                    </a:cubicBezTo>
                    <a:lnTo>
                      <a:pt x="0" y="55953"/>
                    </a:lnTo>
                    <a:cubicBezTo>
                      <a:pt x="0" y="25051"/>
                      <a:pt x="25051" y="0"/>
                      <a:pt x="55953" y="0"/>
                    </a:cubicBezTo>
                    <a:close/>
                  </a:path>
                </a:pathLst>
              </a:custGeom>
              <a:solidFill>
                <a:srgbClr val="A1B4A2"/>
              </a:solidFill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0" y="-57150"/>
                <a:ext cx="634345" cy="16905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6876356" y="3314700"/>
              <a:ext cx="1745401" cy="1745401"/>
              <a:chOff x="0" y="0"/>
              <a:chExt cx="812800" cy="81280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71450" cap="sq">
                <a:solidFill>
                  <a:srgbClr val="A1B4A2"/>
                </a:solidFill>
                <a:prstDash val="solid"/>
                <a:miter/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1" name="Freeform 41"/>
            <p:cNvSpPr/>
            <p:nvPr/>
          </p:nvSpPr>
          <p:spPr>
            <a:xfrm>
              <a:off x="7365752" y="3776026"/>
              <a:ext cx="796781" cy="819121"/>
            </a:xfrm>
            <a:custGeom>
              <a:avLst/>
              <a:gdLst/>
              <a:ahLst/>
              <a:cxnLst/>
              <a:rect l="l" t="t" r="r" b="b"/>
              <a:pathLst>
                <a:path w="796781" h="819121">
                  <a:moveTo>
                    <a:pt x="0" y="0"/>
                  </a:moveTo>
                  <a:lnTo>
                    <a:pt x="796782" y="0"/>
                  </a:lnTo>
                  <a:lnTo>
                    <a:pt x="796782" y="819121"/>
                  </a:lnTo>
                  <a:lnTo>
                    <a:pt x="0" y="81912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229653" y="5309751"/>
              <a:ext cx="1038806" cy="2736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 b="1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STEP 3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08D7E713-47AC-49E6-C51F-E8A1B3FFF41E}"/>
              </a:ext>
            </a:extLst>
          </p:cNvPr>
          <p:cNvGrpSpPr/>
          <p:nvPr/>
        </p:nvGrpSpPr>
        <p:grpSpPr>
          <a:xfrm>
            <a:off x="9334321" y="3314700"/>
            <a:ext cx="2408529" cy="2360792"/>
            <a:chOff x="9334321" y="3314700"/>
            <a:chExt cx="2408529" cy="2360792"/>
          </a:xfrm>
        </p:grpSpPr>
        <p:grpSp>
          <p:nvGrpSpPr>
            <p:cNvPr id="20" name="Group 20"/>
            <p:cNvGrpSpPr/>
            <p:nvPr/>
          </p:nvGrpSpPr>
          <p:grpSpPr>
            <a:xfrm>
              <a:off x="9334321" y="5250600"/>
              <a:ext cx="2408529" cy="424892"/>
              <a:chOff x="0" y="0"/>
              <a:chExt cx="634345" cy="111906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0" y="0"/>
                <a:ext cx="634345" cy="111906"/>
              </a:xfrm>
              <a:custGeom>
                <a:avLst/>
                <a:gdLst/>
                <a:ahLst/>
                <a:cxnLst/>
                <a:rect l="l" t="t" r="r" b="b"/>
                <a:pathLst>
                  <a:path w="634345" h="111906">
                    <a:moveTo>
                      <a:pt x="55953" y="0"/>
                    </a:moveTo>
                    <a:lnTo>
                      <a:pt x="578392" y="0"/>
                    </a:lnTo>
                    <a:cubicBezTo>
                      <a:pt x="609294" y="0"/>
                      <a:pt x="634345" y="25051"/>
                      <a:pt x="634345" y="55953"/>
                    </a:cubicBezTo>
                    <a:lnTo>
                      <a:pt x="634345" y="55953"/>
                    </a:lnTo>
                    <a:cubicBezTo>
                      <a:pt x="634345" y="86855"/>
                      <a:pt x="609294" y="111906"/>
                      <a:pt x="578392" y="111906"/>
                    </a:cubicBezTo>
                    <a:lnTo>
                      <a:pt x="55953" y="111906"/>
                    </a:lnTo>
                    <a:cubicBezTo>
                      <a:pt x="25051" y="111906"/>
                      <a:pt x="0" y="86855"/>
                      <a:pt x="0" y="55953"/>
                    </a:cubicBezTo>
                    <a:lnTo>
                      <a:pt x="0" y="55953"/>
                    </a:lnTo>
                    <a:cubicBezTo>
                      <a:pt x="0" y="25051"/>
                      <a:pt x="25051" y="0"/>
                      <a:pt x="55953" y="0"/>
                    </a:cubicBezTo>
                    <a:close/>
                  </a:path>
                </a:pathLst>
              </a:custGeom>
              <a:solidFill>
                <a:srgbClr val="7DA2A9"/>
              </a:solidFill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0" y="-57150"/>
                <a:ext cx="634345" cy="16905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3" name="Group 23"/>
            <p:cNvGrpSpPr/>
            <p:nvPr/>
          </p:nvGrpSpPr>
          <p:grpSpPr>
            <a:xfrm>
              <a:off x="9665885" y="3314700"/>
              <a:ext cx="1745401" cy="1745401"/>
              <a:chOff x="0" y="0"/>
              <a:chExt cx="812800" cy="812800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71450" cap="sq">
                <a:solidFill>
                  <a:srgbClr val="7DA2A9"/>
                </a:solidFill>
                <a:prstDash val="solid"/>
                <a:miter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0" name="Freeform 40"/>
            <p:cNvSpPr/>
            <p:nvPr/>
          </p:nvSpPr>
          <p:spPr>
            <a:xfrm>
              <a:off x="10155282" y="3791465"/>
              <a:ext cx="791870" cy="791870"/>
            </a:xfrm>
            <a:custGeom>
              <a:avLst/>
              <a:gdLst/>
              <a:ahLst/>
              <a:cxnLst/>
              <a:rect l="l" t="t" r="r" b="b"/>
              <a:pathLst>
                <a:path w="791870" h="791870">
                  <a:moveTo>
                    <a:pt x="0" y="0"/>
                  </a:moveTo>
                  <a:lnTo>
                    <a:pt x="791870" y="0"/>
                  </a:lnTo>
                  <a:lnTo>
                    <a:pt x="791870" y="791870"/>
                  </a:lnTo>
                  <a:lnTo>
                    <a:pt x="0" y="7918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10019183" y="5307154"/>
              <a:ext cx="1038806" cy="2736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 b="1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STEP 4</a:t>
              </a:r>
            </a:p>
          </p:txBody>
        </p: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04E0EE93-08F7-5D32-32F5-1D226AB17DF6}"/>
              </a:ext>
            </a:extLst>
          </p:cNvPr>
          <p:cNvGrpSpPr/>
          <p:nvPr/>
        </p:nvGrpSpPr>
        <p:grpSpPr>
          <a:xfrm>
            <a:off x="12123850" y="3314700"/>
            <a:ext cx="2408529" cy="2360792"/>
            <a:chOff x="12123850" y="3314700"/>
            <a:chExt cx="2408529" cy="2360792"/>
          </a:xfrm>
        </p:grpSpPr>
        <p:grpSp>
          <p:nvGrpSpPr>
            <p:cNvPr id="26" name="Group 26"/>
            <p:cNvGrpSpPr/>
            <p:nvPr/>
          </p:nvGrpSpPr>
          <p:grpSpPr>
            <a:xfrm>
              <a:off x="12123850" y="5250600"/>
              <a:ext cx="2408529" cy="424892"/>
              <a:chOff x="0" y="0"/>
              <a:chExt cx="634345" cy="111906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0" y="0"/>
                <a:ext cx="634345" cy="111906"/>
              </a:xfrm>
              <a:custGeom>
                <a:avLst/>
                <a:gdLst/>
                <a:ahLst/>
                <a:cxnLst/>
                <a:rect l="l" t="t" r="r" b="b"/>
                <a:pathLst>
                  <a:path w="634345" h="111906">
                    <a:moveTo>
                      <a:pt x="55953" y="0"/>
                    </a:moveTo>
                    <a:lnTo>
                      <a:pt x="578392" y="0"/>
                    </a:lnTo>
                    <a:cubicBezTo>
                      <a:pt x="609294" y="0"/>
                      <a:pt x="634345" y="25051"/>
                      <a:pt x="634345" y="55953"/>
                    </a:cubicBezTo>
                    <a:lnTo>
                      <a:pt x="634345" y="55953"/>
                    </a:lnTo>
                    <a:cubicBezTo>
                      <a:pt x="634345" y="86855"/>
                      <a:pt x="609294" y="111906"/>
                      <a:pt x="578392" y="111906"/>
                    </a:cubicBezTo>
                    <a:lnTo>
                      <a:pt x="55953" y="111906"/>
                    </a:lnTo>
                    <a:cubicBezTo>
                      <a:pt x="25051" y="111906"/>
                      <a:pt x="0" y="86855"/>
                      <a:pt x="0" y="55953"/>
                    </a:cubicBezTo>
                    <a:lnTo>
                      <a:pt x="0" y="55953"/>
                    </a:lnTo>
                    <a:cubicBezTo>
                      <a:pt x="0" y="25051"/>
                      <a:pt x="25051" y="0"/>
                      <a:pt x="55953" y="0"/>
                    </a:cubicBezTo>
                    <a:close/>
                  </a:path>
                </a:pathLst>
              </a:custGeom>
              <a:solidFill>
                <a:srgbClr val="9E8C95"/>
              </a:solidFill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0" y="-57150"/>
                <a:ext cx="634345" cy="16905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29" name="Group 29"/>
            <p:cNvGrpSpPr/>
            <p:nvPr/>
          </p:nvGrpSpPr>
          <p:grpSpPr>
            <a:xfrm>
              <a:off x="12455414" y="3314700"/>
              <a:ext cx="1745401" cy="1745401"/>
              <a:chOff x="0" y="0"/>
              <a:chExt cx="812800" cy="812800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71450" cap="sq">
                <a:solidFill>
                  <a:srgbClr val="9E8C95"/>
                </a:solidFill>
                <a:prstDash val="solid"/>
                <a:miter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2" name="Freeform 42"/>
            <p:cNvSpPr/>
            <p:nvPr/>
          </p:nvSpPr>
          <p:spPr>
            <a:xfrm>
              <a:off x="12954574" y="3791465"/>
              <a:ext cx="747082" cy="756712"/>
            </a:xfrm>
            <a:custGeom>
              <a:avLst/>
              <a:gdLst/>
              <a:ahLst/>
              <a:cxnLst/>
              <a:rect l="l" t="t" r="r" b="b"/>
              <a:pathLst>
                <a:path w="747082" h="756712">
                  <a:moveTo>
                    <a:pt x="0" y="0"/>
                  </a:moveTo>
                  <a:lnTo>
                    <a:pt x="747082" y="0"/>
                  </a:lnTo>
                  <a:lnTo>
                    <a:pt x="747082" y="756712"/>
                  </a:lnTo>
                  <a:lnTo>
                    <a:pt x="0" y="7567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12808712" y="5307154"/>
              <a:ext cx="1038806" cy="2736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 b="1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STEP 5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F738603-3246-7075-60DF-FC1015E1DBEC}"/>
              </a:ext>
            </a:extLst>
          </p:cNvPr>
          <p:cNvGrpSpPr/>
          <p:nvPr/>
        </p:nvGrpSpPr>
        <p:grpSpPr>
          <a:xfrm>
            <a:off x="14913379" y="3314700"/>
            <a:ext cx="2408529" cy="2360792"/>
            <a:chOff x="14913379" y="3314700"/>
            <a:chExt cx="2408529" cy="2360792"/>
          </a:xfrm>
        </p:grpSpPr>
        <p:grpSp>
          <p:nvGrpSpPr>
            <p:cNvPr id="32" name="Group 32"/>
            <p:cNvGrpSpPr/>
            <p:nvPr/>
          </p:nvGrpSpPr>
          <p:grpSpPr>
            <a:xfrm>
              <a:off x="14913379" y="5250600"/>
              <a:ext cx="2408529" cy="424892"/>
              <a:chOff x="0" y="0"/>
              <a:chExt cx="634345" cy="111906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0" y="0"/>
                <a:ext cx="634345" cy="111906"/>
              </a:xfrm>
              <a:custGeom>
                <a:avLst/>
                <a:gdLst/>
                <a:ahLst/>
                <a:cxnLst/>
                <a:rect l="l" t="t" r="r" b="b"/>
                <a:pathLst>
                  <a:path w="634345" h="111906">
                    <a:moveTo>
                      <a:pt x="55953" y="0"/>
                    </a:moveTo>
                    <a:lnTo>
                      <a:pt x="578392" y="0"/>
                    </a:lnTo>
                    <a:cubicBezTo>
                      <a:pt x="609294" y="0"/>
                      <a:pt x="634345" y="25051"/>
                      <a:pt x="634345" y="55953"/>
                    </a:cubicBezTo>
                    <a:lnTo>
                      <a:pt x="634345" y="55953"/>
                    </a:lnTo>
                    <a:cubicBezTo>
                      <a:pt x="634345" y="86855"/>
                      <a:pt x="609294" y="111906"/>
                      <a:pt x="578392" y="111906"/>
                    </a:cubicBezTo>
                    <a:lnTo>
                      <a:pt x="55953" y="111906"/>
                    </a:lnTo>
                    <a:cubicBezTo>
                      <a:pt x="25051" y="111906"/>
                      <a:pt x="0" y="86855"/>
                      <a:pt x="0" y="55953"/>
                    </a:cubicBezTo>
                    <a:lnTo>
                      <a:pt x="0" y="55953"/>
                    </a:lnTo>
                    <a:cubicBezTo>
                      <a:pt x="0" y="25051"/>
                      <a:pt x="25051" y="0"/>
                      <a:pt x="55953" y="0"/>
                    </a:cubicBezTo>
                    <a:close/>
                  </a:path>
                </a:pathLst>
              </a:custGeom>
              <a:solidFill>
                <a:srgbClr val="667B8A"/>
              </a:solidFill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0" y="-57150"/>
                <a:ext cx="634345" cy="16905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15244944" y="3314700"/>
              <a:ext cx="1745401" cy="1745401"/>
              <a:chOff x="0" y="0"/>
              <a:chExt cx="812800" cy="81280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71450" cap="sq">
                <a:solidFill>
                  <a:srgbClr val="667B8A"/>
                </a:solidFill>
                <a:prstDash val="solid"/>
                <a:miter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76200" y="19050"/>
                <a:ext cx="660400" cy="7175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43" name="Freeform 43"/>
            <p:cNvSpPr/>
            <p:nvPr/>
          </p:nvSpPr>
          <p:spPr>
            <a:xfrm>
              <a:off x="15743865" y="3739741"/>
              <a:ext cx="754753" cy="895318"/>
            </a:xfrm>
            <a:custGeom>
              <a:avLst/>
              <a:gdLst/>
              <a:ahLst/>
              <a:cxnLst/>
              <a:rect l="l" t="t" r="r" b="b"/>
              <a:pathLst>
                <a:path w="754753" h="895318">
                  <a:moveTo>
                    <a:pt x="0" y="0"/>
                  </a:moveTo>
                  <a:lnTo>
                    <a:pt x="754754" y="0"/>
                  </a:lnTo>
                  <a:lnTo>
                    <a:pt x="754754" y="895318"/>
                  </a:lnTo>
                  <a:lnTo>
                    <a:pt x="0" y="8953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15598241" y="5307154"/>
              <a:ext cx="1038806" cy="27368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239"/>
                </a:lnSpc>
              </a:pPr>
              <a:r>
                <a:rPr lang="en-US" sz="1599" b="1">
                  <a:solidFill>
                    <a:srgbClr val="FFFFFF"/>
                  </a:solidFill>
                  <a:latin typeface="Lato Bold"/>
                  <a:ea typeface="Lato Bold"/>
                  <a:cs typeface="Lato Bold"/>
                  <a:sym typeface="Lato Bold"/>
                </a:rPr>
                <a:t>STEP 6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  <p:bldP spid="48" grpId="0"/>
      <p:bldP spid="49" grpId="0"/>
      <p:bldP spid="50" grpId="0"/>
      <p:bldP spid="51" grpId="0"/>
      <p:bldP spid="52" grpId="0"/>
      <p:bldP spid="53" grpId="0"/>
      <p:bldP spid="54" grpId="0"/>
      <p:bldP spid="55" grpId="0"/>
      <p:bldP spid="56" grpId="0"/>
      <p:bldP spid="5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2234655">
            <a:off x="-6361358" y="-1171957"/>
            <a:ext cx="15359471" cy="15080208"/>
          </a:xfrm>
          <a:custGeom>
            <a:avLst/>
            <a:gdLst/>
            <a:ahLst/>
            <a:cxnLst/>
            <a:rect l="l" t="t" r="r" b="b"/>
            <a:pathLst>
              <a:path w="15359471" h="15080208">
                <a:moveTo>
                  <a:pt x="0" y="0"/>
                </a:moveTo>
                <a:lnTo>
                  <a:pt x="15359470" y="0"/>
                </a:lnTo>
                <a:lnTo>
                  <a:pt x="15359470" y="15080208"/>
                </a:lnTo>
                <a:lnTo>
                  <a:pt x="0" y="150802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158413" y="972993"/>
            <a:ext cx="5228940" cy="5228940"/>
          </a:xfrm>
          <a:custGeom>
            <a:avLst/>
            <a:gdLst/>
            <a:ahLst/>
            <a:cxnLst/>
            <a:rect l="l" t="t" r="r" b="b"/>
            <a:pathLst>
              <a:path w="5228940" h="5228940">
                <a:moveTo>
                  <a:pt x="0" y="0"/>
                </a:moveTo>
                <a:lnTo>
                  <a:pt x="5228940" y="0"/>
                </a:lnTo>
                <a:lnTo>
                  <a:pt x="5228940" y="5228940"/>
                </a:lnTo>
                <a:lnTo>
                  <a:pt x="0" y="522894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3547159">
            <a:off x="15264622" y="5435074"/>
            <a:ext cx="7568009" cy="7744570"/>
          </a:xfrm>
          <a:custGeom>
            <a:avLst/>
            <a:gdLst/>
            <a:ahLst/>
            <a:cxnLst/>
            <a:rect l="l" t="t" r="r" b="b"/>
            <a:pathLst>
              <a:path w="7568009" h="7744570">
                <a:moveTo>
                  <a:pt x="0" y="0"/>
                </a:moveTo>
                <a:lnTo>
                  <a:pt x="7568010" y="0"/>
                </a:lnTo>
                <a:lnTo>
                  <a:pt x="7568010" y="7744570"/>
                </a:lnTo>
                <a:lnTo>
                  <a:pt x="0" y="774457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900647" y="915955"/>
            <a:ext cx="5228940" cy="5228940"/>
          </a:xfrm>
          <a:custGeom>
            <a:avLst/>
            <a:gdLst/>
            <a:ahLst/>
            <a:cxnLst/>
            <a:rect l="l" t="t" r="r" b="b"/>
            <a:pathLst>
              <a:path w="5228940" h="5228940">
                <a:moveTo>
                  <a:pt x="0" y="0"/>
                </a:moveTo>
                <a:lnTo>
                  <a:pt x="5228941" y="0"/>
                </a:lnTo>
                <a:lnTo>
                  <a:pt x="5228941" y="5228940"/>
                </a:lnTo>
                <a:lnTo>
                  <a:pt x="0" y="52289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343400" y="7256162"/>
            <a:ext cx="9818400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719"/>
              </a:lnSpc>
              <a:spcBef>
                <a:spcPct val="0"/>
              </a:spcBef>
            </a:pPr>
            <a:r>
              <a:rPr lang="en-US" sz="4799" b="1" u="none" strike="noStrike" dirty="0">
                <a:solidFill>
                  <a:srgbClr val="3C3C50"/>
                </a:solidFill>
                <a:latin typeface="Poppins Bold"/>
                <a:ea typeface="Poppins Bold"/>
                <a:cs typeface="Poppins Bold"/>
                <a:sym typeface="Poppins Bold"/>
              </a:rPr>
              <a:t>TYPES OF DATA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937660" y="1872258"/>
            <a:ext cx="5228940" cy="13554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Structured </a:t>
            </a:r>
          </a:p>
          <a:p>
            <a:pPr algn="ctr">
              <a:lnSpc>
                <a:spcPts val="5400"/>
              </a:lnSpc>
            </a:pPr>
            <a:r>
              <a:rPr lang="en-US" sz="4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67357" y="3237501"/>
            <a:ext cx="4095519" cy="1292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2800" dirty="0"/>
              <a:t>Organized in tables, easy to analyze</a:t>
            </a:r>
          </a:p>
          <a:p>
            <a:r>
              <a:rPr lang="en-US" sz="2800" dirty="0"/>
              <a:t>• Example: Excel, SQL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165561" y="1872259"/>
            <a:ext cx="5228941" cy="135549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Unstructured </a:t>
            </a:r>
          </a:p>
          <a:p>
            <a:pPr algn="ctr">
              <a:lnSpc>
                <a:spcPts val="5400"/>
              </a:lnSpc>
            </a:pPr>
            <a:r>
              <a:rPr lang="en-US" sz="4000" b="1" dirty="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Data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991936" y="3233118"/>
            <a:ext cx="3828707" cy="12926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IN" sz="2800" dirty="0"/>
              <a:t>No fixed format</a:t>
            </a:r>
          </a:p>
          <a:p>
            <a:r>
              <a:rPr lang="en-IN" sz="2800" dirty="0"/>
              <a:t>• Example: Images, videos, social media posts</a:t>
            </a:r>
          </a:p>
        </p:txBody>
      </p:sp>
      <p:sp>
        <p:nvSpPr>
          <p:cNvPr id="19" name="Freeform 19"/>
          <p:cNvSpPr/>
          <p:nvPr/>
        </p:nvSpPr>
        <p:spPr>
          <a:xfrm flipH="1">
            <a:off x="548772" y="6402914"/>
            <a:ext cx="2477320" cy="2904445"/>
          </a:xfrm>
          <a:custGeom>
            <a:avLst/>
            <a:gdLst/>
            <a:ahLst/>
            <a:cxnLst/>
            <a:rect l="l" t="t" r="r" b="b"/>
            <a:pathLst>
              <a:path w="2477320" h="2904445">
                <a:moveTo>
                  <a:pt x="2477321" y="0"/>
                </a:moveTo>
                <a:lnTo>
                  <a:pt x="0" y="0"/>
                </a:lnTo>
                <a:lnTo>
                  <a:pt x="0" y="2904445"/>
                </a:lnTo>
                <a:lnTo>
                  <a:pt x="2477321" y="2904445"/>
                </a:lnTo>
                <a:lnTo>
                  <a:pt x="247732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44873" t="-24274" r="-375601" b="-162264"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5387353" y="1490432"/>
            <a:ext cx="3294683" cy="763654"/>
          </a:xfrm>
          <a:custGeom>
            <a:avLst/>
            <a:gdLst/>
            <a:ahLst/>
            <a:cxnLst/>
            <a:rect l="l" t="t" r="r" b="b"/>
            <a:pathLst>
              <a:path w="3294683" h="763654">
                <a:moveTo>
                  <a:pt x="0" y="0"/>
                </a:moveTo>
                <a:lnTo>
                  <a:pt x="3294683" y="0"/>
                </a:lnTo>
                <a:lnTo>
                  <a:pt x="3294683" y="763654"/>
                </a:lnTo>
                <a:lnTo>
                  <a:pt x="0" y="76365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-30615" r="-89665" b="-712135"/>
            </a:stretch>
          </a:blipFill>
        </p:spPr>
      </p:sp>
      <p:sp>
        <p:nvSpPr>
          <p:cNvPr id="21" name="Freeform 21"/>
          <p:cNvSpPr/>
          <p:nvPr/>
        </p:nvSpPr>
        <p:spPr>
          <a:xfrm rot="-5025802">
            <a:off x="-2450586" y="-1683701"/>
            <a:ext cx="4272851" cy="4343933"/>
          </a:xfrm>
          <a:custGeom>
            <a:avLst/>
            <a:gdLst/>
            <a:ahLst/>
            <a:cxnLst/>
            <a:rect l="l" t="t" r="r" b="b"/>
            <a:pathLst>
              <a:path w="4272851" h="4343933">
                <a:moveTo>
                  <a:pt x="0" y="0"/>
                </a:moveTo>
                <a:lnTo>
                  <a:pt x="4272851" y="0"/>
                </a:lnTo>
                <a:lnTo>
                  <a:pt x="4272851" y="4343933"/>
                </a:lnTo>
                <a:lnTo>
                  <a:pt x="0" y="434393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10800000">
            <a:off x="1114723" y="3356318"/>
            <a:ext cx="3690937" cy="3229570"/>
            <a:chOff x="0" y="0"/>
            <a:chExt cx="812800" cy="711200"/>
          </a:xfrm>
        </p:grpSpPr>
        <p:sp>
          <p:nvSpPr>
            <p:cNvPr id="3" name="Freeform 3"/>
            <p:cNvSpPr/>
            <p:nvPr/>
          </p:nvSpPr>
          <p:spPr>
            <a:xfrm>
              <a:off x="82539" y="0"/>
              <a:ext cx="647721" cy="589475"/>
            </a:xfrm>
            <a:custGeom>
              <a:avLst/>
              <a:gdLst/>
              <a:ahLst/>
              <a:cxnLst/>
              <a:rect l="l" t="t" r="r" b="b"/>
              <a:pathLst>
                <a:path w="647721" h="589475">
                  <a:moveTo>
                    <a:pt x="427929" y="529082"/>
                  </a:moveTo>
                  <a:lnTo>
                    <a:pt x="626193" y="182118"/>
                  </a:lnTo>
                  <a:cubicBezTo>
                    <a:pt x="647722" y="144444"/>
                    <a:pt x="647567" y="98158"/>
                    <a:pt x="625788" y="60628"/>
                  </a:cubicBezTo>
                  <a:cubicBezTo>
                    <a:pt x="604008" y="23098"/>
                    <a:pt x="563898" y="0"/>
                    <a:pt x="520506" y="0"/>
                  </a:cubicBezTo>
                  <a:lnTo>
                    <a:pt x="127216" y="0"/>
                  </a:lnTo>
                  <a:cubicBezTo>
                    <a:pt x="83824" y="0"/>
                    <a:pt x="43714" y="23098"/>
                    <a:pt x="21934" y="60628"/>
                  </a:cubicBezTo>
                  <a:cubicBezTo>
                    <a:pt x="155" y="98158"/>
                    <a:pt x="0" y="144444"/>
                    <a:pt x="21529" y="182118"/>
                  </a:cubicBezTo>
                  <a:lnTo>
                    <a:pt x="219793" y="529082"/>
                  </a:lnTo>
                  <a:cubicBezTo>
                    <a:pt x="241134" y="566427"/>
                    <a:pt x="280848" y="589475"/>
                    <a:pt x="323861" y="589475"/>
                  </a:cubicBezTo>
                  <a:cubicBezTo>
                    <a:pt x="366874" y="589475"/>
                    <a:pt x="406588" y="566427"/>
                    <a:pt x="427929" y="529082"/>
                  </a:cubicBezTo>
                  <a:close/>
                </a:path>
              </a:pathLst>
            </a:custGeom>
            <a:solidFill>
              <a:srgbClr val="717092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179088" y="4714162"/>
            <a:ext cx="1562207" cy="1562207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10800000">
            <a:off x="7341543" y="3356318"/>
            <a:ext cx="3690937" cy="3229570"/>
            <a:chOff x="0" y="0"/>
            <a:chExt cx="812800" cy="711200"/>
          </a:xfrm>
        </p:grpSpPr>
        <p:sp>
          <p:nvSpPr>
            <p:cNvPr id="9" name="Freeform 9"/>
            <p:cNvSpPr/>
            <p:nvPr/>
          </p:nvSpPr>
          <p:spPr>
            <a:xfrm>
              <a:off x="82539" y="0"/>
              <a:ext cx="647721" cy="589475"/>
            </a:xfrm>
            <a:custGeom>
              <a:avLst/>
              <a:gdLst/>
              <a:ahLst/>
              <a:cxnLst/>
              <a:rect l="l" t="t" r="r" b="b"/>
              <a:pathLst>
                <a:path w="647721" h="589475">
                  <a:moveTo>
                    <a:pt x="427929" y="529082"/>
                  </a:moveTo>
                  <a:lnTo>
                    <a:pt x="626193" y="182118"/>
                  </a:lnTo>
                  <a:cubicBezTo>
                    <a:pt x="647722" y="144444"/>
                    <a:pt x="647567" y="98158"/>
                    <a:pt x="625788" y="60628"/>
                  </a:cubicBezTo>
                  <a:cubicBezTo>
                    <a:pt x="604008" y="23098"/>
                    <a:pt x="563898" y="0"/>
                    <a:pt x="520506" y="0"/>
                  </a:cubicBezTo>
                  <a:lnTo>
                    <a:pt x="127216" y="0"/>
                  </a:lnTo>
                  <a:cubicBezTo>
                    <a:pt x="83824" y="0"/>
                    <a:pt x="43714" y="23098"/>
                    <a:pt x="21934" y="60628"/>
                  </a:cubicBezTo>
                  <a:cubicBezTo>
                    <a:pt x="155" y="98158"/>
                    <a:pt x="0" y="144444"/>
                    <a:pt x="21529" y="182118"/>
                  </a:cubicBezTo>
                  <a:lnTo>
                    <a:pt x="219793" y="529082"/>
                  </a:lnTo>
                  <a:cubicBezTo>
                    <a:pt x="241134" y="566427"/>
                    <a:pt x="280848" y="589475"/>
                    <a:pt x="323861" y="589475"/>
                  </a:cubicBezTo>
                  <a:cubicBezTo>
                    <a:pt x="366874" y="589475"/>
                    <a:pt x="406588" y="566427"/>
                    <a:pt x="427929" y="529082"/>
                  </a:cubicBezTo>
                  <a:close/>
                </a:path>
              </a:pathLst>
            </a:custGeom>
            <a:solidFill>
              <a:srgbClr val="A1B4A2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405908" y="4714162"/>
            <a:ext cx="1562207" cy="1562207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0454953" y="6416500"/>
            <a:ext cx="3690937" cy="3229570"/>
            <a:chOff x="0" y="0"/>
            <a:chExt cx="812800" cy="711200"/>
          </a:xfrm>
        </p:grpSpPr>
        <p:sp>
          <p:nvSpPr>
            <p:cNvPr id="15" name="Freeform 15"/>
            <p:cNvSpPr/>
            <p:nvPr/>
          </p:nvSpPr>
          <p:spPr>
            <a:xfrm>
              <a:off x="82539" y="0"/>
              <a:ext cx="647721" cy="589475"/>
            </a:xfrm>
            <a:custGeom>
              <a:avLst/>
              <a:gdLst/>
              <a:ahLst/>
              <a:cxnLst/>
              <a:rect l="l" t="t" r="r" b="b"/>
              <a:pathLst>
                <a:path w="647721" h="589475">
                  <a:moveTo>
                    <a:pt x="427929" y="529082"/>
                  </a:moveTo>
                  <a:lnTo>
                    <a:pt x="626193" y="182118"/>
                  </a:lnTo>
                  <a:cubicBezTo>
                    <a:pt x="647722" y="144444"/>
                    <a:pt x="647567" y="98158"/>
                    <a:pt x="625788" y="60628"/>
                  </a:cubicBezTo>
                  <a:cubicBezTo>
                    <a:pt x="604008" y="23098"/>
                    <a:pt x="563898" y="0"/>
                    <a:pt x="520506" y="0"/>
                  </a:cubicBezTo>
                  <a:lnTo>
                    <a:pt x="127216" y="0"/>
                  </a:lnTo>
                  <a:cubicBezTo>
                    <a:pt x="83824" y="0"/>
                    <a:pt x="43714" y="23098"/>
                    <a:pt x="21934" y="60628"/>
                  </a:cubicBezTo>
                  <a:cubicBezTo>
                    <a:pt x="155" y="98158"/>
                    <a:pt x="0" y="144444"/>
                    <a:pt x="21529" y="182118"/>
                  </a:cubicBezTo>
                  <a:lnTo>
                    <a:pt x="219793" y="529082"/>
                  </a:lnTo>
                  <a:cubicBezTo>
                    <a:pt x="241134" y="566427"/>
                    <a:pt x="280848" y="589475"/>
                    <a:pt x="323861" y="589475"/>
                  </a:cubicBezTo>
                  <a:cubicBezTo>
                    <a:pt x="366874" y="589475"/>
                    <a:pt x="406588" y="566427"/>
                    <a:pt x="427929" y="529082"/>
                  </a:cubicBezTo>
                  <a:close/>
                </a:path>
              </a:pathLst>
            </a:custGeom>
            <a:solidFill>
              <a:srgbClr val="7DA2A9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 rot="-10800000">
            <a:off x="13568363" y="3356318"/>
            <a:ext cx="3690937" cy="3229570"/>
            <a:chOff x="0" y="0"/>
            <a:chExt cx="812800" cy="711200"/>
          </a:xfrm>
        </p:grpSpPr>
        <p:sp>
          <p:nvSpPr>
            <p:cNvPr id="18" name="Freeform 18"/>
            <p:cNvSpPr/>
            <p:nvPr/>
          </p:nvSpPr>
          <p:spPr>
            <a:xfrm>
              <a:off x="82539" y="0"/>
              <a:ext cx="647721" cy="589475"/>
            </a:xfrm>
            <a:custGeom>
              <a:avLst/>
              <a:gdLst/>
              <a:ahLst/>
              <a:cxnLst/>
              <a:rect l="l" t="t" r="r" b="b"/>
              <a:pathLst>
                <a:path w="647721" h="589475">
                  <a:moveTo>
                    <a:pt x="427929" y="529082"/>
                  </a:moveTo>
                  <a:lnTo>
                    <a:pt x="626193" y="182118"/>
                  </a:lnTo>
                  <a:cubicBezTo>
                    <a:pt x="647722" y="144444"/>
                    <a:pt x="647567" y="98158"/>
                    <a:pt x="625788" y="60628"/>
                  </a:cubicBezTo>
                  <a:cubicBezTo>
                    <a:pt x="604008" y="23098"/>
                    <a:pt x="563898" y="0"/>
                    <a:pt x="520506" y="0"/>
                  </a:cubicBezTo>
                  <a:lnTo>
                    <a:pt x="127216" y="0"/>
                  </a:lnTo>
                  <a:cubicBezTo>
                    <a:pt x="83824" y="0"/>
                    <a:pt x="43714" y="23098"/>
                    <a:pt x="21934" y="60628"/>
                  </a:cubicBezTo>
                  <a:cubicBezTo>
                    <a:pt x="155" y="98158"/>
                    <a:pt x="0" y="144444"/>
                    <a:pt x="21529" y="182118"/>
                  </a:cubicBezTo>
                  <a:lnTo>
                    <a:pt x="219793" y="529082"/>
                  </a:lnTo>
                  <a:cubicBezTo>
                    <a:pt x="241134" y="566427"/>
                    <a:pt x="280848" y="589475"/>
                    <a:pt x="323861" y="589475"/>
                  </a:cubicBezTo>
                  <a:cubicBezTo>
                    <a:pt x="366874" y="589475"/>
                    <a:pt x="406588" y="566427"/>
                    <a:pt x="427929" y="529082"/>
                  </a:cubicBezTo>
                  <a:close/>
                </a:path>
              </a:pathLst>
            </a:custGeom>
            <a:solidFill>
              <a:srgbClr val="9E8C95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228133" y="6416500"/>
            <a:ext cx="3690937" cy="3229570"/>
            <a:chOff x="0" y="0"/>
            <a:chExt cx="812800" cy="711200"/>
          </a:xfrm>
        </p:grpSpPr>
        <p:sp>
          <p:nvSpPr>
            <p:cNvPr id="21" name="Freeform 21"/>
            <p:cNvSpPr/>
            <p:nvPr/>
          </p:nvSpPr>
          <p:spPr>
            <a:xfrm>
              <a:off x="82539" y="0"/>
              <a:ext cx="647721" cy="589475"/>
            </a:xfrm>
            <a:custGeom>
              <a:avLst/>
              <a:gdLst/>
              <a:ahLst/>
              <a:cxnLst/>
              <a:rect l="l" t="t" r="r" b="b"/>
              <a:pathLst>
                <a:path w="647721" h="589475">
                  <a:moveTo>
                    <a:pt x="427929" y="529082"/>
                  </a:moveTo>
                  <a:lnTo>
                    <a:pt x="626193" y="182118"/>
                  </a:lnTo>
                  <a:cubicBezTo>
                    <a:pt x="647722" y="144444"/>
                    <a:pt x="647567" y="98158"/>
                    <a:pt x="625788" y="60628"/>
                  </a:cubicBezTo>
                  <a:cubicBezTo>
                    <a:pt x="604008" y="23098"/>
                    <a:pt x="563898" y="0"/>
                    <a:pt x="520506" y="0"/>
                  </a:cubicBezTo>
                  <a:lnTo>
                    <a:pt x="127216" y="0"/>
                  </a:lnTo>
                  <a:cubicBezTo>
                    <a:pt x="83824" y="0"/>
                    <a:pt x="43714" y="23098"/>
                    <a:pt x="21934" y="60628"/>
                  </a:cubicBezTo>
                  <a:cubicBezTo>
                    <a:pt x="155" y="98158"/>
                    <a:pt x="0" y="144444"/>
                    <a:pt x="21529" y="182118"/>
                  </a:cubicBezTo>
                  <a:lnTo>
                    <a:pt x="219793" y="529082"/>
                  </a:lnTo>
                  <a:cubicBezTo>
                    <a:pt x="241134" y="566427"/>
                    <a:pt x="280848" y="589475"/>
                    <a:pt x="323861" y="589475"/>
                  </a:cubicBezTo>
                  <a:cubicBezTo>
                    <a:pt x="366874" y="589475"/>
                    <a:pt x="406588" y="566427"/>
                    <a:pt x="427929" y="529082"/>
                  </a:cubicBezTo>
                  <a:close/>
                </a:path>
              </a:pathLst>
            </a:custGeom>
            <a:solidFill>
              <a:srgbClr val="D9B98B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292498" y="6727519"/>
            <a:ext cx="1562207" cy="1562207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14632728" y="4714162"/>
            <a:ext cx="1562207" cy="1562207"/>
            <a:chOff x="0" y="0"/>
            <a:chExt cx="812800" cy="8128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8" name="TextBox 28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519318" y="6727519"/>
            <a:ext cx="1562207" cy="1562207"/>
            <a:chOff x="0" y="0"/>
            <a:chExt cx="812800" cy="812800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31" name="TextBox 31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Freeform 32"/>
          <p:cNvSpPr/>
          <p:nvPr/>
        </p:nvSpPr>
        <p:spPr>
          <a:xfrm rot="2545444">
            <a:off x="2058488" y="3175652"/>
            <a:ext cx="1760271" cy="1606647"/>
          </a:xfrm>
          <a:custGeom>
            <a:avLst/>
            <a:gdLst/>
            <a:ahLst/>
            <a:cxnLst/>
            <a:rect l="l" t="t" r="r" b="b"/>
            <a:pathLst>
              <a:path w="1760271" h="1606647">
                <a:moveTo>
                  <a:pt x="0" y="0"/>
                </a:moveTo>
                <a:lnTo>
                  <a:pt x="1760271" y="0"/>
                </a:lnTo>
                <a:lnTo>
                  <a:pt x="1760271" y="1606648"/>
                </a:lnTo>
                <a:lnTo>
                  <a:pt x="0" y="16066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3" name="Freeform 33"/>
          <p:cNvSpPr/>
          <p:nvPr/>
        </p:nvSpPr>
        <p:spPr>
          <a:xfrm rot="2545444">
            <a:off x="8306876" y="3175652"/>
            <a:ext cx="1760271" cy="1606647"/>
          </a:xfrm>
          <a:custGeom>
            <a:avLst/>
            <a:gdLst/>
            <a:ahLst/>
            <a:cxnLst/>
            <a:rect l="l" t="t" r="r" b="b"/>
            <a:pathLst>
              <a:path w="1760271" h="1606647">
                <a:moveTo>
                  <a:pt x="0" y="0"/>
                </a:moveTo>
                <a:lnTo>
                  <a:pt x="1760271" y="0"/>
                </a:lnTo>
                <a:lnTo>
                  <a:pt x="1760271" y="1606648"/>
                </a:lnTo>
                <a:lnTo>
                  <a:pt x="0" y="16066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4" name="Freeform 34"/>
          <p:cNvSpPr/>
          <p:nvPr/>
        </p:nvSpPr>
        <p:spPr>
          <a:xfrm rot="8168989" flipH="1">
            <a:off x="5192418" y="8223419"/>
            <a:ext cx="1760271" cy="1606647"/>
          </a:xfrm>
          <a:custGeom>
            <a:avLst/>
            <a:gdLst/>
            <a:ahLst/>
            <a:cxnLst/>
            <a:rect l="l" t="t" r="r" b="b"/>
            <a:pathLst>
              <a:path w="1760271" h="1606647">
                <a:moveTo>
                  <a:pt x="1760271" y="0"/>
                </a:moveTo>
                <a:lnTo>
                  <a:pt x="0" y="0"/>
                </a:lnTo>
                <a:lnTo>
                  <a:pt x="0" y="1606647"/>
                </a:lnTo>
                <a:lnTo>
                  <a:pt x="1760271" y="1606647"/>
                </a:lnTo>
                <a:lnTo>
                  <a:pt x="1760271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35" name="Freeform 35"/>
          <p:cNvSpPr/>
          <p:nvPr/>
        </p:nvSpPr>
        <p:spPr>
          <a:xfrm rot="2545444">
            <a:off x="14555264" y="3175652"/>
            <a:ext cx="1760271" cy="1606647"/>
          </a:xfrm>
          <a:custGeom>
            <a:avLst/>
            <a:gdLst/>
            <a:ahLst/>
            <a:cxnLst/>
            <a:rect l="l" t="t" r="r" b="b"/>
            <a:pathLst>
              <a:path w="1760271" h="1606647">
                <a:moveTo>
                  <a:pt x="0" y="0"/>
                </a:moveTo>
                <a:lnTo>
                  <a:pt x="1760271" y="0"/>
                </a:lnTo>
                <a:lnTo>
                  <a:pt x="1760271" y="1606648"/>
                </a:lnTo>
                <a:lnTo>
                  <a:pt x="0" y="160664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36" name="Freeform 36"/>
          <p:cNvSpPr/>
          <p:nvPr/>
        </p:nvSpPr>
        <p:spPr>
          <a:xfrm rot="8174555" flipH="1">
            <a:off x="11440806" y="8223419"/>
            <a:ext cx="1760271" cy="1606647"/>
          </a:xfrm>
          <a:custGeom>
            <a:avLst/>
            <a:gdLst/>
            <a:ahLst/>
            <a:cxnLst/>
            <a:rect l="l" t="t" r="r" b="b"/>
            <a:pathLst>
              <a:path w="1760271" h="1606647">
                <a:moveTo>
                  <a:pt x="1760271" y="0"/>
                </a:moveTo>
                <a:lnTo>
                  <a:pt x="0" y="0"/>
                </a:lnTo>
                <a:lnTo>
                  <a:pt x="0" y="1606647"/>
                </a:lnTo>
                <a:lnTo>
                  <a:pt x="1760271" y="1606647"/>
                </a:lnTo>
                <a:lnTo>
                  <a:pt x="1760271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7" name="Freeform 37"/>
          <p:cNvSpPr/>
          <p:nvPr/>
        </p:nvSpPr>
        <p:spPr>
          <a:xfrm>
            <a:off x="2637639" y="5113889"/>
            <a:ext cx="710154" cy="778057"/>
          </a:xfrm>
          <a:custGeom>
            <a:avLst/>
            <a:gdLst/>
            <a:ahLst/>
            <a:cxnLst/>
            <a:rect l="l" t="t" r="r" b="b"/>
            <a:pathLst>
              <a:path w="710154" h="778057">
                <a:moveTo>
                  <a:pt x="0" y="0"/>
                </a:moveTo>
                <a:lnTo>
                  <a:pt x="710153" y="0"/>
                </a:lnTo>
                <a:lnTo>
                  <a:pt x="710153" y="778057"/>
                </a:lnTo>
                <a:lnTo>
                  <a:pt x="0" y="778057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38" name="Freeform 38"/>
          <p:cNvSpPr/>
          <p:nvPr/>
        </p:nvSpPr>
        <p:spPr>
          <a:xfrm>
            <a:off x="5682024" y="7094032"/>
            <a:ext cx="826167" cy="829182"/>
          </a:xfrm>
          <a:custGeom>
            <a:avLst/>
            <a:gdLst/>
            <a:ahLst/>
            <a:cxnLst/>
            <a:rect l="l" t="t" r="r" b="b"/>
            <a:pathLst>
              <a:path w="826167" h="829182">
                <a:moveTo>
                  <a:pt x="0" y="0"/>
                </a:moveTo>
                <a:lnTo>
                  <a:pt x="826166" y="0"/>
                </a:lnTo>
                <a:lnTo>
                  <a:pt x="826166" y="829181"/>
                </a:lnTo>
                <a:lnTo>
                  <a:pt x="0" y="82918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9" name="Freeform 39"/>
          <p:cNvSpPr/>
          <p:nvPr/>
        </p:nvSpPr>
        <p:spPr>
          <a:xfrm>
            <a:off x="8677279" y="4987882"/>
            <a:ext cx="1019464" cy="1014767"/>
          </a:xfrm>
          <a:custGeom>
            <a:avLst/>
            <a:gdLst/>
            <a:ahLst/>
            <a:cxnLst/>
            <a:rect l="l" t="t" r="r" b="b"/>
            <a:pathLst>
              <a:path w="1019464" h="1014767">
                <a:moveTo>
                  <a:pt x="0" y="0"/>
                </a:moveTo>
                <a:lnTo>
                  <a:pt x="1019464" y="0"/>
                </a:lnTo>
                <a:lnTo>
                  <a:pt x="1019464" y="1014767"/>
                </a:lnTo>
                <a:lnTo>
                  <a:pt x="0" y="1014767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40" name="Freeform 40"/>
          <p:cNvSpPr/>
          <p:nvPr/>
        </p:nvSpPr>
        <p:spPr>
          <a:xfrm>
            <a:off x="11827274" y="7019929"/>
            <a:ext cx="903284" cy="903284"/>
          </a:xfrm>
          <a:custGeom>
            <a:avLst/>
            <a:gdLst/>
            <a:ahLst/>
            <a:cxnLst/>
            <a:rect l="l" t="t" r="r" b="b"/>
            <a:pathLst>
              <a:path w="903284" h="903284">
                <a:moveTo>
                  <a:pt x="0" y="0"/>
                </a:moveTo>
                <a:lnTo>
                  <a:pt x="903284" y="0"/>
                </a:lnTo>
                <a:lnTo>
                  <a:pt x="903284" y="903284"/>
                </a:lnTo>
                <a:lnTo>
                  <a:pt x="0" y="903284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41" name="Freeform 41"/>
          <p:cNvSpPr/>
          <p:nvPr/>
        </p:nvSpPr>
        <p:spPr>
          <a:xfrm>
            <a:off x="14998138" y="5062453"/>
            <a:ext cx="874522" cy="880929"/>
          </a:xfrm>
          <a:custGeom>
            <a:avLst/>
            <a:gdLst/>
            <a:ahLst/>
            <a:cxnLst/>
            <a:rect l="l" t="t" r="r" b="b"/>
            <a:pathLst>
              <a:path w="874522" h="880929">
                <a:moveTo>
                  <a:pt x="0" y="0"/>
                </a:moveTo>
                <a:lnTo>
                  <a:pt x="874523" y="0"/>
                </a:lnTo>
                <a:lnTo>
                  <a:pt x="874523" y="880929"/>
                </a:lnTo>
                <a:lnTo>
                  <a:pt x="0" y="88092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</p:sp>
      <p:sp>
        <p:nvSpPr>
          <p:cNvPr id="42" name="TextBox 42"/>
          <p:cNvSpPr txBox="1"/>
          <p:nvPr/>
        </p:nvSpPr>
        <p:spPr>
          <a:xfrm>
            <a:off x="7554367" y="885825"/>
            <a:ext cx="3179266" cy="868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799" b="1" dirty="0">
                <a:solidFill>
                  <a:srgbClr val="3C3C50"/>
                </a:solidFill>
                <a:latin typeface="Poppins Bold"/>
                <a:ea typeface="Poppins Bold"/>
                <a:cs typeface="Poppins Bold"/>
                <a:sym typeface="Poppins Bold"/>
              </a:rPr>
              <a:t>SUMMARY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1983933" y="7006006"/>
            <a:ext cx="1952516" cy="370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1" dirty="0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Collect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4437573" y="7006006"/>
            <a:ext cx="1952516" cy="370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1" dirty="0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Act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118849" y="4055463"/>
            <a:ext cx="1952516" cy="370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1" dirty="0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Clean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8167742" y="7006006"/>
            <a:ext cx="1952516" cy="370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1" dirty="0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Analyze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1302657" y="4055463"/>
            <a:ext cx="1952516" cy="370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1" dirty="0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Visualize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7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30724" y="3374925"/>
            <a:ext cx="4649611" cy="4649611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6897" y="6897"/>
              <a:ext cx="799006" cy="799006"/>
            </a:xfrm>
            <a:custGeom>
              <a:avLst/>
              <a:gdLst/>
              <a:ahLst/>
              <a:cxnLst/>
              <a:rect l="l" t="t" r="r" b="b"/>
              <a:pathLst>
                <a:path w="799006" h="799006">
                  <a:moveTo>
                    <a:pt x="411277" y="4877"/>
                  </a:moveTo>
                  <a:lnTo>
                    <a:pt x="794129" y="387729"/>
                  </a:lnTo>
                  <a:cubicBezTo>
                    <a:pt x="797252" y="390852"/>
                    <a:pt x="799006" y="395087"/>
                    <a:pt x="799006" y="399503"/>
                  </a:cubicBezTo>
                  <a:cubicBezTo>
                    <a:pt x="799006" y="403919"/>
                    <a:pt x="797252" y="408154"/>
                    <a:pt x="794129" y="411277"/>
                  </a:cubicBezTo>
                  <a:lnTo>
                    <a:pt x="411277" y="794129"/>
                  </a:lnTo>
                  <a:cubicBezTo>
                    <a:pt x="408154" y="797252"/>
                    <a:pt x="403919" y="799006"/>
                    <a:pt x="399503" y="799006"/>
                  </a:cubicBezTo>
                  <a:cubicBezTo>
                    <a:pt x="395087" y="799006"/>
                    <a:pt x="390852" y="797252"/>
                    <a:pt x="387729" y="794129"/>
                  </a:cubicBezTo>
                  <a:lnTo>
                    <a:pt x="4877" y="411277"/>
                  </a:lnTo>
                  <a:cubicBezTo>
                    <a:pt x="1754" y="408154"/>
                    <a:pt x="0" y="403919"/>
                    <a:pt x="0" y="399503"/>
                  </a:cubicBezTo>
                  <a:cubicBezTo>
                    <a:pt x="0" y="395087"/>
                    <a:pt x="1754" y="390852"/>
                    <a:pt x="4877" y="387729"/>
                  </a:cubicBezTo>
                  <a:lnTo>
                    <a:pt x="387729" y="4877"/>
                  </a:lnTo>
                  <a:cubicBezTo>
                    <a:pt x="390852" y="1754"/>
                    <a:pt x="395087" y="0"/>
                    <a:pt x="399503" y="0"/>
                  </a:cubicBezTo>
                  <a:cubicBezTo>
                    <a:pt x="403919" y="0"/>
                    <a:pt x="408154" y="1754"/>
                    <a:pt x="411277" y="4877"/>
                  </a:cubicBezTo>
                  <a:close/>
                </a:path>
              </a:pathLst>
            </a:custGeom>
            <a:solidFill>
              <a:srgbClr val="FFFFFF"/>
            </a:solidFill>
            <a:ln w="133350" cap="sq">
              <a:solidFill>
                <a:srgbClr val="717092"/>
              </a:solidFill>
              <a:prstDash val="solid"/>
              <a:miter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8903563" y="3374925"/>
            <a:ext cx="4649611" cy="4649611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6897" y="6897"/>
              <a:ext cx="799006" cy="799006"/>
            </a:xfrm>
            <a:custGeom>
              <a:avLst/>
              <a:gdLst/>
              <a:ahLst/>
              <a:cxnLst/>
              <a:rect l="l" t="t" r="r" b="b"/>
              <a:pathLst>
                <a:path w="799006" h="799006">
                  <a:moveTo>
                    <a:pt x="411277" y="4877"/>
                  </a:moveTo>
                  <a:lnTo>
                    <a:pt x="794129" y="387729"/>
                  </a:lnTo>
                  <a:cubicBezTo>
                    <a:pt x="797252" y="390852"/>
                    <a:pt x="799006" y="395087"/>
                    <a:pt x="799006" y="399503"/>
                  </a:cubicBezTo>
                  <a:cubicBezTo>
                    <a:pt x="799006" y="403919"/>
                    <a:pt x="797252" y="408154"/>
                    <a:pt x="794129" y="411277"/>
                  </a:cubicBezTo>
                  <a:lnTo>
                    <a:pt x="411277" y="794129"/>
                  </a:lnTo>
                  <a:cubicBezTo>
                    <a:pt x="408154" y="797252"/>
                    <a:pt x="403919" y="799006"/>
                    <a:pt x="399503" y="799006"/>
                  </a:cubicBezTo>
                  <a:cubicBezTo>
                    <a:pt x="395087" y="799006"/>
                    <a:pt x="390852" y="797252"/>
                    <a:pt x="387729" y="794129"/>
                  </a:cubicBezTo>
                  <a:lnTo>
                    <a:pt x="4877" y="411277"/>
                  </a:lnTo>
                  <a:cubicBezTo>
                    <a:pt x="1754" y="408154"/>
                    <a:pt x="0" y="403919"/>
                    <a:pt x="0" y="399503"/>
                  </a:cubicBezTo>
                  <a:cubicBezTo>
                    <a:pt x="0" y="395087"/>
                    <a:pt x="1754" y="390852"/>
                    <a:pt x="4877" y="387729"/>
                  </a:cubicBezTo>
                  <a:lnTo>
                    <a:pt x="387729" y="4877"/>
                  </a:lnTo>
                  <a:cubicBezTo>
                    <a:pt x="390852" y="1754"/>
                    <a:pt x="395087" y="0"/>
                    <a:pt x="399503" y="0"/>
                  </a:cubicBezTo>
                  <a:cubicBezTo>
                    <a:pt x="403919" y="0"/>
                    <a:pt x="408154" y="1754"/>
                    <a:pt x="411277" y="4877"/>
                  </a:cubicBezTo>
                  <a:close/>
                </a:path>
              </a:pathLst>
            </a:custGeom>
            <a:solidFill>
              <a:srgbClr val="FFFFFF"/>
            </a:solidFill>
            <a:ln w="133350" cap="sq">
              <a:solidFill>
                <a:srgbClr val="A1B4A2"/>
              </a:solidFill>
              <a:prstDash val="solid"/>
              <a:miter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2578425" y="5165879"/>
            <a:ext cx="4649611" cy="4649611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6897" y="6897"/>
              <a:ext cx="799006" cy="799006"/>
            </a:xfrm>
            <a:custGeom>
              <a:avLst/>
              <a:gdLst/>
              <a:ahLst/>
              <a:cxnLst/>
              <a:rect l="l" t="t" r="r" b="b"/>
              <a:pathLst>
                <a:path w="799006" h="799006">
                  <a:moveTo>
                    <a:pt x="411277" y="4877"/>
                  </a:moveTo>
                  <a:lnTo>
                    <a:pt x="794129" y="387729"/>
                  </a:lnTo>
                  <a:cubicBezTo>
                    <a:pt x="797252" y="390852"/>
                    <a:pt x="799006" y="395087"/>
                    <a:pt x="799006" y="399503"/>
                  </a:cubicBezTo>
                  <a:cubicBezTo>
                    <a:pt x="799006" y="403919"/>
                    <a:pt x="797252" y="408154"/>
                    <a:pt x="794129" y="411277"/>
                  </a:cubicBezTo>
                  <a:lnTo>
                    <a:pt x="411277" y="794129"/>
                  </a:lnTo>
                  <a:cubicBezTo>
                    <a:pt x="408154" y="797252"/>
                    <a:pt x="403919" y="799006"/>
                    <a:pt x="399503" y="799006"/>
                  </a:cubicBezTo>
                  <a:cubicBezTo>
                    <a:pt x="395087" y="799006"/>
                    <a:pt x="390852" y="797252"/>
                    <a:pt x="387729" y="794129"/>
                  </a:cubicBezTo>
                  <a:lnTo>
                    <a:pt x="4877" y="411277"/>
                  </a:lnTo>
                  <a:cubicBezTo>
                    <a:pt x="1754" y="408154"/>
                    <a:pt x="0" y="403919"/>
                    <a:pt x="0" y="399503"/>
                  </a:cubicBezTo>
                  <a:cubicBezTo>
                    <a:pt x="0" y="395087"/>
                    <a:pt x="1754" y="390852"/>
                    <a:pt x="4877" y="387729"/>
                  </a:cubicBezTo>
                  <a:lnTo>
                    <a:pt x="387729" y="4877"/>
                  </a:lnTo>
                  <a:cubicBezTo>
                    <a:pt x="390852" y="1754"/>
                    <a:pt x="395087" y="0"/>
                    <a:pt x="399503" y="0"/>
                  </a:cubicBezTo>
                  <a:cubicBezTo>
                    <a:pt x="403919" y="0"/>
                    <a:pt x="408154" y="1754"/>
                    <a:pt x="411277" y="4877"/>
                  </a:cubicBezTo>
                  <a:close/>
                </a:path>
              </a:pathLst>
            </a:custGeom>
            <a:solidFill>
              <a:srgbClr val="FFFFFF"/>
            </a:solidFill>
            <a:ln w="133350" cap="sq">
              <a:solidFill>
                <a:srgbClr val="7DA2A9"/>
              </a:solidFill>
              <a:prstDash val="solid"/>
              <a:miter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119360" y="5165879"/>
            <a:ext cx="4649611" cy="4649611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6897" y="6897"/>
              <a:ext cx="799006" cy="799006"/>
            </a:xfrm>
            <a:custGeom>
              <a:avLst/>
              <a:gdLst/>
              <a:ahLst/>
              <a:cxnLst/>
              <a:rect l="l" t="t" r="r" b="b"/>
              <a:pathLst>
                <a:path w="799006" h="799006">
                  <a:moveTo>
                    <a:pt x="411277" y="4877"/>
                  </a:moveTo>
                  <a:lnTo>
                    <a:pt x="794129" y="387729"/>
                  </a:lnTo>
                  <a:cubicBezTo>
                    <a:pt x="797252" y="390852"/>
                    <a:pt x="799006" y="395087"/>
                    <a:pt x="799006" y="399503"/>
                  </a:cubicBezTo>
                  <a:cubicBezTo>
                    <a:pt x="799006" y="403919"/>
                    <a:pt x="797252" y="408154"/>
                    <a:pt x="794129" y="411277"/>
                  </a:cubicBezTo>
                  <a:lnTo>
                    <a:pt x="411277" y="794129"/>
                  </a:lnTo>
                  <a:cubicBezTo>
                    <a:pt x="408154" y="797252"/>
                    <a:pt x="403919" y="799006"/>
                    <a:pt x="399503" y="799006"/>
                  </a:cubicBezTo>
                  <a:cubicBezTo>
                    <a:pt x="395087" y="799006"/>
                    <a:pt x="390852" y="797252"/>
                    <a:pt x="387729" y="794129"/>
                  </a:cubicBezTo>
                  <a:lnTo>
                    <a:pt x="4877" y="411277"/>
                  </a:lnTo>
                  <a:cubicBezTo>
                    <a:pt x="1754" y="408154"/>
                    <a:pt x="0" y="403919"/>
                    <a:pt x="0" y="399503"/>
                  </a:cubicBezTo>
                  <a:cubicBezTo>
                    <a:pt x="0" y="395087"/>
                    <a:pt x="1754" y="390852"/>
                    <a:pt x="4877" y="387729"/>
                  </a:cubicBezTo>
                  <a:lnTo>
                    <a:pt x="387729" y="4877"/>
                  </a:lnTo>
                  <a:cubicBezTo>
                    <a:pt x="390852" y="1754"/>
                    <a:pt x="395087" y="0"/>
                    <a:pt x="399503" y="0"/>
                  </a:cubicBezTo>
                  <a:cubicBezTo>
                    <a:pt x="403919" y="0"/>
                    <a:pt x="408154" y="1754"/>
                    <a:pt x="411277" y="4877"/>
                  </a:cubicBezTo>
                  <a:close/>
                </a:path>
              </a:pathLst>
            </a:custGeom>
            <a:solidFill>
              <a:srgbClr val="FFFFFF"/>
            </a:solidFill>
            <a:ln w="133350" cap="sq">
              <a:solidFill>
                <a:srgbClr val="D9B98B"/>
              </a:solidFill>
              <a:prstDash val="solid"/>
              <a:miter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39700" y="82550"/>
              <a:ext cx="533400" cy="590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255226" y="5065645"/>
            <a:ext cx="1268170" cy="1268170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17092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8718339" y="5065645"/>
            <a:ext cx="1268170" cy="1268170"/>
            <a:chOff x="0" y="0"/>
            <a:chExt cx="812800" cy="8128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1B4A2"/>
            </a:solidFill>
          </p:spPr>
        </p:sp>
        <p:sp>
          <p:nvSpPr>
            <p:cNvPr id="19" name="TextBox 19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937268" y="6896925"/>
            <a:ext cx="1268170" cy="1268170"/>
            <a:chOff x="0" y="0"/>
            <a:chExt cx="812800" cy="81280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9B98B"/>
            </a:solidFill>
          </p:spPr>
        </p:sp>
        <p:sp>
          <p:nvSpPr>
            <p:cNvPr id="22" name="TextBox 22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12396334" y="6896925"/>
            <a:ext cx="1268170" cy="1268170"/>
            <a:chOff x="0" y="0"/>
            <a:chExt cx="812800" cy="812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7DA2A9"/>
            </a:solidFill>
          </p:spPr>
        </p:sp>
        <p:sp>
          <p:nvSpPr>
            <p:cNvPr id="25" name="TextBox 25"/>
            <p:cNvSpPr txBox="1"/>
            <p:nvPr/>
          </p:nvSpPr>
          <p:spPr>
            <a:xfrm>
              <a:off x="76200" y="19050"/>
              <a:ext cx="660400" cy="7175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6" name="Freeform 26"/>
          <p:cNvSpPr/>
          <p:nvPr/>
        </p:nvSpPr>
        <p:spPr>
          <a:xfrm>
            <a:off x="1457161" y="5290291"/>
            <a:ext cx="818879" cy="818879"/>
          </a:xfrm>
          <a:custGeom>
            <a:avLst/>
            <a:gdLst/>
            <a:ahLst/>
            <a:cxnLst/>
            <a:rect l="l" t="t" r="r" b="b"/>
            <a:pathLst>
              <a:path w="818879" h="818879">
                <a:moveTo>
                  <a:pt x="0" y="0"/>
                </a:moveTo>
                <a:lnTo>
                  <a:pt x="818879" y="0"/>
                </a:lnTo>
                <a:lnTo>
                  <a:pt x="818879" y="818879"/>
                </a:lnTo>
                <a:lnTo>
                  <a:pt x="0" y="8188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7" name="Freeform 27"/>
          <p:cNvSpPr/>
          <p:nvPr/>
        </p:nvSpPr>
        <p:spPr>
          <a:xfrm>
            <a:off x="5156695" y="7116352"/>
            <a:ext cx="829317" cy="829317"/>
          </a:xfrm>
          <a:custGeom>
            <a:avLst/>
            <a:gdLst/>
            <a:ahLst/>
            <a:cxnLst/>
            <a:rect l="l" t="t" r="r" b="b"/>
            <a:pathLst>
              <a:path w="829317" h="829317">
                <a:moveTo>
                  <a:pt x="0" y="0"/>
                </a:moveTo>
                <a:lnTo>
                  <a:pt x="829316" y="0"/>
                </a:lnTo>
                <a:lnTo>
                  <a:pt x="829316" y="829317"/>
                </a:lnTo>
                <a:lnTo>
                  <a:pt x="0" y="8293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8" name="Freeform 28"/>
          <p:cNvSpPr/>
          <p:nvPr/>
        </p:nvSpPr>
        <p:spPr>
          <a:xfrm>
            <a:off x="9022224" y="5387916"/>
            <a:ext cx="660399" cy="660399"/>
          </a:xfrm>
          <a:custGeom>
            <a:avLst/>
            <a:gdLst/>
            <a:ahLst/>
            <a:cxnLst/>
            <a:rect l="l" t="t" r="r" b="b"/>
            <a:pathLst>
              <a:path w="660399" h="660399">
                <a:moveTo>
                  <a:pt x="0" y="0"/>
                </a:moveTo>
                <a:lnTo>
                  <a:pt x="660399" y="0"/>
                </a:lnTo>
                <a:lnTo>
                  <a:pt x="660399" y="660399"/>
                </a:lnTo>
                <a:lnTo>
                  <a:pt x="0" y="6603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9" name="Freeform 29"/>
          <p:cNvSpPr/>
          <p:nvPr/>
        </p:nvSpPr>
        <p:spPr>
          <a:xfrm>
            <a:off x="12628561" y="7033854"/>
            <a:ext cx="803715" cy="994312"/>
          </a:xfrm>
          <a:custGeom>
            <a:avLst/>
            <a:gdLst/>
            <a:ahLst/>
            <a:cxnLst/>
            <a:rect l="l" t="t" r="r" b="b"/>
            <a:pathLst>
              <a:path w="803715" h="994312">
                <a:moveTo>
                  <a:pt x="0" y="0"/>
                </a:moveTo>
                <a:lnTo>
                  <a:pt x="803715" y="0"/>
                </a:lnTo>
                <a:lnTo>
                  <a:pt x="803715" y="994312"/>
                </a:lnTo>
                <a:lnTo>
                  <a:pt x="0" y="99431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30" name="TextBox 30"/>
          <p:cNvSpPr txBox="1"/>
          <p:nvPr/>
        </p:nvSpPr>
        <p:spPr>
          <a:xfrm>
            <a:off x="5566470" y="885825"/>
            <a:ext cx="7387530" cy="8166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719"/>
              </a:lnSpc>
            </a:pPr>
            <a:r>
              <a:rPr lang="en-US" sz="4799" b="1" dirty="0">
                <a:solidFill>
                  <a:srgbClr val="3C3C50"/>
                </a:solidFill>
                <a:latin typeface="Poppins Bold"/>
                <a:ea typeface="Poppins Bold"/>
                <a:cs typeface="Poppins Bold"/>
                <a:sym typeface="Poppins Bold"/>
              </a:rPr>
              <a:t>REAL-LIFE APPLICATION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897155" y="4726940"/>
            <a:ext cx="1729938" cy="370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1" dirty="0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Business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426696" y="6401152"/>
            <a:ext cx="2133967" cy="370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1" dirty="0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Healthcare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360267" y="4769897"/>
            <a:ext cx="1729938" cy="370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1" dirty="0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Education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4091823" y="6601177"/>
            <a:ext cx="1729938" cy="370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</a:pPr>
            <a:r>
              <a:rPr lang="en-US" sz="2299" b="1" dirty="0">
                <a:solidFill>
                  <a:srgbClr val="3C3C50"/>
                </a:solidFill>
                <a:latin typeface="Lato Bold"/>
                <a:ea typeface="Lato Bold"/>
                <a:cs typeface="Lato Bold"/>
                <a:sym typeface="Lato Bold"/>
              </a:rPr>
              <a:t>Engineering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2695140" y="5670490"/>
            <a:ext cx="2133967" cy="298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IN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Forecast sales</a:t>
            </a:r>
            <a:endParaRPr lang="en-US" sz="1800" dirty="0">
              <a:solidFill>
                <a:srgbClr val="5F6075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  <a:sym typeface="Lato"/>
            </a:endParaRPr>
          </a:p>
        </p:txBody>
      </p:sp>
      <p:sp>
        <p:nvSpPr>
          <p:cNvPr id="37" name="TextBox 37"/>
          <p:cNvSpPr txBox="1"/>
          <p:nvPr/>
        </p:nvSpPr>
        <p:spPr>
          <a:xfrm>
            <a:off x="6426696" y="7344514"/>
            <a:ext cx="2133967" cy="289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Predict diseases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10158252" y="5313209"/>
            <a:ext cx="2133967" cy="610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Track students results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3889809" y="7144489"/>
            <a:ext cx="2133967" cy="6102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dirty="0">
                <a:solidFill>
                  <a:srgbClr val="5F6075"/>
                </a:solidFill>
                <a:latin typeface="Lato"/>
                <a:ea typeface="Lato"/>
                <a:cs typeface="Lato"/>
                <a:sym typeface="Lato"/>
              </a:rPr>
              <a:t>Monitor performance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8E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856448" y="5343922"/>
            <a:ext cx="2999498" cy="2398708"/>
          </a:xfrm>
          <a:custGeom>
            <a:avLst/>
            <a:gdLst/>
            <a:ahLst/>
            <a:cxnLst/>
            <a:rect l="l" t="t" r="r" b="b"/>
            <a:pathLst>
              <a:path w="2999498" h="2398708">
                <a:moveTo>
                  <a:pt x="0" y="0"/>
                </a:moveTo>
                <a:lnTo>
                  <a:pt x="2999498" y="0"/>
                </a:lnTo>
                <a:lnTo>
                  <a:pt x="2999498" y="2398709"/>
                </a:lnTo>
                <a:lnTo>
                  <a:pt x="0" y="23987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066225" y="3544795"/>
            <a:ext cx="2999498" cy="2398708"/>
          </a:xfrm>
          <a:custGeom>
            <a:avLst/>
            <a:gdLst/>
            <a:ahLst/>
            <a:cxnLst/>
            <a:rect l="l" t="t" r="r" b="b"/>
            <a:pathLst>
              <a:path w="2999498" h="2398708">
                <a:moveTo>
                  <a:pt x="0" y="0"/>
                </a:moveTo>
                <a:lnTo>
                  <a:pt x="2999499" y="0"/>
                </a:lnTo>
                <a:lnTo>
                  <a:pt x="2999499" y="2398709"/>
                </a:lnTo>
                <a:lnTo>
                  <a:pt x="0" y="23987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8675674" y="7139235"/>
            <a:ext cx="2436744" cy="2436744"/>
          </a:xfrm>
          <a:custGeom>
            <a:avLst/>
            <a:gdLst/>
            <a:ahLst/>
            <a:cxnLst/>
            <a:rect l="l" t="t" r="r" b="b"/>
            <a:pathLst>
              <a:path w="2436744" h="2436744">
                <a:moveTo>
                  <a:pt x="2436744" y="0"/>
                </a:moveTo>
                <a:lnTo>
                  <a:pt x="0" y="0"/>
                </a:lnTo>
                <a:lnTo>
                  <a:pt x="0" y="2436744"/>
                </a:lnTo>
                <a:lnTo>
                  <a:pt x="2436744" y="2436744"/>
                </a:lnTo>
                <a:lnTo>
                  <a:pt x="2436744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3287332" y="1744550"/>
            <a:ext cx="2999498" cy="2398708"/>
          </a:xfrm>
          <a:custGeom>
            <a:avLst/>
            <a:gdLst/>
            <a:ahLst/>
            <a:cxnLst/>
            <a:rect l="l" t="t" r="r" b="b"/>
            <a:pathLst>
              <a:path w="2999498" h="2398708">
                <a:moveTo>
                  <a:pt x="0" y="0"/>
                </a:moveTo>
                <a:lnTo>
                  <a:pt x="2999498" y="0"/>
                </a:lnTo>
                <a:lnTo>
                  <a:pt x="2999498" y="2398708"/>
                </a:lnTo>
                <a:lnTo>
                  <a:pt x="0" y="23987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5400000">
            <a:off x="1133638" y="155031"/>
            <a:ext cx="592749" cy="3790837"/>
          </a:xfrm>
          <a:custGeom>
            <a:avLst/>
            <a:gdLst/>
            <a:ahLst/>
            <a:cxnLst/>
            <a:rect l="l" t="t" r="r" b="b"/>
            <a:pathLst>
              <a:path w="592749" h="3790837">
                <a:moveTo>
                  <a:pt x="0" y="0"/>
                </a:moveTo>
                <a:lnTo>
                  <a:pt x="592750" y="0"/>
                </a:lnTo>
                <a:lnTo>
                  <a:pt x="592750" y="3790837"/>
                </a:lnTo>
                <a:lnTo>
                  <a:pt x="0" y="3790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-10800000">
            <a:off x="10510144" y="9547404"/>
            <a:ext cx="592749" cy="3790837"/>
          </a:xfrm>
          <a:custGeom>
            <a:avLst/>
            <a:gdLst/>
            <a:ahLst/>
            <a:cxnLst/>
            <a:rect l="l" t="t" r="r" b="b"/>
            <a:pathLst>
              <a:path w="592749" h="3790837">
                <a:moveTo>
                  <a:pt x="0" y="0"/>
                </a:moveTo>
                <a:lnTo>
                  <a:pt x="592749" y="0"/>
                </a:lnTo>
                <a:lnTo>
                  <a:pt x="592749" y="3790837"/>
                </a:lnTo>
                <a:lnTo>
                  <a:pt x="0" y="379083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5392245" y="2050449"/>
            <a:ext cx="1316128" cy="1316128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89F38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148225" y="3827372"/>
            <a:ext cx="1316128" cy="1316128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AED581"/>
            </a:solidFill>
          </p:spPr>
        </p:sp>
        <p:sp>
          <p:nvSpPr>
            <p:cNvPr id="13" name="TextBox 13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8949590" y="5613608"/>
            <a:ext cx="1316128" cy="1316128"/>
            <a:chOff x="0" y="0"/>
            <a:chExt cx="812800" cy="8128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DCEDC8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5864565" y="2484929"/>
            <a:ext cx="371490" cy="447170"/>
          </a:xfrm>
          <a:custGeom>
            <a:avLst/>
            <a:gdLst/>
            <a:ahLst/>
            <a:cxnLst/>
            <a:rect l="l" t="t" r="r" b="b"/>
            <a:pathLst>
              <a:path w="371490" h="447170">
                <a:moveTo>
                  <a:pt x="0" y="0"/>
                </a:moveTo>
                <a:lnTo>
                  <a:pt x="371489" y="0"/>
                </a:lnTo>
                <a:lnTo>
                  <a:pt x="371489" y="447169"/>
                </a:lnTo>
                <a:lnTo>
                  <a:pt x="0" y="44716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7568590" y="4255948"/>
            <a:ext cx="475398" cy="458976"/>
          </a:xfrm>
          <a:custGeom>
            <a:avLst/>
            <a:gdLst/>
            <a:ahLst/>
            <a:cxnLst/>
            <a:rect l="l" t="t" r="r" b="b"/>
            <a:pathLst>
              <a:path w="475398" h="458976">
                <a:moveTo>
                  <a:pt x="0" y="0"/>
                </a:moveTo>
                <a:lnTo>
                  <a:pt x="475399" y="0"/>
                </a:lnTo>
                <a:lnTo>
                  <a:pt x="475399" y="458976"/>
                </a:lnTo>
                <a:lnTo>
                  <a:pt x="0" y="4589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9367042" y="6033247"/>
            <a:ext cx="481225" cy="476850"/>
          </a:xfrm>
          <a:custGeom>
            <a:avLst/>
            <a:gdLst/>
            <a:ahLst/>
            <a:cxnLst/>
            <a:rect l="l" t="t" r="r" b="b"/>
            <a:pathLst>
              <a:path w="481225" h="476850">
                <a:moveTo>
                  <a:pt x="0" y="0"/>
                </a:moveTo>
                <a:lnTo>
                  <a:pt x="481224" y="0"/>
                </a:lnTo>
                <a:lnTo>
                  <a:pt x="481224" y="476850"/>
                </a:lnTo>
                <a:lnTo>
                  <a:pt x="0" y="4768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961936" y="5539642"/>
            <a:ext cx="4902629" cy="14963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880"/>
              </a:lnSpc>
            </a:pPr>
            <a:r>
              <a:rPr lang="en-US" sz="4799" b="1" dirty="0">
                <a:solidFill>
                  <a:srgbClr val="3C3C50"/>
                </a:solidFill>
                <a:latin typeface="Poppins Bold"/>
                <a:cs typeface="Poppins Bold"/>
                <a:sym typeface="Montserrat Bold"/>
              </a:rPr>
              <a:t>DATA ANALYSIS TOOLS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148225" y="2012349"/>
            <a:ext cx="4068790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 dirty="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Power BI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148225" y="2501962"/>
            <a:ext cx="7087084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dirty="0"/>
              <a:t>Microsoft’s interactive tool for creating data visualizations and dashboards from multiple data sources.</a:t>
            </a:r>
            <a:endParaRPr lang="en-US" sz="1800" dirty="0">
              <a:solidFill>
                <a:srgbClr val="1B1B1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8949590" y="3911065"/>
            <a:ext cx="4477249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 dirty="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Tableau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0691767" y="5697301"/>
            <a:ext cx="4853033" cy="3590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940"/>
              </a:lnSpc>
            </a:pPr>
            <a:r>
              <a:rPr lang="en-US" sz="2100" b="1" dirty="0">
                <a:solidFill>
                  <a:srgbClr val="1B1B1B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Google Data Studio(</a:t>
            </a:r>
            <a:r>
              <a:rPr lang="en-US" sz="2400" b="1" dirty="0"/>
              <a:t>Looker Studio):</a:t>
            </a:r>
            <a:r>
              <a:rPr lang="en-US" sz="2400" dirty="0"/>
              <a:t> </a:t>
            </a:r>
            <a:endParaRPr lang="en-US" sz="2100" b="1" dirty="0">
              <a:solidFill>
                <a:srgbClr val="1B1B1B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26" name="TextBox 26"/>
          <p:cNvSpPr txBox="1"/>
          <p:nvPr/>
        </p:nvSpPr>
        <p:spPr>
          <a:xfrm>
            <a:off x="10691767" y="6186913"/>
            <a:ext cx="6567533" cy="621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dirty="0"/>
              <a:t>A free, web-based tool for building customizable, shareable data dashboards using Google and other data sources.</a:t>
            </a:r>
            <a:endParaRPr lang="en-US" sz="1800" dirty="0">
              <a:solidFill>
                <a:srgbClr val="1B1B1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" name="Freeform 27"/>
          <p:cNvSpPr/>
          <p:nvPr/>
        </p:nvSpPr>
        <p:spPr>
          <a:xfrm>
            <a:off x="-948577" y="8132336"/>
            <a:ext cx="2750430" cy="2975806"/>
          </a:xfrm>
          <a:custGeom>
            <a:avLst/>
            <a:gdLst/>
            <a:ahLst/>
            <a:cxnLst/>
            <a:rect l="l" t="t" r="r" b="b"/>
            <a:pathLst>
              <a:path w="2750430" h="2975806">
                <a:moveTo>
                  <a:pt x="0" y="0"/>
                </a:moveTo>
                <a:lnTo>
                  <a:pt x="2750430" y="0"/>
                </a:lnTo>
                <a:lnTo>
                  <a:pt x="2750430" y="2975805"/>
                </a:lnTo>
                <a:lnTo>
                  <a:pt x="0" y="297580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28" name="Freeform 28"/>
          <p:cNvSpPr/>
          <p:nvPr/>
        </p:nvSpPr>
        <p:spPr>
          <a:xfrm>
            <a:off x="16891642" y="-363110"/>
            <a:ext cx="2317321" cy="2237269"/>
          </a:xfrm>
          <a:custGeom>
            <a:avLst/>
            <a:gdLst/>
            <a:ahLst/>
            <a:cxnLst/>
            <a:rect l="l" t="t" r="r" b="b"/>
            <a:pathLst>
              <a:path w="2317321" h="2237269">
                <a:moveTo>
                  <a:pt x="0" y="0"/>
                </a:moveTo>
                <a:lnTo>
                  <a:pt x="2317322" y="0"/>
                </a:lnTo>
                <a:lnTo>
                  <a:pt x="2317322" y="2237268"/>
                </a:lnTo>
                <a:lnTo>
                  <a:pt x="0" y="223726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35" name="TextBox 22">
            <a:extLst>
              <a:ext uri="{FF2B5EF4-FFF2-40B4-BE49-F238E27FC236}">
                <a16:creationId xmlns:a16="http://schemas.microsoft.com/office/drawing/2014/main" id="{BD01C78F-443F-1D62-98BE-B4450C641B3C}"/>
              </a:ext>
            </a:extLst>
          </p:cNvPr>
          <p:cNvSpPr txBox="1"/>
          <p:nvPr/>
        </p:nvSpPr>
        <p:spPr>
          <a:xfrm>
            <a:off x="8949590" y="4339272"/>
            <a:ext cx="7087084" cy="6258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520"/>
              </a:lnSpc>
            </a:pPr>
            <a:r>
              <a:rPr lang="en-US" dirty="0"/>
              <a:t>A powerful data visualization platform that helps turn complex data into clear, interactive visuals and insights.</a:t>
            </a:r>
            <a:endParaRPr lang="en-US" sz="1800" dirty="0">
              <a:solidFill>
                <a:srgbClr val="1B1B1B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376</Words>
  <Application>Microsoft Office PowerPoint</Application>
  <PresentationFormat>Custom</PresentationFormat>
  <Paragraphs>93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Calibri</vt:lpstr>
      <vt:lpstr>Arial</vt:lpstr>
      <vt:lpstr>Poppins Bold</vt:lpstr>
      <vt:lpstr>DM Sans</vt:lpstr>
      <vt:lpstr>Lato Bold</vt:lpstr>
      <vt:lpstr>Montserrat Bold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Startup Growth Roadmap</dc:title>
  <cp:lastModifiedBy>Alan Joseph</cp:lastModifiedBy>
  <cp:revision>4</cp:revision>
  <dcterms:created xsi:type="dcterms:W3CDTF">2006-08-16T00:00:00Z</dcterms:created>
  <dcterms:modified xsi:type="dcterms:W3CDTF">2025-10-29T09:00:36Z</dcterms:modified>
  <dc:identifier>DAG3JUioHcU</dc:identifier>
</cp:coreProperties>
</file>