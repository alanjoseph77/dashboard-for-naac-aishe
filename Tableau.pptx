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ernoru Condensed" charset="1" panose="00000A06000000000000"/>
      <p:regular r:id="rId20"/>
    </p:embeddedFont>
    <p:embeddedFont>
      <p:font typeface="Montserrat" charset="1" panose="00000500000000000000"/>
      <p:regular r:id="rId21"/>
    </p:embeddedFont>
    <p:embeddedFont>
      <p:font typeface="Montserrat Italics" charset="1" panose="00000500000000000000"/>
      <p:regular r:id="rId22"/>
    </p:embeddedFont>
    <p:embeddedFont>
      <p:font typeface="Canva Sans" charset="1" panose="020B0503030501040103"/>
      <p:regular r:id="rId23"/>
    </p:embeddedFont>
    <p:embeddedFont>
      <p:font typeface="Canva Sans Bold" charset="1" panose="020B0803030501040103"/>
      <p:regular r:id="rId24"/>
    </p:embeddedFont>
    <p:embeddedFont>
      <p:font typeface="Hero Bold" charset="1" panose="00000500000000000000"/>
      <p:regular r:id="rId25"/>
    </p:embeddedFont>
    <p:embeddedFont>
      <p:font typeface="Roboto Mono Bold" charset="1" panose="00000000000000000000"/>
      <p:regular r:id="rId26"/>
    </p:embeddedFont>
    <p:embeddedFont>
      <p:font typeface="Hero" charset="1" panose="00000500000000000000"/>
      <p:regular r:id="rId27"/>
    </p:embeddedFont>
    <p:embeddedFont>
      <p:font typeface="Roboto Bold" charset="1" panose="02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embeddings/oleObject1.bin" Type="http://schemas.openxmlformats.org/officeDocument/2006/relationships/oleObjec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8.png" Type="http://schemas.openxmlformats.org/officeDocument/2006/relationships/image"/><Relationship Id="rId15" Target="../embeddings/oleObject2.bin" Type="http://schemas.openxmlformats.org/officeDocument/2006/relationships/oleObjec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embeddings/oleObject3.bin" Type="http://schemas.openxmlformats.org/officeDocument/2006/relationships/oleObjec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4.png" Type="http://schemas.openxmlformats.org/officeDocument/2006/relationships/image"/><Relationship Id="rId13" Target="../media/image25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6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7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8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svg" Type="http://schemas.openxmlformats.org/officeDocument/2006/relationships/image"/><Relationship Id="rId15" Target="../media/image32.svg" Type="http://schemas.openxmlformats.org/officeDocument/2006/relationships/image"/><Relationship Id="rId16" Target="../media/image33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media/image7.png" Type="http://schemas.openxmlformats.org/officeDocument/2006/relationships/image"/><Relationship Id="rId20" Target="../media/image37.svg" Type="http://schemas.openxmlformats.org/officeDocument/2006/relationships/image"/><Relationship Id="rId21" Target="../media/image38.png" Type="http://schemas.openxmlformats.org/officeDocument/2006/relationships/image"/><Relationship Id="rId22" Target="../media/image39.svg" Type="http://schemas.openxmlformats.org/officeDocument/2006/relationships/image"/><Relationship Id="rId23" Target="../media/image40.png" Type="http://schemas.openxmlformats.org/officeDocument/2006/relationships/image"/><Relationship Id="rId24" Target="../media/image41.svg" Type="http://schemas.openxmlformats.org/officeDocument/2006/relationships/image"/><Relationship Id="rId25" Target="../media/image42.png" Type="http://schemas.openxmlformats.org/officeDocument/2006/relationships/image"/><Relationship Id="rId26" Target="../embeddings/oleObject4.bin" Type="http://schemas.openxmlformats.org/officeDocument/2006/relationships/oleObject"/><Relationship Id="rId27" Target="../media/image43.png" Type="http://schemas.openxmlformats.org/officeDocument/2006/relationships/image"/><Relationship Id="rId28" Target="../media/image44.svg" Type="http://schemas.openxmlformats.org/officeDocument/2006/relationships/image"/><Relationship Id="rId29" Target="../media/image45.png" Type="http://schemas.openxmlformats.org/officeDocument/2006/relationships/image"/><Relationship Id="rId3" Target="../media/image8.svg" Type="http://schemas.openxmlformats.org/officeDocument/2006/relationships/image"/><Relationship Id="rId30" Target="../media/image46.svg" Type="http://schemas.openxmlformats.org/officeDocument/2006/relationships/image"/><Relationship Id="rId31" Target="../media/image47.png" Type="http://schemas.openxmlformats.org/officeDocument/2006/relationships/image"/><Relationship Id="rId32" Target="../media/image48.svg" Type="http://schemas.openxmlformats.org/officeDocument/2006/relationships/image"/><Relationship Id="rId33" Target="../media/image49.png" Type="http://schemas.openxmlformats.org/officeDocument/2006/relationships/image"/><Relationship Id="rId34" Target="../media/image50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51.png" Type="http://schemas.openxmlformats.org/officeDocument/2006/relationships/image"/><Relationship Id="rId13" Target="../embeddings/oleObject5.bin" Type="http://schemas.openxmlformats.org/officeDocument/2006/relationships/oleObjec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7023" y="2224450"/>
            <a:ext cx="5376765" cy="5349881"/>
          </a:xfrm>
          <a:custGeom>
            <a:avLst/>
            <a:gdLst/>
            <a:ahLst/>
            <a:cxnLst/>
            <a:rect r="r" b="b" t="t" l="l"/>
            <a:pathLst>
              <a:path h="5349881" w="5376765">
                <a:moveTo>
                  <a:pt x="0" y="0"/>
                </a:moveTo>
                <a:lnTo>
                  <a:pt x="5376765" y="0"/>
                </a:lnTo>
                <a:lnTo>
                  <a:pt x="5376765" y="5349881"/>
                </a:lnTo>
                <a:lnTo>
                  <a:pt x="0" y="5349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17719" y="2224450"/>
            <a:ext cx="7693257" cy="5349881"/>
            <a:chOff x="0" y="0"/>
            <a:chExt cx="2026208" cy="14090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6208" cy="1409022"/>
            </a:xfrm>
            <a:custGeom>
              <a:avLst/>
              <a:gdLst/>
              <a:ahLst/>
              <a:cxnLst/>
              <a:rect r="r" b="b" t="t" l="l"/>
              <a:pathLst>
                <a:path h="1409022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369775"/>
                  </a:lnTo>
                  <a:cubicBezTo>
                    <a:pt x="2026208" y="1391451"/>
                    <a:pt x="2008636" y="1409022"/>
                    <a:pt x="1986961" y="1409022"/>
                  </a:cubicBezTo>
                  <a:lnTo>
                    <a:pt x="39247" y="1409022"/>
                  </a:lnTo>
                  <a:cubicBezTo>
                    <a:pt x="17571" y="1409022"/>
                    <a:pt x="0" y="1391451"/>
                    <a:pt x="0" y="1369775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6208" cy="144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19623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54709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89795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24880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477023" y="7739286"/>
            <a:ext cx="13333954" cy="733555"/>
            <a:chOff x="0" y="0"/>
            <a:chExt cx="3511823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11823" cy="193200"/>
            </a:xfrm>
            <a:custGeom>
              <a:avLst/>
              <a:gdLst/>
              <a:ahLst/>
              <a:cxnLst/>
              <a:rect r="r" b="b" t="t" l="l"/>
              <a:pathLst>
                <a:path h="193200" w="3511823">
                  <a:moveTo>
                    <a:pt x="0" y="0"/>
                  </a:moveTo>
                  <a:lnTo>
                    <a:pt x="3511823" y="0"/>
                  </a:lnTo>
                  <a:lnTo>
                    <a:pt x="3511823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11823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19623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9623" y="2386251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9"/>
                </a:lnTo>
                <a:lnTo>
                  <a:pt x="0" y="169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35348" y="2403095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9"/>
                </a:lnTo>
                <a:lnTo>
                  <a:pt x="0" y="169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9623" y="4335197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8"/>
                </a:lnTo>
                <a:lnTo>
                  <a:pt x="0" y="1692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35348" y="4352041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8"/>
                </a:lnTo>
                <a:lnTo>
                  <a:pt x="0" y="1692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19623" y="6284660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9"/>
                </a:lnTo>
                <a:lnTo>
                  <a:pt x="0" y="169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135348" y="6301504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8"/>
                </a:lnTo>
                <a:lnTo>
                  <a:pt x="0" y="1692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854709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289795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724880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544655" y="1814159"/>
            <a:ext cx="4839386" cy="820583"/>
            <a:chOff x="0" y="0"/>
            <a:chExt cx="1274571" cy="2161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4571" cy="216121"/>
            </a:xfrm>
            <a:custGeom>
              <a:avLst/>
              <a:gdLst/>
              <a:ahLst/>
              <a:cxnLst/>
              <a:rect r="r" b="b" t="t" l="l"/>
              <a:pathLst>
                <a:path h="216121" w="1274571">
                  <a:moveTo>
                    <a:pt x="30396" y="0"/>
                  </a:moveTo>
                  <a:lnTo>
                    <a:pt x="1244175" y="0"/>
                  </a:lnTo>
                  <a:cubicBezTo>
                    <a:pt x="1252236" y="0"/>
                    <a:pt x="1259968" y="3202"/>
                    <a:pt x="1265668" y="8903"/>
                  </a:cubicBezTo>
                  <a:cubicBezTo>
                    <a:pt x="1271368" y="14603"/>
                    <a:pt x="1274571" y="22334"/>
                    <a:pt x="1274571" y="30396"/>
                  </a:cubicBezTo>
                  <a:lnTo>
                    <a:pt x="1274571" y="185725"/>
                  </a:lnTo>
                  <a:cubicBezTo>
                    <a:pt x="1274571" y="202512"/>
                    <a:pt x="1260962" y="216121"/>
                    <a:pt x="1244175" y="216121"/>
                  </a:cubicBezTo>
                  <a:lnTo>
                    <a:pt x="30396" y="216121"/>
                  </a:lnTo>
                  <a:cubicBezTo>
                    <a:pt x="22334" y="216121"/>
                    <a:pt x="14603" y="212918"/>
                    <a:pt x="8903" y="207218"/>
                  </a:cubicBezTo>
                  <a:cubicBezTo>
                    <a:pt x="3202" y="201518"/>
                    <a:pt x="0" y="193786"/>
                    <a:pt x="0" y="185725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74571" cy="254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477023" y="2386251"/>
            <a:ext cx="371873" cy="437712"/>
          </a:xfrm>
          <a:custGeom>
            <a:avLst/>
            <a:gdLst/>
            <a:ahLst/>
            <a:cxnLst/>
            <a:rect r="r" b="b" t="t" l="l"/>
            <a:pathLst>
              <a:path h="437712" w="371873">
                <a:moveTo>
                  <a:pt x="0" y="0"/>
                </a:moveTo>
                <a:lnTo>
                  <a:pt x="371873" y="0"/>
                </a:lnTo>
                <a:lnTo>
                  <a:pt x="371873" y="437712"/>
                </a:lnTo>
                <a:lnTo>
                  <a:pt x="0" y="437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117719" y="3123406"/>
            <a:ext cx="7693257" cy="137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9"/>
              </a:lnSpc>
            </a:pPr>
            <a:r>
              <a:rPr lang="en-US" sz="10299">
                <a:solidFill>
                  <a:srgbClr val="000000"/>
                </a:solidFill>
                <a:latin typeface="Bernoru Condensed"/>
                <a:ea typeface="Bernoru Condensed"/>
                <a:cs typeface="Bernoru Condensed"/>
                <a:sym typeface="Bernoru Condensed"/>
              </a:rPr>
              <a:t>TABLEAU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07609" y="5951409"/>
            <a:ext cx="613642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Driving Discovery Through Dynamic Dashboards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5" id="25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28" id="28"/>
          <p:cNvGraphicFramePr/>
          <p:nvPr/>
        </p:nvGraphicFramePr>
        <p:xfrm>
          <a:off x="2478719" y="2016527"/>
          <a:ext cx="16230600" cy="5679924"/>
        </p:xfrm>
        <a:graphic>
          <a:graphicData uri="http://schemas.openxmlformats.org/presentationml/2006/ole">
            <p:oleObj imgW="19469100" imgH="89154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9" id="29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</a:t>
            </a: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SET DESCRIPTION ..............................................................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18349" y="2012822"/>
            <a:ext cx="5308179" cy="5228557"/>
          </a:xfrm>
          <a:custGeom>
            <a:avLst/>
            <a:gdLst/>
            <a:ahLst/>
            <a:cxnLst/>
            <a:rect r="r" b="b" t="t" l="l"/>
            <a:pathLst>
              <a:path h="5228557" w="5308179">
                <a:moveTo>
                  <a:pt x="0" y="0"/>
                </a:moveTo>
                <a:lnTo>
                  <a:pt x="5308180" y="0"/>
                </a:lnTo>
                <a:lnTo>
                  <a:pt x="5308180" y="5228557"/>
                </a:lnTo>
                <a:lnTo>
                  <a:pt x="0" y="5228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2478719" y="2012822"/>
            <a:ext cx="7693257" cy="6402206"/>
            <a:chOff x="0" y="0"/>
            <a:chExt cx="2026208" cy="16861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5" id="25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2479999" y="1079095"/>
            <a:ext cx="107223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IMPORTING &amp; UNDERSTANDING DATA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3" id="33"/>
          <p:cNvGrpSpPr/>
          <p:nvPr/>
        </p:nvGrpSpPr>
        <p:grpSpPr>
          <a:xfrm rot="0">
            <a:off x="10418349" y="7337611"/>
            <a:ext cx="5308179" cy="1077417"/>
            <a:chOff x="0" y="0"/>
            <a:chExt cx="1398039" cy="2837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98039" cy="283764"/>
            </a:xfrm>
            <a:custGeom>
              <a:avLst/>
              <a:gdLst/>
              <a:ahLst/>
              <a:cxnLst/>
              <a:rect r="r" b="b" t="t" l="l"/>
              <a:pathLst>
                <a:path h="283764" w="1398039">
                  <a:moveTo>
                    <a:pt x="0" y="0"/>
                  </a:moveTo>
                  <a:lnTo>
                    <a:pt x="1398039" y="0"/>
                  </a:lnTo>
                  <a:lnTo>
                    <a:pt x="1398039" y="283764"/>
                  </a:lnTo>
                  <a:lnTo>
                    <a:pt x="0" y="283764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98039" cy="321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18349" y="7241379"/>
            <a:ext cx="5308179" cy="384854"/>
            <a:chOff x="0" y="0"/>
            <a:chExt cx="1398039" cy="10136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98039" cy="101361"/>
            </a:xfrm>
            <a:custGeom>
              <a:avLst/>
              <a:gdLst/>
              <a:ahLst/>
              <a:cxnLst/>
              <a:rect r="r" b="b" t="t" l="l"/>
              <a:pathLst>
                <a:path h="101361" w="1398039">
                  <a:moveTo>
                    <a:pt x="0" y="0"/>
                  </a:moveTo>
                  <a:lnTo>
                    <a:pt x="1398039" y="0"/>
                  </a:lnTo>
                  <a:lnTo>
                    <a:pt x="1398039" y="101361"/>
                  </a:lnTo>
                  <a:lnTo>
                    <a:pt x="0" y="101361"/>
                  </a:lnTo>
                  <a:close/>
                </a:path>
              </a:pathLst>
            </a:custGeom>
            <a:solidFill>
              <a:srgbClr val="4ADA8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398039" cy="139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577442" y="3597099"/>
            <a:ext cx="7495810" cy="306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600" indent="-209300" lvl="1">
              <a:lnSpc>
                <a:spcPts val="271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Launch Tableau Public.</a:t>
            </a:r>
          </a:p>
          <a:p>
            <a:pPr algn="l">
              <a:lnSpc>
                <a:spcPts val="2714"/>
              </a:lnSpc>
            </a:pPr>
          </a:p>
          <a:p>
            <a:pPr algn="l" marL="418600" indent="-209300" lvl="1">
              <a:lnSpc>
                <a:spcPts val="271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File → Open or Connect → Microsoft Excel.</a:t>
            </a:r>
          </a:p>
          <a:p>
            <a:pPr algn="l">
              <a:lnSpc>
                <a:spcPts val="2714"/>
              </a:lnSpc>
            </a:pPr>
          </a:p>
          <a:p>
            <a:pPr algn="l" marL="418600" indent="-209300" lvl="1">
              <a:lnSpc>
                <a:spcPts val="271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your Excel file:</a:t>
            </a:r>
          </a:p>
          <a:p>
            <a:pPr algn="l">
              <a:lnSpc>
                <a:spcPts val="2714"/>
              </a:lnSpc>
            </a:pPr>
          </a:p>
          <a:p>
            <a:pPr algn="l" marL="418600" indent="-209300" lvl="1">
              <a:lnSpc>
                <a:spcPts val="271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the Data Source page, ensure the sheet page1 is selected.</a:t>
            </a:r>
          </a:p>
          <a:p>
            <a:pPr algn="l">
              <a:lnSpc>
                <a:spcPts val="2714"/>
              </a:lnSpc>
            </a:pPr>
          </a:p>
          <a:p>
            <a:pPr algn="l" marL="418600" indent="-209300" lvl="1">
              <a:lnSpc>
                <a:spcPts val="271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Tableau automatically previews your data.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667229" y="2519649"/>
            <a:ext cx="4791968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 Tableau and Load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18349" y="2012822"/>
            <a:ext cx="5308179" cy="5228557"/>
          </a:xfrm>
          <a:custGeom>
            <a:avLst/>
            <a:gdLst/>
            <a:ahLst/>
            <a:cxnLst/>
            <a:rect r="r" b="b" t="t" l="l"/>
            <a:pathLst>
              <a:path h="5228557" w="5308179">
                <a:moveTo>
                  <a:pt x="0" y="0"/>
                </a:moveTo>
                <a:lnTo>
                  <a:pt x="5308180" y="0"/>
                </a:lnTo>
                <a:lnTo>
                  <a:pt x="5308180" y="5228557"/>
                </a:lnTo>
                <a:lnTo>
                  <a:pt x="0" y="5228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2478719" y="2012822"/>
            <a:ext cx="7693257" cy="6402206"/>
            <a:chOff x="0" y="0"/>
            <a:chExt cx="2026208" cy="16861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5" id="25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2" id="32"/>
          <p:cNvGrpSpPr/>
          <p:nvPr/>
        </p:nvGrpSpPr>
        <p:grpSpPr>
          <a:xfrm rot="0">
            <a:off x="10418349" y="7337611"/>
            <a:ext cx="5308179" cy="1077417"/>
            <a:chOff x="0" y="0"/>
            <a:chExt cx="1398039" cy="2837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98039" cy="283764"/>
            </a:xfrm>
            <a:custGeom>
              <a:avLst/>
              <a:gdLst/>
              <a:ahLst/>
              <a:cxnLst/>
              <a:rect r="r" b="b" t="t" l="l"/>
              <a:pathLst>
                <a:path h="283764" w="1398039">
                  <a:moveTo>
                    <a:pt x="0" y="0"/>
                  </a:moveTo>
                  <a:lnTo>
                    <a:pt x="1398039" y="0"/>
                  </a:lnTo>
                  <a:lnTo>
                    <a:pt x="1398039" y="283764"/>
                  </a:lnTo>
                  <a:lnTo>
                    <a:pt x="0" y="283764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98039" cy="321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18349" y="7241379"/>
            <a:ext cx="5308179" cy="384854"/>
            <a:chOff x="0" y="0"/>
            <a:chExt cx="1398039" cy="10136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98039" cy="101361"/>
            </a:xfrm>
            <a:custGeom>
              <a:avLst/>
              <a:gdLst/>
              <a:ahLst/>
              <a:cxnLst/>
              <a:rect r="r" b="b" t="t" l="l"/>
              <a:pathLst>
                <a:path h="101361" w="1398039">
                  <a:moveTo>
                    <a:pt x="0" y="0"/>
                  </a:moveTo>
                  <a:lnTo>
                    <a:pt x="1398039" y="0"/>
                  </a:lnTo>
                  <a:lnTo>
                    <a:pt x="1398039" y="101361"/>
                  </a:lnTo>
                  <a:lnTo>
                    <a:pt x="0" y="101361"/>
                  </a:lnTo>
                  <a:close/>
                </a:path>
              </a:pathLst>
            </a:custGeom>
            <a:solidFill>
              <a:srgbClr val="4ADA8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98039" cy="139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38" id="38"/>
          <p:cNvGraphicFramePr/>
          <p:nvPr/>
        </p:nvGraphicFramePr>
        <p:xfrm>
          <a:off x="2657888" y="3252119"/>
          <a:ext cx="6657975" cy="5657850"/>
        </p:xfrm>
        <a:graphic>
          <a:graphicData uri="http://schemas.openxmlformats.org/presentationml/2006/ole">
            <p:oleObj imgW="7988300" imgH="6985000" r:id="rId1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9" id="39"/>
          <p:cNvSpPr txBox="true"/>
          <p:nvPr/>
        </p:nvSpPr>
        <p:spPr>
          <a:xfrm rot="0">
            <a:off x="2479999" y="1079095"/>
            <a:ext cx="107223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IMPORTING &amp; UNDERSTANDING DATA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927381" y="2519649"/>
            <a:ext cx="4271665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</a:t>
            </a: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nderstand the Columns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537667"/>
            <a:ext cx="7693257" cy="3154383"/>
            <a:chOff x="0" y="0"/>
            <a:chExt cx="2026208" cy="830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830784"/>
            </a:xfrm>
            <a:custGeom>
              <a:avLst/>
              <a:gdLst/>
              <a:ahLst/>
              <a:cxnLst/>
              <a:rect r="r" b="b" t="t" l="l"/>
              <a:pathLst>
                <a:path h="830784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791537"/>
                  </a:lnTo>
                  <a:cubicBezTo>
                    <a:pt x="2026208" y="813213"/>
                    <a:pt x="2008636" y="830784"/>
                    <a:pt x="1986961" y="830784"/>
                  </a:cubicBezTo>
                  <a:lnTo>
                    <a:pt x="39247" y="830784"/>
                  </a:lnTo>
                  <a:cubicBezTo>
                    <a:pt x="17571" y="830784"/>
                    <a:pt x="0" y="813213"/>
                    <a:pt x="0" y="791537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868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721678" y="2271554"/>
            <a:ext cx="4409444" cy="4420496"/>
          </a:xfrm>
          <a:custGeom>
            <a:avLst/>
            <a:gdLst/>
            <a:ahLst/>
            <a:cxnLst/>
            <a:rect r="r" b="b" t="t" l="l"/>
            <a:pathLst>
              <a:path h="4420496" w="4409444">
                <a:moveTo>
                  <a:pt x="0" y="0"/>
                </a:moveTo>
                <a:lnTo>
                  <a:pt x="4409444" y="0"/>
                </a:lnTo>
                <a:lnTo>
                  <a:pt x="4409444" y="4420496"/>
                </a:lnTo>
                <a:lnTo>
                  <a:pt x="0" y="4420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478719" y="7073050"/>
            <a:ext cx="7898887" cy="1262532"/>
            <a:chOff x="0" y="0"/>
            <a:chExt cx="1975850" cy="3158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5850" cy="315813"/>
            </a:xfrm>
            <a:custGeom>
              <a:avLst/>
              <a:gdLst/>
              <a:ahLst/>
              <a:cxnLst/>
              <a:rect r="r" b="b" t="t" l="l"/>
              <a:pathLst>
                <a:path h="315813" w="1975850">
                  <a:moveTo>
                    <a:pt x="0" y="0"/>
                  </a:moveTo>
                  <a:lnTo>
                    <a:pt x="1975850" y="0"/>
                  </a:lnTo>
                  <a:lnTo>
                    <a:pt x="1975850" y="315813"/>
                  </a:lnTo>
                  <a:lnTo>
                    <a:pt x="0" y="315813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75850" cy="353913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39061" y="7223482"/>
            <a:ext cx="6189690" cy="961667"/>
            <a:chOff x="0" y="0"/>
            <a:chExt cx="1548306" cy="2405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8306" cy="240554"/>
            </a:xfrm>
            <a:custGeom>
              <a:avLst/>
              <a:gdLst/>
              <a:ahLst/>
              <a:cxnLst/>
              <a:rect r="r" b="b" t="t" l="l"/>
              <a:pathLst>
                <a:path h="240554" w="1548306">
                  <a:moveTo>
                    <a:pt x="0" y="0"/>
                  </a:moveTo>
                  <a:lnTo>
                    <a:pt x="1548306" y="0"/>
                  </a:lnTo>
                  <a:lnTo>
                    <a:pt x="1548306" y="240554"/>
                  </a:lnTo>
                  <a:lnTo>
                    <a:pt x="0" y="24055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48306" cy="278654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81577" y="7223482"/>
            <a:ext cx="961667" cy="96166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764784" y="7419534"/>
            <a:ext cx="578971" cy="569563"/>
          </a:xfrm>
          <a:custGeom>
            <a:avLst/>
            <a:gdLst/>
            <a:ahLst/>
            <a:cxnLst/>
            <a:rect r="r" b="b" t="t" l="l"/>
            <a:pathLst>
              <a:path h="569563" w="578971">
                <a:moveTo>
                  <a:pt x="0" y="0"/>
                </a:moveTo>
                <a:lnTo>
                  <a:pt x="578971" y="0"/>
                </a:lnTo>
                <a:lnTo>
                  <a:pt x="578971" y="569563"/>
                </a:lnTo>
                <a:lnTo>
                  <a:pt x="0" y="56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2" id="42"/>
          <p:cNvGraphicFramePr/>
          <p:nvPr/>
        </p:nvGraphicFramePr>
        <p:xfrm>
          <a:off x="2765749" y="3929800"/>
          <a:ext cx="6443662" cy="2514600"/>
        </p:xfrm>
        <a:graphic>
          <a:graphicData uri="http://schemas.openxmlformats.org/presentationml/2006/ole">
            <p:oleObj imgW="7734300" imgH="3797300" r:id="rId1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3" id="43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 CLEANING AND PREPARATION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576410" y="1894532"/>
            <a:ext cx="5720260" cy="7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0"/>
              </a:lnSpc>
              <a:spcBef>
                <a:spcPct val="0"/>
              </a:spcBef>
            </a:pP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Check</a:t>
            </a: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 Data Types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766786" y="7185382"/>
            <a:ext cx="570039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a column s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hows Abc instead of #: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Right-click column → Change Data Type → Whole Number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537667"/>
            <a:ext cx="7693257" cy="3154383"/>
            <a:chOff x="0" y="0"/>
            <a:chExt cx="2026208" cy="8307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830784"/>
            </a:xfrm>
            <a:custGeom>
              <a:avLst/>
              <a:gdLst/>
              <a:ahLst/>
              <a:cxnLst/>
              <a:rect r="r" b="b" t="t" l="l"/>
              <a:pathLst>
                <a:path h="830784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791537"/>
                  </a:lnTo>
                  <a:cubicBezTo>
                    <a:pt x="2026208" y="813213"/>
                    <a:pt x="2008636" y="830784"/>
                    <a:pt x="1986961" y="830784"/>
                  </a:cubicBezTo>
                  <a:lnTo>
                    <a:pt x="39247" y="830784"/>
                  </a:lnTo>
                  <a:cubicBezTo>
                    <a:pt x="17571" y="830784"/>
                    <a:pt x="0" y="813213"/>
                    <a:pt x="0" y="791537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868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721678" y="2271554"/>
            <a:ext cx="4409444" cy="4420496"/>
          </a:xfrm>
          <a:custGeom>
            <a:avLst/>
            <a:gdLst/>
            <a:ahLst/>
            <a:cxnLst/>
            <a:rect r="r" b="b" t="t" l="l"/>
            <a:pathLst>
              <a:path h="4420496" w="4409444">
                <a:moveTo>
                  <a:pt x="0" y="0"/>
                </a:moveTo>
                <a:lnTo>
                  <a:pt x="4409444" y="0"/>
                </a:lnTo>
                <a:lnTo>
                  <a:pt x="4409444" y="4420496"/>
                </a:lnTo>
                <a:lnTo>
                  <a:pt x="0" y="4420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478719" y="7073050"/>
            <a:ext cx="7898887" cy="1262532"/>
            <a:chOff x="0" y="0"/>
            <a:chExt cx="1975850" cy="3158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5850" cy="315813"/>
            </a:xfrm>
            <a:custGeom>
              <a:avLst/>
              <a:gdLst/>
              <a:ahLst/>
              <a:cxnLst/>
              <a:rect r="r" b="b" t="t" l="l"/>
              <a:pathLst>
                <a:path h="315813" w="1975850">
                  <a:moveTo>
                    <a:pt x="0" y="0"/>
                  </a:moveTo>
                  <a:lnTo>
                    <a:pt x="1975850" y="0"/>
                  </a:lnTo>
                  <a:lnTo>
                    <a:pt x="1975850" y="315813"/>
                  </a:lnTo>
                  <a:lnTo>
                    <a:pt x="0" y="315813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75850" cy="353913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39061" y="7223482"/>
            <a:ext cx="6189690" cy="961667"/>
            <a:chOff x="0" y="0"/>
            <a:chExt cx="1548306" cy="2405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8306" cy="240554"/>
            </a:xfrm>
            <a:custGeom>
              <a:avLst/>
              <a:gdLst/>
              <a:ahLst/>
              <a:cxnLst/>
              <a:rect r="r" b="b" t="t" l="l"/>
              <a:pathLst>
                <a:path h="240554" w="1548306">
                  <a:moveTo>
                    <a:pt x="0" y="0"/>
                  </a:moveTo>
                  <a:lnTo>
                    <a:pt x="1548306" y="0"/>
                  </a:lnTo>
                  <a:lnTo>
                    <a:pt x="1548306" y="240554"/>
                  </a:lnTo>
                  <a:lnTo>
                    <a:pt x="0" y="24055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48306" cy="278654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81577" y="7223482"/>
            <a:ext cx="961667" cy="96166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764784" y="7419534"/>
            <a:ext cx="578971" cy="569563"/>
          </a:xfrm>
          <a:custGeom>
            <a:avLst/>
            <a:gdLst/>
            <a:ahLst/>
            <a:cxnLst/>
            <a:rect r="r" b="b" t="t" l="l"/>
            <a:pathLst>
              <a:path h="569563" w="578971">
                <a:moveTo>
                  <a:pt x="0" y="0"/>
                </a:moveTo>
                <a:lnTo>
                  <a:pt x="578971" y="0"/>
                </a:lnTo>
                <a:lnTo>
                  <a:pt x="578971" y="569563"/>
                </a:lnTo>
                <a:lnTo>
                  <a:pt x="0" y="56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Remove Null and Zero Rows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441680" y="1894532"/>
            <a:ext cx="7502751" cy="7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0"/>
              </a:lnSpc>
              <a:spcBef>
                <a:spcPct val="0"/>
              </a:spcBef>
            </a:pP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 Remove</a:t>
            </a: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 Null and Zero Rows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68921" y="4245191"/>
            <a:ext cx="7117729" cy="199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04215" indent="-152107" lvl="1">
              <a:lnSpc>
                <a:spcPts val="3466"/>
              </a:lnSpc>
              <a:buFont typeface="Arial"/>
              <a:buChar char="•"/>
            </a:pPr>
            <a:r>
              <a:rPr lang="en-US" b="true" sz="1409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Go to the Data Source tab (bottom left)</a:t>
            </a:r>
          </a:p>
          <a:p>
            <a:pPr algn="just">
              <a:lnSpc>
                <a:spcPts val="3466"/>
              </a:lnSpc>
            </a:pPr>
          </a:p>
          <a:p>
            <a:pPr algn="just" marL="304215" indent="-152107" lvl="1">
              <a:lnSpc>
                <a:spcPts val="3466"/>
              </a:lnSpc>
              <a:buFont typeface="Arial"/>
              <a:buChar char="•"/>
            </a:pPr>
            <a:r>
              <a:rPr lang="en-US" b="true" sz="1409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Click the filter icon on Faculty Count and Male columns.</a:t>
            </a:r>
          </a:p>
          <a:p>
            <a:pPr algn="just">
              <a:lnSpc>
                <a:spcPts val="3466"/>
              </a:lnSpc>
            </a:pPr>
          </a:p>
          <a:p>
            <a:pPr algn="l" marL="304215" indent="-152107" lvl="1">
              <a:lnSpc>
                <a:spcPts val="1282"/>
              </a:lnSpc>
              <a:buFont typeface="Arial"/>
              <a:buChar char="•"/>
            </a:pPr>
            <a:r>
              <a:rPr lang="en-US" b="true" sz="1409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Uncheck (Null) and 0 values.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917844" y="7568350"/>
            <a:ext cx="570039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Now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only valid institutions remain.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537667"/>
            <a:ext cx="7693257" cy="3465328"/>
            <a:chOff x="0" y="0"/>
            <a:chExt cx="2026208" cy="9126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912679"/>
            </a:xfrm>
            <a:custGeom>
              <a:avLst/>
              <a:gdLst/>
              <a:ahLst/>
              <a:cxnLst/>
              <a:rect r="r" b="b" t="t" l="l"/>
              <a:pathLst>
                <a:path h="912679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873432"/>
                  </a:lnTo>
                  <a:cubicBezTo>
                    <a:pt x="2026208" y="895108"/>
                    <a:pt x="2008636" y="912679"/>
                    <a:pt x="1986961" y="912679"/>
                  </a:cubicBezTo>
                  <a:lnTo>
                    <a:pt x="39247" y="912679"/>
                  </a:lnTo>
                  <a:cubicBezTo>
                    <a:pt x="17571" y="912679"/>
                    <a:pt x="0" y="895108"/>
                    <a:pt x="0" y="873432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95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721678" y="2271554"/>
            <a:ext cx="4409444" cy="4420496"/>
          </a:xfrm>
          <a:custGeom>
            <a:avLst/>
            <a:gdLst/>
            <a:ahLst/>
            <a:cxnLst/>
            <a:rect r="r" b="b" t="t" l="l"/>
            <a:pathLst>
              <a:path h="4420496" w="4409444">
                <a:moveTo>
                  <a:pt x="0" y="0"/>
                </a:moveTo>
                <a:lnTo>
                  <a:pt x="4409444" y="0"/>
                </a:lnTo>
                <a:lnTo>
                  <a:pt x="4409444" y="4420496"/>
                </a:lnTo>
                <a:lnTo>
                  <a:pt x="0" y="4420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478719" y="7231595"/>
            <a:ext cx="7898887" cy="1262532"/>
            <a:chOff x="0" y="0"/>
            <a:chExt cx="1975850" cy="3158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5850" cy="315813"/>
            </a:xfrm>
            <a:custGeom>
              <a:avLst/>
              <a:gdLst/>
              <a:ahLst/>
              <a:cxnLst/>
              <a:rect r="r" b="b" t="t" l="l"/>
              <a:pathLst>
                <a:path h="315813" w="1975850">
                  <a:moveTo>
                    <a:pt x="0" y="0"/>
                  </a:moveTo>
                  <a:lnTo>
                    <a:pt x="1975850" y="0"/>
                  </a:lnTo>
                  <a:lnTo>
                    <a:pt x="1975850" y="315813"/>
                  </a:lnTo>
                  <a:lnTo>
                    <a:pt x="0" y="315813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75850" cy="353913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39061" y="7382027"/>
            <a:ext cx="6189690" cy="961667"/>
            <a:chOff x="0" y="0"/>
            <a:chExt cx="1548306" cy="2405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8306" cy="240554"/>
            </a:xfrm>
            <a:custGeom>
              <a:avLst/>
              <a:gdLst/>
              <a:ahLst/>
              <a:cxnLst/>
              <a:rect r="r" b="b" t="t" l="l"/>
              <a:pathLst>
                <a:path h="240554" w="1548306">
                  <a:moveTo>
                    <a:pt x="0" y="0"/>
                  </a:moveTo>
                  <a:lnTo>
                    <a:pt x="1548306" y="0"/>
                  </a:lnTo>
                  <a:lnTo>
                    <a:pt x="1548306" y="240554"/>
                  </a:lnTo>
                  <a:lnTo>
                    <a:pt x="0" y="24055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48306" cy="278654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81577" y="7382027"/>
            <a:ext cx="961667" cy="96166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764784" y="7578079"/>
            <a:ext cx="578971" cy="569563"/>
          </a:xfrm>
          <a:custGeom>
            <a:avLst/>
            <a:gdLst/>
            <a:ahLst/>
            <a:cxnLst/>
            <a:rect r="r" b="b" t="t" l="l"/>
            <a:pathLst>
              <a:path h="569563" w="578971">
                <a:moveTo>
                  <a:pt x="0" y="0"/>
                </a:moveTo>
                <a:lnTo>
                  <a:pt x="578971" y="0"/>
                </a:lnTo>
                <a:lnTo>
                  <a:pt x="578971" y="569563"/>
                </a:lnTo>
                <a:lnTo>
                  <a:pt x="0" y="56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Create Calculated Fields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42289" y="1894532"/>
            <a:ext cx="7699127" cy="7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0"/>
              </a:lnSpc>
              <a:spcBef>
                <a:spcPct val="0"/>
              </a:spcBef>
            </a:pP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 Stu</a:t>
            </a: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dent–Teacher Ratio (STR)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93359" y="4173047"/>
            <a:ext cx="7117729" cy="156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IF [Faculty Count] &lt;&gt; 0 THEN ROUND([Total Enrollment] / [Faculty Count], 2)</a:t>
            </a:r>
          </a:p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ELSE NULL END</a:t>
            </a:r>
          </a:p>
          <a:p>
            <a:pPr algn="l">
              <a:lnSpc>
                <a:spcPts val="1282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2797551" y="3627875"/>
            <a:ext cx="1375603" cy="43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25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25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ormula: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76410" y="2790159"/>
            <a:ext cx="7595566" cy="89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9"/>
              </a:lnSpc>
            </a:pPr>
            <a:r>
              <a:rPr lang="en-US" sz="2088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Right-click</a:t>
            </a:r>
            <a:r>
              <a:rPr lang="en-US" sz="2088" strike="noStrike" u="none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 in Data Pane → Create Calculated Field → name: </a:t>
            </a:r>
            <a:r>
              <a:rPr lang="en-US" sz="2088" strike="noStrike" u="none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Student–Teacher Ratio</a:t>
            </a:r>
          </a:p>
          <a:p>
            <a:pPr algn="l" marL="0" indent="0" lvl="0">
              <a:lnSpc>
                <a:spcPts val="2359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3933769" y="7539824"/>
            <a:ext cx="570039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number of st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udents per teacher (indicator of academic quality).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537667"/>
            <a:ext cx="7693257" cy="3465328"/>
            <a:chOff x="0" y="0"/>
            <a:chExt cx="2026208" cy="9126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912679"/>
            </a:xfrm>
            <a:custGeom>
              <a:avLst/>
              <a:gdLst/>
              <a:ahLst/>
              <a:cxnLst/>
              <a:rect r="r" b="b" t="t" l="l"/>
              <a:pathLst>
                <a:path h="912679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873432"/>
                  </a:lnTo>
                  <a:cubicBezTo>
                    <a:pt x="2026208" y="895108"/>
                    <a:pt x="2008636" y="912679"/>
                    <a:pt x="1986961" y="912679"/>
                  </a:cubicBezTo>
                  <a:lnTo>
                    <a:pt x="39247" y="912679"/>
                  </a:lnTo>
                  <a:cubicBezTo>
                    <a:pt x="17571" y="912679"/>
                    <a:pt x="0" y="895108"/>
                    <a:pt x="0" y="873432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95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721678" y="2271554"/>
            <a:ext cx="4409444" cy="4420496"/>
          </a:xfrm>
          <a:custGeom>
            <a:avLst/>
            <a:gdLst/>
            <a:ahLst/>
            <a:cxnLst/>
            <a:rect r="r" b="b" t="t" l="l"/>
            <a:pathLst>
              <a:path h="4420496" w="4409444">
                <a:moveTo>
                  <a:pt x="0" y="0"/>
                </a:moveTo>
                <a:lnTo>
                  <a:pt x="4409444" y="0"/>
                </a:lnTo>
                <a:lnTo>
                  <a:pt x="4409444" y="4420496"/>
                </a:lnTo>
                <a:lnTo>
                  <a:pt x="0" y="4420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478719" y="7231595"/>
            <a:ext cx="7898887" cy="1262532"/>
            <a:chOff x="0" y="0"/>
            <a:chExt cx="1975850" cy="3158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5850" cy="315813"/>
            </a:xfrm>
            <a:custGeom>
              <a:avLst/>
              <a:gdLst/>
              <a:ahLst/>
              <a:cxnLst/>
              <a:rect r="r" b="b" t="t" l="l"/>
              <a:pathLst>
                <a:path h="315813" w="1975850">
                  <a:moveTo>
                    <a:pt x="0" y="0"/>
                  </a:moveTo>
                  <a:lnTo>
                    <a:pt x="1975850" y="0"/>
                  </a:lnTo>
                  <a:lnTo>
                    <a:pt x="1975850" y="315813"/>
                  </a:lnTo>
                  <a:lnTo>
                    <a:pt x="0" y="315813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75850" cy="353913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39061" y="7382027"/>
            <a:ext cx="6189690" cy="961667"/>
            <a:chOff x="0" y="0"/>
            <a:chExt cx="1548306" cy="2405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8306" cy="240554"/>
            </a:xfrm>
            <a:custGeom>
              <a:avLst/>
              <a:gdLst/>
              <a:ahLst/>
              <a:cxnLst/>
              <a:rect r="r" b="b" t="t" l="l"/>
              <a:pathLst>
                <a:path h="240554" w="1548306">
                  <a:moveTo>
                    <a:pt x="0" y="0"/>
                  </a:moveTo>
                  <a:lnTo>
                    <a:pt x="1548306" y="0"/>
                  </a:lnTo>
                  <a:lnTo>
                    <a:pt x="1548306" y="240554"/>
                  </a:lnTo>
                  <a:lnTo>
                    <a:pt x="0" y="24055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48306" cy="278654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81577" y="7382027"/>
            <a:ext cx="961667" cy="96166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764784" y="7578079"/>
            <a:ext cx="578971" cy="569563"/>
          </a:xfrm>
          <a:custGeom>
            <a:avLst/>
            <a:gdLst/>
            <a:ahLst/>
            <a:cxnLst/>
            <a:rect r="r" b="b" t="t" l="l"/>
            <a:pathLst>
              <a:path h="569563" w="578971">
                <a:moveTo>
                  <a:pt x="0" y="0"/>
                </a:moveTo>
                <a:lnTo>
                  <a:pt x="578971" y="0"/>
                </a:lnTo>
                <a:lnTo>
                  <a:pt x="578971" y="569563"/>
                </a:lnTo>
                <a:lnTo>
                  <a:pt x="0" y="56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Create Calculated Fields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07843" y="1894532"/>
            <a:ext cx="8333573" cy="7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0"/>
              </a:lnSpc>
              <a:spcBef>
                <a:spcPct val="0"/>
              </a:spcBef>
            </a:pP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G</a:t>
            </a: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ender Parity Index (GPI)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93359" y="4173047"/>
            <a:ext cx="7117729" cy="112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IF [Male] &lt;&gt; 0 THEN ROUND([Female] / [Male], 3)</a:t>
            </a:r>
          </a:p>
          <a:p>
            <a:pPr algn="just">
              <a:lnSpc>
                <a:spcPts val="3466"/>
              </a:lnSpc>
            </a:pPr>
            <a:r>
              <a:rPr lang="en-US" sz="1409" b="true">
                <a:solidFill>
                  <a:srgbClr val="000000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ELSE NULL END</a:t>
            </a:r>
          </a:p>
          <a:p>
            <a:pPr algn="l">
              <a:lnSpc>
                <a:spcPts val="1282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2797551" y="3627875"/>
            <a:ext cx="1375603" cy="43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  <a:spcBef>
                <a:spcPct val="0"/>
              </a:spcBef>
            </a:pPr>
            <a:r>
              <a:rPr lang="en-US" b="true" sz="25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25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ormula: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76410" y="2790159"/>
            <a:ext cx="7595566" cy="59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9"/>
              </a:lnSpc>
            </a:pPr>
            <a:r>
              <a:rPr lang="en-US" sz="2088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Right-click</a:t>
            </a:r>
            <a:r>
              <a:rPr lang="en-US" sz="2088" strike="noStrike" u="none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 in Data Pane → Create Calculated Field → name: </a:t>
            </a:r>
            <a:r>
              <a:rPr lang="en-US" sz="2088" strike="noStrike" u="none">
                <a:solidFill>
                  <a:srgbClr val="000000"/>
                </a:solidFill>
                <a:latin typeface="Hero Bold"/>
                <a:ea typeface="Hero Bold"/>
                <a:cs typeface="Hero Bold"/>
                <a:sym typeface="Hero Bold"/>
              </a:rPr>
              <a:t>Gender Parity Index (GPI)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933769" y="7539824"/>
            <a:ext cx="570039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Measures f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emale-to-male enrollment ratio (1.0 = perfect parity)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470675"/>
            <a:ext cx="13333954" cy="4016580"/>
            <a:chOff x="0" y="0"/>
            <a:chExt cx="3511823" cy="1057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11823" cy="1057865"/>
            </a:xfrm>
            <a:custGeom>
              <a:avLst/>
              <a:gdLst/>
              <a:ahLst/>
              <a:cxnLst/>
              <a:rect r="r" b="b" t="t" l="l"/>
              <a:pathLst>
                <a:path h="1057865" w="3511823">
                  <a:moveTo>
                    <a:pt x="22644" y="0"/>
                  </a:moveTo>
                  <a:lnTo>
                    <a:pt x="3489179" y="0"/>
                  </a:lnTo>
                  <a:cubicBezTo>
                    <a:pt x="3501685" y="0"/>
                    <a:pt x="3511823" y="10138"/>
                    <a:pt x="3511823" y="22644"/>
                  </a:cubicBezTo>
                  <a:lnTo>
                    <a:pt x="3511823" y="1035221"/>
                  </a:lnTo>
                  <a:cubicBezTo>
                    <a:pt x="3511823" y="1047727"/>
                    <a:pt x="3501685" y="1057865"/>
                    <a:pt x="3489179" y="1057865"/>
                  </a:cubicBezTo>
                  <a:lnTo>
                    <a:pt x="22644" y="1057865"/>
                  </a:lnTo>
                  <a:cubicBezTo>
                    <a:pt x="10138" y="1057865"/>
                    <a:pt x="0" y="1047727"/>
                    <a:pt x="0" y="1035221"/>
                  </a:cubicBezTo>
                  <a:lnTo>
                    <a:pt x="0" y="22644"/>
                  </a:lnTo>
                  <a:cubicBezTo>
                    <a:pt x="0" y="10138"/>
                    <a:pt x="10138" y="0"/>
                    <a:pt x="22644" y="0"/>
                  </a:cubicBezTo>
                  <a:close/>
                </a:path>
              </a:pathLst>
            </a:custGeom>
            <a:solidFill>
              <a:srgbClr val="4ADA8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11823" cy="1095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4244934"/>
            <a:ext cx="13333954" cy="4016580"/>
            <a:chOff x="0" y="0"/>
            <a:chExt cx="3511823" cy="10578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11823" cy="1057865"/>
            </a:xfrm>
            <a:custGeom>
              <a:avLst/>
              <a:gdLst/>
              <a:ahLst/>
              <a:cxnLst/>
              <a:rect r="r" b="b" t="t" l="l"/>
              <a:pathLst>
                <a:path h="1057865" w="3511823">
                  <a:moveTo>
                    <a:pt x="22644" y="0"/>
                  </a:moveTo>
                  <a:lnTo>
                    <a:pt x="3489179" y="0"/>
                  </a:lnTo>
                  <a:cubicBezTo>
                    <a:pt x="3501685" y="0"/>
                    <a:pt x="3511823" y="10138"/>
                    <a:pt x="3511823" y="22644"/>
                  </a:cubicBezTo>
                  <a:lnTo>
                    <a:pt x="3511823" y="1035221"/>
                  </a:lnTo>
                  <a:cubicBezTo>
                    <a:pt x="3511823" y="1047727"/>
                    <a:pt x="3501685" y="1057865"/>
                    <a:pt x="3489179" y="1057865"/>
                  </a:cubicBezTo>
                  <a:lnTo>
                    <a:pt x="22644" y="1057865"/>
                  </a:lnTo>
                  <a:cubicBezTo>
                    <a:pt x="10138" y="1057865"/>
                    <a:pt x="0" y="1047727"/>
                    <a:pt x="0" y="1035221"/>
                  </a:cubicBezTo>
                  <a:lnTo>
                    <a:pt x="0" y="22644"/>
                  </a:lnTo>
                  <a:cubicBezTo>
                    <a:pt x="0" y="10138"/>
                    <a:pt x="10138" y="0"/>
                    <a:pt x="226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11823" cy="1095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7" id="27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4" id="34"/>
          <p:cNvSpPr txBox="true"/>
          <p:nvPr/>
        </p:nvSpPr>
        <p:spPr>
          <a:xfrm rot="0">
            <a:off x="3797174" y="5707565"/>
            <a:ext cx="10592545" cy="176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37"/>
              </a:lnSpc>
            </a:pPr>
            <a:r>
              <a:rPr lang="en-US" sz="13137">
                <a:solidFill>
                  <a:srgbClr val="000000"/>
                </a:solidFill>
                <a:latin typeface="Bernoru Condensed"/>
                <a:ea typeface="Bernoru Condensed"/>
                <a:cs typeface="Bernoru Condensed"/>
                <a:sym typeface="Bernoru Condensed"/>
              </a:rPr>
              <a:t> BUILD VISUALS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280958" y="2073382"/>
            <a:ext cx="3628968" cy="362896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778703" y="2571126"/>
            <a:ext cx="2633479" cy="2633479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8312710" y="3023606"/>
            <a:ext cx="1665972" cy="1721935"/>
          </a:xfrm>
          <a:custGeom>
            <a:avLst/>
            <a:gdLst/>
            <a:ahLst/>
            <a:cxnLst/>
            <a:rect r="r" b="b" t="t" l="l"/>
            <a:pathLst>
              <a:path h="1721935" w="1665972">
                <a:moveTo>
                  <a:pt x="0" y="0"/>
                </a:moveTo>
                <a:lnTo>
                  <a:pt x="1665971" y="0"/>
                </a:lnTo>
                <a:lnTo>
                  <a:pt x="1665971" y="1721934"/>
                </a:lnTo>
                <a:lnTo>
                  <a:pt x="0" y="17219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 Analytics ..............................................................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9472303"/>
            <a:ext cx="19657606" cy="2557482"/>
            <a:chOff x="0" y="0"/>
            <a:chExt cx="5177312" cy="673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673575"/>
            </a:xfrm>
            <a:custGeom>
              <a:avLst/>
              <a:gdLst/>
              <a:ahLst/>
              <a:cxnLst/>
              <a:rect r="r" b="b" t="t" l="l"/>
              <a:pathLst>
                <a:path h="673575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673575"/>
                  </a:lnTo>
                  <a:lnTo>
                    <a:pt x="0" y="673575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71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269812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0" y="0"/>
                </a:lnTo>
                <a:lnTo>
                  <a:pt x="5709570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42874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7245478"/>
            <a:chOff x="0" y="0"/>
            <a:chExt cx="2026208" cy="19082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908274"/>
            </a:xfrm>
            <a:custGeom>
              <a:avLst/>
              <a:gdLst/>
              <a:ahLst/>
              <a:cxnLst/>
              <a:rect r="r" b="b" t="t" l="l"/>
              <a:pathLst>
                <a:path h="1908274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869027"/>
                  </a:lnTo>
                  <a:cubicBezTo>
                    <a:pt x="2026208" y="1890703"/>
                    <a:pt x="2008636" y="1908274"/>
                    <a:pt x="1986961" y="1908274"/>
                  </a:cubicBezTo>
                  <a:lnTo>
                    <a:pt x="39247" y="1908274"/>
                  </a:lnTo>
                  <a:cubicBezTo>
                    <a:pt x="17571" y="1908274"/>
                    <a:pt x="0" y="1890703"/>
                    <a:pt x="0" y="1869027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946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1.CLUSTERED BAR CHART ..............................................................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51470" y="2140138"/>
            <a:ext cx="6186164" cy="6326994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9868690" y="2247016"/>
            <a:ext cx="349554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 Gender by District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30897" y="2761202"/>
            <a:ext cx="804069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Compare male vs female student counts in North vs South Goa.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421588" y="3138944"/>
            <a:ext cx="7224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Steps: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21588" y="3547884"/>
            <a:ext cx="7365717" cy="428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“New Worksheet” → rename it Gender by District.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Drag District → Rows.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Drag Male and Female → Columns.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Show Me → Clustered Bar Chart.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Color → assign: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Male → Blue (#2E86C1)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Female → Gold (#F4D03F)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Turn on Data Labels → Label → Show Mark Labels.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Title: </a:t>
            </a:r>
            <a:r>
              <a:rPr lang="en-US" b="true" sz="16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Gender-wise Enrollment by District – Goa HEIs</a:t>
            </a:r>
          </a:p>
          <a:p>
            <a:pPr algn="l">
              <a:lnSpc>
                <a:spcPts val="2322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8568954" y="7900996"/>
            <a:ext cx="704764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Interpretation: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North Goa has higher enrollment overall; the gender gap is moderate but noticeable.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9472303"/>
            <a:ext cx="19657606" cy="2557482"/>
            <a:chOff x="0" y="0"/>
            <a:chExt cx="5177312" cy="673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673575"/>
            </a:xfrm>
            <a:custGeom>
              <a:avLst/>
              <a:gdLst/>
              <a:ahLst/>
              <a:cxnLst/>
              <a:rect r="r" b="b" t="t" l="l"/>
              <a:pathLst>
                <a:path h="673575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673575"/>
                  </a:lnTo>
                  <a:lnTo>
                    <a:pt x="0" y="673575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71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269812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0" y="0"/>
                </a:lnTo>
                <a:lnTo>
                  <a:pt x="5709570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42874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7245478"/>
            <a:chOff x="0" y="0"/>
            <a:chExt cx="2026208" cy="19082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908274"/>
            </a:xfrm>
            <a:custGeom>
              <a:avLst/>
              <a:gdLst/>
              <a:ahLst/>
              <a:cxnLst/>
              <a:rect r="r" b="b" t="t" l="l"/>
              <a:pathLst>
                <a:path h="1908274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869027"/>
                  </a:lnTo>
                  <a:cubicBezTo>
                    <a:pt x="2026208" y="1890703"/>
                    <a:pt x="2008636" y="1908274"/>
                    <a:pt x="1986961" y="1908274"/>
                  </a:cubicBezTo>
                  <a:lnTo>
                    <a:pt x="39247" y="1908274"/>
                  </a:lnTo>
                  <a:cubicBezTo>
                    <a:pt x="17571" y="1908274"/>
                    <a:pt x="0" y="1890703"/>
                    <a:pt x="0" y="1869027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946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2.PIE CHART ..............................................................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68690" y="2247016"/>
            <a:ext cx="422897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Enrollm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 by Institution Type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30897" y="2761202"/>
            <a:ext cx="804069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 Show which type of institution has the highest student enrollment.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21588" y="3138944"/>
            <a:ext cx="7224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421588" y="3547884"/>
            <a:ext cx="7365717" cy="371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“New Worksheet” → rename it Enrollment by Institution Type.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Drag Institution Type → Color.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Drag Total Enrollment → Angle and Label.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Show Me → Pie Chart..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Resize using the Size button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Turn on Data Labels → Label → Show Mark Labels.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Title: </a:t>
            </a:r>
            <a:r>
              <a:rPr lang="en-US" b="true" sz="16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Enrollment by Institution Type (2019–20)</a:t>
            </a:r>
          </a:p>
          <a:p>
            <a:pPr algn="l">
              <a:lnSpc>
                <a:spcPts val="2322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8568954" y="7900996"/>
            <a:ext cx="704764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Insight: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Academic Colleges dominate Goa’s higher education sector, followed by Professional Colleges.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61805" y="2508448"/>
            <a:ext cx="6202969" cy="56664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9472303"/>
            <a:ext cx="19657606" cy="2557482"/>
            <a:chOff x="0" y="0"/>
            <a:chExt cx="5177312" cy="673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673575"/>
            </a:xfrm>
            <a:custGeom>
              <a:avLst/>
              <a:gdLst/>
              <a:ahLst/>
              <a:cxnLst/>
              <a:rect r="r" b="b" t="t" l="l"/>
              <a:pathLst>
                <a:path h="673575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673575"/>
                  </a:lnTo>
                  <a:lnTo>
                    <a:pt x="0" y="673575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71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269812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0" y="0"/>
                </a:lnTo>
                <a:lnTo>
                  <a:pt x="5709570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42874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7245478"/>
            <a:chOff x="0" y="0"/>
            <a:chExt cx="2026208" cy="19082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908274"/>
            </a:xfrm>
            <a:custGeom>
              <a:avLst/>
              <a:gdLst/>
              <a:ahLst/>
              <a:cxnLst/>
              <a:rect r="r" b="b" t="t" l="l"/>
              <a:pathLst>
                <a:path h="1908274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869027"/>
                  </a:lnTo>
                  <a:cubicBezTo>
                    <a:pt x="2026208" y="1890703"/>
                    <a:pt x="2008636" y="1908274"/>
                    <a:pt x="1986961" y="1908274"/>
                  </a:cubicBezTo>
                  <a:lnTo>
                    <a:pt x="39247" y="1908274"/>
                  </a:lnTo>
                  <a:cubicBezTo>
                    <a:pt x="17571" y="1908274"/>
                    <a:pt x="0" y="1890703"/>
                    <a:pt x="0" y="1869027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946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3. STR Table ..............................................................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68690" y="2247016"/>
            <a:ext cx="422897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ent–Teacher Ratio Table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30897" y="2761202"/>
            <a:ext cx="804069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Display institutional teaching quality with STR.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21588" y="3138944"/>
            <a:ext cx="7224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421588" y="3547884"/>
            <a:ext cx="7365717" cy="285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“New Worksheet” → rename it Enrollment by Institution Type.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Drag </a:t>
            </a:r>
            <a:r>
              <a:rPr lang="en-US" sz="1658">
                <a:solidFill>
                  <a:srgbClr val="4ADA85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16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 Name | District | Faculty Count | Total Enrollment | Student–Teacher Ratio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rt by Total Enrollment → Descending.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ormat:  Font: Calibri 11pt.Headers: Bold, Alternating Row Shading: Light Gray (#F2F2F2)</a:t>
            </a:r>
          </a:p>
          <a:p>
            <a:pPr algn="l">
              <a:lnSpc>
                <a:spcPts val="2322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8556378" y="8113308"/>
            <a:ext cx="7047642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Interpretation: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Green cells → Better faculty-student ratio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 cells → High student load per teacher.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8551764" y="6282764"/>
            <a:ext cx="253498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Color to STR Column: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92416" y="6632649"/>
            <a:ext cx="6947256" cy="142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6790" indent="-178395" lvl="1">
              <a:lnSpc>
                <a:spcPts val="2313"/>
              </a:lnSpc>
              <a:buFont typeface="Arial"/>
              <a:buChar char="•"/>
            </a:pPr>
            <a:r>
              <a:rPr lang="en-US" sz="16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Drag Student–Teacher Ratio → Color (in Marks pane).</a:t>
            </a:r>
          </a:p>
          <a:p>
            <a:pPr algn="l" marL="356790" indent="-178395" lvl="1">
              <a:lnSpc>
                <a:spcPts val="2313"/>
              </a:lnSpc>
              <a:buFont typeface="Arial"/>
              <a:buChar char="•"/>
            </a:pPr>
            <a:r>
              <a:rPr lang="en-US" sz="16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right side → click color legend ▼ → Edit Colors.</a:t>
            </a:r>
          </a:p>
          <a:p>
            <a:pPr algn="l" marL="356790" indent="-178395" lvl="1">
              <a:lnSpc>
                <a:spcPts val="2313"/>
              </a:lnSpc>
              <a:buFont typeface="Arial"/>
              <a:buChar char="•"/>
            </a:pPr>
            <a:r>
              <a:rPr lang="en-US" sz="16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Palette → Green–Red Diverging</a:t>
            </a:r>
          </a:p>
          <a:p>
            <a:pPr algn="l" marL="356790" indent="-178395" lvl="1">
              <a:lnSpc>
                <a:spcPts val="2313"/>
              </a:lnSpc>
              <a:buFont typeface="Arial"/>
              <a:buChar char="•"/>
            </a:pPr>
            <a:r>
              <a:rPr lang="en-US" sz="16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Check ✅ Reverse</a:t>
            </a:r>
          </a:p>
          <a:p>
            <a:pPr algn="l" marL="356790" indent="-178395" lvl="1">
              <a:lnSpc>
                <a:spcPts val="2313"/>
              </a:lnSpc>
              <a:buFont typeface="Arial"/>
              <a:buChar char="•"/>
            </a:pPr>
            <a:r>
              <a:rPr lang="en-US" sz="16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(Green = Good STR, Red = Overloaded Teachers)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79846" y="2374820"/>
            <a:ext cx="5678212" cy="56782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1" id="21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8" id="28"/>
          <p:cNvGrpSpPr/>
          <p:nvPr/>
        </p:nvGrpSpPr>
        <p:grpSpPr>
          <a:xfrm rot="0">
            <a:off x="2909327" y="2654989"/>
            <a:ext cx="2996525" cy="3860435"/>
            <a:chOff x="0" y="0"/>
            <a:chExt cx="716142" cy="9226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6142" cy="922608"/>
            </a:xfrm>
            <a:custGeom>
              <a:avLst/>
              <a:gdLst/>
              <a:ahLst/>
              <a:cxnLst/>
              <a:rect r="r" b="b" t="t" l="l"/>
              <a:pathLst>
                <a:path h="922608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30941"/>
                  </a:cubicBezTo>
                  <a:lnTo>
                    <a:pt x="716142" y="922608"/>
                  </a:lnTo>
                  <a:lnTo>
                    <a:pt x="0" y="922608"/>
                  </a:lnTo>
                  <a:lnTo>
                    <a:pt x="0" y="33138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386C9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79375"/>
              <a:ext cx="716142" cy="843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026689" y="2654989"/>
            <a:ext cx="2996525" cy="3860435"/>
            <a:chOff x="0" y="0"/>
            <a:chExt cx="716142" cy="922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6142" cy="922608"/>
            </a:xfrm>
            <a:custGeom>
              <a:avLst/>
              <a:gdLst/>
              <a:ahLst/>
              <a:cxnLst/>
              <a:rect r="r" b="b" t="t" l="l"/>
              <a:pathLst>
                <a:path h="922608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30941"/>
                  </a:cubicBezTo>
                  <a:lnTo>
                    <a:pt x="716142" y="922608"/>
                  </a:lnTo>
                  <a:lnTo>
                    <a:pt x="0" y="922608"/>
                  </a:lnTo>
                  <a:lnTo>
                    <a:pt x="0" y="33138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308FB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79375"/>
              <a:ext cx="716142" cy="843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3001388" y="5905618"/>
            <a:ext cx="1622804" cy="1622804"/>
          </a:xfrm>
          <a:custGeom>
            <a:avLst/>
            <a:gdLst/>
            <a:ahLst/>
            <a:cxnLst/>
            <a:rect r="r" b="b" t="t" l="l"/>
            <a:pathLst>
              <a:path h="1622804" w="1622804">
                <a:moveTo>
                  <a:pt x="0" y="0"/>
                </a:moveTo>
                <a:lnTo>
                  <a:pt x="1622803" y="0"/>
                </a:lnTo>
                <a:lnTo>
                  <a:pt x="1622803" y="1622804"/>
                </a:lnTo>
                <a:lnTo>
                  <a:pt x="0" y="1622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9915320" y="5941509"/>
            <a:ext cx="1622804" cy="1622804"/>
          </a:xfrm>
          <a:custGeom>
            <a:avLst/>
            <a:gdLst/>
            <a:ahLst/>
            <a:cxnLst/>
            <a:rect r="r" b="b" t="t" l="l"/>
            <a:pathLst>
              <a:path h="1622804" w="1622804">
                <a:moveTo>
                  <a:pt x="0" y="0"/>
                </a:moveTo>
                <a:lnTo>
                  <a:pt x="1622803" y="0"/>
                </a:lnTo>
                <a:lnTo>
                  <a:pt x="1622803" y="1622804"/>
                </a:lnTo>
                <a:lnTo>
                  <a:pt x="0" y="1622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6832596" y="5926389"/>
            <a:ext cx="1622804" cy="1622804"/>
          </a:xfrm>
          <a:custGeom>
            <a:avLst/>
            <a:gdLst/>
            <a:ahLst/>
            <a:cxnLst/>
            <a:rect r="r" b="b" t="t" l="l"/>
            <a:pathLst>
              <a:path h="1622804" w="1622804">
                <a:moveTo>
                  <a:pt x="0" y="0"/>
                </a:moveTo>
                <a:lnTo>
                  <a:pt x="1622803" y="0"/>
                </a:lnTo>
                <a:lnTo>
                  <a:pt x="1622803" y="1622803"/>
                </a:lnTo>
                <a:lnTo>
                  <a:pt x="0" y="16228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3670634" y="5933949"/>
            <a:ext cx="1622804" cy="1622804"/>
          </a:xfrm>
          <a:custGeom>
            <a:avLst/>
            <a:gdLst/>
            <a:ahLst/>
            <a:cxnLst/>
            <a:rect r="r" b="b" t="t" l="l"/>
            <a:pathLst>
              <a:path h="1622804" w="1622804">
                <a:moveTo>
                  <a:pt x="0" y="0"/>
                </a:moveTo>
                <a:lnTo>
                  <a:pt x="1622804" y="0"/>
                </a:lnTo>
                <a:lnTo>
                  <a:pt x="1622804" y="1622804"/>
                </a:lnTo>
                <a:lnTo>
                  <a:pt x="0" y="1622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8" id="38"/>
          <p:cNvGrpSpPr/>
          <p:nvPr/>
        </p:nvGrpSpPr>
        <p:grpSpPr>
          <a:xfrm rot="0">
            <a:off x="6803117" y="5926389"/>
            <a:ext cx="1443670" cy="144367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6939930" y="6053538"/>
            <a:ext cx="1170044" cy="1189371"/>
          </a:xfrm>
          <a:custGeom>
            <a:avLst/>
            <a:gdLst/>
            <a:ahLst/>
            <a:cxnLst/>
            <a:rect r="r" b="b" t="t" l="l"/>
            <a:pathLst>
              <a:path h="1189371" w="1170044">
                <a:moveTo>
                  <a:pt x="0" y="0"/>
                </a:moveTo>
                <a:lnTo>
                  <a:pt x="1170044" y="0"/>
                </a:lnTo>
                <a:lnTo>
                  <a:pt x="1170044" y="1189371"/>
                </a:lnTo>
                <a:lnTo>
                  <a:pt x="0" y="118937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2" id="42"/>
          <p:cNvGrpSpPr/>
          <p:nvPr/>
        </p:nvGrpSpPr>
        <p:grpSpPr>
          <a:xfrm rot="0">
            <a:off x="9142998" y="2654989"/>
            <a:ext cx="2996525" cy="3860435"/>
            <a:chOff x="0" y="0"/>
            <a:chExt cx="716142" cy="9226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6142" cy="922608"/>
            </a:xfrm>
            <a:custGeom>
              <a:avLst/>
              <a:gdLst/>
              <a:ahLst/>
              <a:cxnLst/>
              <a:rect r="r" b="b" t="t" l="l"/>
              <a:pathLst>
                <a:path h="922608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30941"/>
                  </a:cubicBezTo>
                  <a:lnTo>
                    <a:pt x="716142" y="922608"/>
                  </a:lnTo>
                  <a:lnTo>
                    <a:pt x="0" y="922608"/>
                  </a:lnTo>
                  <a:lnTo>
                    <a:pt x="0" y="33138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C34D24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79375"/>
              <a:ext cx="716142" cy="843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919426" y="5941509"/>
            <a:ext cx="1443670" cy="1443670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0056239" y="6068658"/>
            <a:ext cx="1170044" cy="1189371"/>
          </a:xfrm>
          <a:custGeom>
            <a:avLst/>
            <a:gdLst/>
            <a:ahLst/>
            <a:cxnLst/>
            <a:rect r="r" b="b" t="t" l="l"/>
            <a:pathLst>
              <a:path h="1189371" w="1170044">
                <a:moveTo>
                  <a:pt x="0" y="0"/>
                </a:moveTo>
                <a:lnTo>
                  <a:pt x="1170043" y="0"/>
                </a:lnTo>
                <a:lnTo>
                  <a:pt x="1170043" y="1189372"/>
                </a:lnTo>
                <a:lnTo>
                  <a:pt x="0" y="118937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9" id="49"/>
          <p:cNvGrpSpPr/>
          <p:nvPr/>
        </p:nvGrpSpPr>
        <p:grpSpPr>
          <a:xfrm rot="0">
            <a:off x="12259307" y="2654989"/>
            <a:ext cx="2996525" cy="3860435"/>
            <a:chOff x="0" y="0"/>
            <a:chExt cx="716142" cy="9226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6142" cy="922608"/>
            </a:xfrm>
            <a:custGeom>
              <a:avLst/>
              <a:gdLst/>
              <a:ahLst/>
              <a:cxnLst/>
              <a:rect r="r" b="b" t="t" l="l"/>
              <a:pathLst>
                <a:path h="922608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30941"/>
                  </a:cubicBezTo>
                  <a:lnTo>
                    <a:pt x="716142" y="922608"/>
                  </a:lnTo>
                  <a:lnTo>
                    <a:pt x="0" y="922608"/>
                  </a:lnTo>
                  <a:lnTo>
                    <a:pt x="0" y="33138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FF7A46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79375"/>
              <a:ext cx="716142" cy="843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035735" y="5905618"/>
            <a:ext cx="1443670" cy="1443670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3172548" y="6032767"/>
            <a:ext cx="1170044" cy="1189371"/>
          </a:xfrm>
          <a:custGeom>
            <a:avLst/>
            <a:gdLst/>
            <a:ahLst/>
            <a:cxnLst/>
            <a:rect r="r" b="b" t="t" l="l"/>
            <a:pathLst>
              <a:path h="1189371" w="1170044">
                <a:moveTo>
                  <a:pt x="0" y="0"/>
                </a:moveTo>
                <a:lnTo>
                  <a:pt x="1170043" y="0"/>
                </a:lnTo>
                <a:lnTo>
                  <a:pt x="1170043" y="1189371"/>
                </a:lnTo>
                <a:lnTo>
                  <a:pt x="0" y="118937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6" id="56"/>
          <p:cNvGrpSpPr/>
          <p:nvPr/>
        </p:nvGrpSpPr>
        <p:grpSpPr>
          <a:xfrm rot="0">
            <a:off x="3685755" y="5933949"/>
            <a:ext cx="1443670" cy="1443670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3822568" y="6061098"/>
            <a:ext cx="1170044" cy="1189371"/>
          </a:xfrm>
          <a:custGeom>
            <a:avLst/>
            <a:gdLst/>
            <a:ahLst/>
            <a:cxnLst/>
            <a:rect r="r" b="b" t="t" l="l"/>
            <a:pathLst>
              <a:path h="1189371" w="1170044">
                <a:moveTo>
                  <a:pt x="0" y="0"/>
                </a:moveTo>
                <a:lnTo>
                  <a:pt x="1170044" y="0"/>
                </a:lnTo>
                <a:lnTo>
                  <a:pt x="1170044" y="1189371"/>
                </a:lnTo>
                <a:lnTo>
                  <a:pt x="0" y="118937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0" id="60"/>
          <p:cNvGrpSpPr/>
          <p:nvPr/>
        </p:nvGrpSpPr>
        <p:grpSpPr>
          <a:xfrm rot="0">
            <a:off x="4138050" y="2242322"/>
            <a:ext cx="539079" cy="537988"/>
            <a:chOff x="0" y="0"/>
            <a:chExt cx="718773" cy="717318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718773" cy="717318"/>
              <a:chOff x="0" y="0"/>
              <a:chExt cx="812800" cy="811155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6C9C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170942" y="182630"/>
              <a:ext cx="376889" cy="313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0"/>
                </a:lnSpc>
              </a:pPr>
              <a:r>
                <a:rPr lang="en-US" sz="1379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255412" y="2242322"/>
            <a:ext cx="539079" cy="537988"/>
            <a:chOff x="0" y="0"/>
            <a:chExt cx="718773" cy="717318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718773" cy="717318"/>
              <a:chOff x="0" y="0"/>
              <a:chExt cx="812800" cy="811155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8FBE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170942" y="182630"/>
              <a:ext cx="376889" cy="313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0"/>
                </a:lnSpc>
              </a:pPr>
              <a:r>
                <a:rPr lang="en-US" sz="1379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371721" y="2242322"/>
            <a:ext cx="539079" cy="537988"/>
            <a:chOff x="0" y="0"/>
            <a:chExt cx="718773" cy="717318"/>
          </a:xfrm>
        </p:grpSpPr>
        <p:grpSp>
          <p:nvGrpSpPr>
            <p:cNvPr name="Group 71" id="71"/>
            <p:cNvGrpSpPr/>
            <p:nvPr/>
          </p:nvGrpSpPr>
          <p:grpSpPr>
            <a:xfrm rot="0">
              <a:off x="0" y="0"/>
              <a:ext cx="718773" cy="717318"/>
              <a:chOff x="0" y="0"/>
              <a:chExt cx="812800" cy="811155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4D24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74" id="74"/>
            <p:cNvSpPr txBox="true"/>
            <p:nvPr/>
          </p:nvSpPr>
          <p:spPr>
            <a:xfrm rot="0">
              <a:off x="170942" y="182630"/>
              <a:ext cx="376889" cy="313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0"/>
                </a:lnSpc>
              </a:pPr>
              <a:r>
                <a:rPr lang="en-US" sz="1379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488030" y="2242322"/>
            <a:ext cx="539079" cy="537988"/>
            <a:chOff x="0" y="0"/>
            <a:chExt cx="718773" cy="717318"/>
          </a:xfrm>
        </p:grpSpPr>
        <p:grpSp>
          <p:nvGrpSpPr>
            <p:cNvPr name="Group 76" id="76"/>
            <p:cNvGrpSpPr/>
            <p:nvPr/>
          </p:nvGrpSpPr>
          <p:grpSpPr>
            <a:xfrm rot="0">
              <a:off x="0" y="0"/>
              <a:ext cx="718773" cy="717318"/>
              <a:chOff x="0" y="0"/>
              <a:chExt cx="812800" cy="811155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7A46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79" id="79"/>
            <p:cNvSpPr txBox="true"/>
            <p:nvPr/>
          </p:nvSpPr>
          <p:spPr>
            <a:xfrm rot="0">
              <a:off x="170942" y="182630"/>
              <a:ext cx="376889" cy="313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0"/>
                </a:lnSpc>
              </a:pPr>
              <a:r>
                <a:rPr lang="en-US" sz="1379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</a:t>
              </a:r>
            </a:p>
          </p:txBody>
        </p:sp>
      </p:grpSp>
      <p:graphicFrame>
        <p:nvGraphicFramePr>
          <p:cNvPr name="Object 80" id="80"/>
          <p:cNvGraphicFramePr/>
          <p:nvPr/>
        </p:nvGraphicFramePr>
        <p:xfrm>
          <a:off x="6304159" y="4254516"/>
          <a:ext cx="4986338" cy="2514600"/>
        </p:xfrm>
        <a:graphic>
          <a:graphicData uri="http://schemas.openxmlformats.org/presentationml/2006/ole">
            <p:oleObj imgW="5981700" imgH="3505200" r:id="rId2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81" id="81"/>
          <p:cNvSpPr/>
          <p:nvPr/>
        </p:nvSpPr>
        <p:spPr>
          <a:xfrm flipH="false" flipV="false" rot="0">
            <a:off x="4128501" y="6388442"/>
            <a:ext cx="558177" cy="549804"/>
          </a:xfrm>
          <a:custGeom>
            <a:avLst/>
            <a:gdLst/>
            <a:ahLst/>
            <a:cxnLst/>
            <a:rect r="r" b="b" t="t" l="l"/>
            <a:pathLst>
              <a:path h="549804" w="558177">
                <a:moveTo>
                  <a:pt x="0" y="0"/>
                </a:moveTo>
                <a:lnTo>
                  <a:pt x="558177" y="0"/>
                </a:lnTo>
                <a:lnTo>
                  <a:pt x="558177" y="549804"/>
                </a:lnTo>
                <a:lnTo>
                  <a:pt x="0" y="549804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7220373" y="6305545"/>
            <a:ext cx="685357" cy="685357"/>
          </a:xfrm>
          <a:custGeom>
            <a:avLst/>
            <a:gdLst/>
            <a:ahLst/>
            <a:cxnLst/>
            <a:rect r="r" b="b" t="t" l="l"/>
            <a:pathLst>
              <a:path h="685357" w="685357">
                <a:moveTo>
                  <a:pt x="0" y="0"/>
                </a:moveTo>
                <a:lnTo>
                  <a:pt x="685357" y="0"/>
                </a:lnTo>
                <a:lnTo>
                  <a:pt x="685357" y="685357"/>
                </a:lnTo>
                <a:lnTo>
                  <a:pt x="0" y="68535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0366239" y="6382437"/>
            <a:ext cx="573136" cy="490031"/>
          </a:xfrm>
          <a:custGeom>
            <a:avLst/>
            <a:gdLst/>
            <a:ahLst/>
            <a:cxnLst/>
            <a:rect r="r" b="b" t="t" l="l"/>
            <a:pathLst>
              <a:path h="490031" w="573136">
                <a:moveTo>
                  <a:pt x="0" y="0"/>
                </a:moveTo>
                <a:lnTo>
                  <a:pt x="573136" y="0"/>
                </a:lnTo>
                <a:lnTo>
                  <a:pt x="573136" y="490032"/>
                </a:lnTo>
                <a:lnTo>
                  <a:pt x="0" y="49003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3469013" y="6349549"/>
            <a:ext cx="572999" cy="555809"/>
          </a:xfrm>
          <a:custGeom>
            <a:avLst/>
            <a:gdLst/>
            <a:ahLst/>
            <a:cxnLst/>
            <a:rect r="r" b="b" t="t" l="l"/>
            <a:pathLst>
              <a:path h="555809" w="572999">
                <a:moveTo>
                  <a:pt x="0" y="0"/>
                </a:moveTo>
                <a:lnTo>
                  <a:pt x="572999" y="0"/>
                </a:lnTo>
                <a:lnTo>
                  <a:pt x="572999" y="555808"/>
                </a:lnTo>
                <a:lnTo>
                  <a:pt x="0" y="555808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5" id="85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BUILD THE DASHBOARD.............................................................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3074724" y="3354830"/>
            <a:ext cx="2585463" cy="30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99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Create a New Dashboard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304159" y="3326770"/>
            <a:ext cx="2441585" cy="30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99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Add Visuals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522188" y="3368362"/>
            <a:ext cx="2441585" cy="30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99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Add Filters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2536777" y="3459084"/>
            <a:ext cx="2441585" cy="30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99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Add a Title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959518" y="3763255"/>
            <a:ext cx="2864637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Click New Dashboard (bottom, next to sheets).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983774" y="4379717"/>
            <a:ext cx="2996525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Rename 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it: Goa Education Dashboard.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2959518" y="4933125"/>
            <a:ext cx="2996525" cy="74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 left side → under S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ize, choose Automatic or 1280×720 (HD).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6158578" y="3650075"/>
            <a:ext cx="2864637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left panel under Sheets, drag the following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310663" y="3838438"/>
            <a:ext cx="2864637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Click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bar chart → small arrow ▼ (top right).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310663" y="4497046"/>
            <a:ext cx="2864637" cy="241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Choose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Filters → District.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9370984" y="4918005"/>
            <a:ext cx="2864637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eat for Institution Type if needed.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2319366" y="3898888"/>
            <a:ext cx="2876407" cy="69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1321" indent="-145660" lvl="1">
              <a:lnSpc>
                <a:spcPts val="1889"/>
              </a:lnSpc>
              <a:buFont typeface="Arial"/>
              <a:buChar char="•"/>
            </a:pPr>
            <a:r>
              <a:rPr lang="en-US" sz="13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Click</a:t>
            </a:r>
            <a:r>
              <a:rPr lang="en-US" sz="13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dashboard title area → type: Higher Education Institutions  – Goa (2019–20)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2331137" y="4734040"/>
            <a:ext cx="2864637" cy="1239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ormat: Font : Segoe UI Bold.</a:t>
            </a:r>
          </a:p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Size: 18pt, 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Color: #1A5276 , Center align</a:t>
            </a:r>
          </a:p>
          <a:p>
            <a:pPr algn="l">
              <a:lnSpc>
                <a:spcPts val="2000"/>
              </a:lnSpc>
            </a:pPr>
          </a:p>
          <a:p>
            <a:pPr algn="l">
              <a:lnSpc>
                <a:spcPts val="20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1" id="21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28" id="28"/>
          <p:cNvGraphicFramePr/>
          <p:nvPr/>
        </p:nvGraphicFramePr>
        <p:xfrm>
          <a:off x="2478719" y="1787205"/>
          <a:ext cx="8601075" cy="3381280"/>
        </p:xfrm>
        <a:graphic>
          <a:graphicData uri="http://schemas.openxmlformats.org/presentationml/2006/ole">
            <p:oleObj imgW="10325100" imgH="51054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9" id="29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INSIGHTS.............................................................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DAG3WV0h7Yk</dc:identifier>
  <dcterms:modified xsi:type="dcterms:W3CDTF">2011-08-01T06:04:30Z</dcterms:modified>
  <cp:revision>1</cp:revision>
  <dc:title>Tableau</dc:title>
</cp:coreProperties>
</file>